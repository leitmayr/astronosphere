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1" r:id="rId8"/>
    <p:sldId id="260" r:id="rId9"/>
    <p:sldId id="258" r:id="rId10"/>
    <p:sldId id="259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4A55A-D8C3-95BD-FBFB-2FCEB4D3E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94B9DA-CC45-A912-F14B-CC8BB1146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37D077-F18E-6567-D0F7-5644BF4D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DE8A0E-F9A9-04E5-F211-6F1562BB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594DDD-36A5-D414-B2B6-4B0AC14A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84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437E58-7705-E2A9-E02F-AB4BF541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C9A24A-E5AF-AD01-06F1-51A61AAA8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A68422-3BD2-66D2-E9F2-A4BC4825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20E4D2-48D4-2344-F4DF-E108E7C3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DEE3B9-ABEF-9406-4D1F-A3A65F8E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87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66928-3DDD-6D40-0844-AD2120FE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CE27D1-87F2-C487-D715-3E5EB225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594945-3B49-763A-EF3F-C58DFBBE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519974-E2F8-9F8B-9A44-2A9497E3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F260B3-761F-15DB-14C7-C6F5A2C4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29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DA816-B4A7-74BD-EBE3-8A70A276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7F32B1-5F1E-918A-632F-978E5344B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A472FD-1EF5-ABE5-CFF2-942E48326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17B38C-F5D1-4E86-8089-82F00BC7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26A5A0-B0A1-E2F8-4143-EA786710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B9B430-1945-2B5F-4446-65E5BF86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90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A35CF-0403-C724-1AD7-212EB8DE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53EEE-710C-E469-61CE-BFC1BD4ED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ADE455-9AE9-90F1-0F45-59EC06E8F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6AE5EEC-A7FE-915F-C798-C965FD80B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AC2792-CDDC-B69F-B70C-C11C9FFD9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7A3D93C-0EE3-3928-64BE-CD68FA99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40329E-413F-EB5A-04DA-0C663C31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44234D-B6B7-054B-7B1D-03EEC1D4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97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00A10-CEC9-E0DA-A9A5-32F82398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1B1985-20D8-2620-87F8-7E2E0B99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868C85-CD59-B36D-EA54-003EA9BE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66B714-0342-24FE-4AA7-6BC28409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4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5B29396-ADF7-F334-9143-9A0C3F70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2721A0-D106-5986-9325-589B09E1B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F39575-225E-58E7-B613-FAFB2518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70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1AB3F-D8A7-D290-DCAB-8730A74A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8010D3-2275-BF9B-30A0-35DDAECDE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AD0D584-30BE-31B4-91B8-94578B603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251C8-DC22-74AC-8BD8-0EB401D40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ED0FD4-F8AF-6099-DF8A-1D008BF7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207ED4-D1D1-865C-B988-29FF1124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3F75D-BC2B-3979-29D8-97ABB6E2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B99962E-C6DD-E953-869D-FAB049515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C2D727-8F24-2E3C-2FC8-835D1973E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E23338-3947-C906-5DD8-68F1475E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8AC6BE-FE4C-8399-AD97-387102F3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BCA441-4ED7-D020-EF52-E91A7701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20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551EA-556C-9A7A-C120-B8C2A665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FEAE27-2FE5-5408-CB2F-6BBB88627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D9D550-941A-7430-56AC-2041AAD8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7DF526-0C66-F3C7-486C-A2BBF14A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BA76A1-0C65-A38C-3F09-8F92ADCA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23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F8315D8-618B-0430-3676-CA54B52DB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8F74BE-FE31-EE08-DFE6-C347C865C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4AF987-C414-30FD-D8C0-579A25C2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AFF6D8-1E54-7DE1-970F-72E04E80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83AC1E-7830-A598-0560-9A9AD7379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56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8C74D-343F-AD19-746D-23E43BE1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E75BE0-2612-7C91-E332-E3000ED1C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AA0505-E4AC-970A-B380-0057AAB7B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BD27A-C055-46E4-BBF0-C588A7E32EAC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F50D8A-6B0D-8E14-D584-BFB5B57FF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3F07DF-6280-3375-748D-3BB88EA80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5A9C0-90B5-49BA-97D4-FD5D811FB9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09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DC6FE6-3EE1-02CD-CC63-2F4B16973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Die  Zeit in der </a:t>
            </a:r>
            <a:r>
              <a:rPr lang="de-DE" dirty="0" err="1"/>
              <a:t>Astronometria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CE8041-8142-E4EB-03D7-3EB8AB50F6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UTC, TT, TBC</a:t>
            </a:r>
          </a:p>
        </p:txBody>
      </p:sp>
    </p:spTree>
    <p:extLst>
      <p:ext uri="{BB962C8B-B14F-4D97-AF65-F5344CB8AC3E}">
        <p14:creationId xmlns:p14="http://schemas.microsoft.com/office/powerpoint/2010/main" val="2835979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hteck 87">
            <a:extLst>
              <a:ext uri="{FF2B5EF4-FFF2-40B4-BE49-F238E27FC236}">
                <a16:creationId xmlns:a16="http://schemas.microsoft.com/office/drawing/2014/main" id="{935FAE98-6794-B962-2D81-C0075A9E7296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8A7AC85-0FB2-EA6B-AD59-C80B571B2ADD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0355653B-D828-63F6-EDDA-34D171455FC1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B79CFBA-E821-2C07-3465-2E946D677DDC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567D6F-7051-326F-EED5-35006FE64CD2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1D2291C-B7BD-E26E-DF77-E2ADE6B1D5B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0B69940-85C7-04A5-E29A-96B9272CCABE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9DD84C6C-836B-9144-D85D-D845CE58C40E}"/>
              </a:ext>
            </a:extLst>
          </p:cNvPr>
          <p:cNvSpPr txBox="1"/>
          <p:nvPr/>
        </p:nvSpPr>
        <p:spPr>
          <a:xfrm>
            <a:off x="4822726" y="511950"/>
            <a:ext cx="4750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 – </a:t>
            </a:r>
            <a:r>
              <a:rPr lang="de-DE" sz="1400" i="1" dirty="0"/>
              <a:t>Time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, Observation Point, etc.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6584B9D-564E-D72D-66CC-0FFFB2428FD6}"/>
              </a:ext>
            </a:extLst>
          </p:cNvPr>
          <p:cNvSpPr/>
          <p:nvPr/>
        </p:nvSpPr>
        <p:spPr>
          <a:xfrm>
            <a:off x="5021006" y="278145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C21E7E6-D441-6B5B-DE7B-5A110CF9936D}"/>
              </a:ext>
            </a:extLst>
          </p:cNvPr>
          <p:cNvSpPr/>
          <p:nvPr/>
        </p:nvSpPr>
        <p:spPr>
          <a:xfrm>
            <a:off x="5021006" y="357746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3D78747-59F8-09B6-149E-8E2DE93A3247}"/>
              </a:ext>
            </a:extLst>
          </p:cNvPr>
          <p:cNvSpPr/>
          <p:nvPr/>
        </p:nvSpPr>
        <p:spPr>
          <a:xfrm>
            <a:off x="5013268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C580043-B45A-570B-D9ED-2196D1832C52}"/>
              </a:ext>
            </a:extLst>
          </p:cNvPr>
          <p:cNvSpPr/>
          <p:nvPr/>
        </p:nvSpPr>
        <p:spPr>
          <a:xfrm>
            <a:off x="7449472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E799E31-B1C9-0617-27D2-3346FC62F133}"/>
              </a:ext>
            </a:extLst>
          </p:cNvPr>
          <p:cNvSpPr/>
          <p:nvPr/>
        </p:nvSpPr>
        <p:spPr>
          <a:xfrm>
            <a:off x="2690633" y="4608519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D997A11-F591-5DB0-A6ED-A07C8CCCD3C1}"/>
              </a:ext>
            </a:extLst>
          </p:cNvPr>
          <p:cNvSpPr txBox="1"/>
          <p:nvPr/>
        </p:nvSpPr>
        <p:spPr>
          <a:xfrm>
            <a:off x="3053716" y="4697889"/>
            <a:ext cx="1164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Report Layer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1F5EDE2B-4868-3463-39AE-C8A895423B88}"/>
              </a:ext>
            </a:extLst>
          </p:cNvPr>
          <p:cNvCxnSpPr>
            <a:cxnSpLocks/>
          </p:cNvCxnSpPr>
          <p:nvPr/>
        </p:nvCxnSpPr>
        <p:spPr>
          <a:xfrm flipH="1">
            <a:off x="4332092" y="4342588"/>
            <a:ext cx="3" cy="264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65278C78-47C2-4028-1BB0-47BBECB82F35}"/>
              </a:ext>
            </a:extLst>
          </p:cNvPr>
          <p:cNvCxnSpPr>
            <a:cxnSpLocks/>
          </p:cNvCxnSpPr>
          <p:nvPr/>
        </p:nvCxnSpPr>
        <p:spPr>
          <a:xfrm>
            <a:off x="7795240" y="4342588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26009BB2-2056-5BA9-B76D-EB6D2271A4B3}"/>
              </a:ext>
            </a:extLst>
          </p:cNvPr>
          <p:cNvCxnSpPr/>
          <p:nvPr/>
        </p:nvCxnSpPr>
        <p:spPr>
          <a:xfrm>
            <a:off x="4332092" y="4342588"/>
            <a:ext cx="3463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3F2F823-16E4-4031-6D92-C5C739B82335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3695720" y="513177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E8674B05-ADD4-633F-978F-1465923F2F3F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2854A37-B315-2E40-094B-E8EE9BA315AD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AE8DA76D-5758-A831-C920-A062BE02E5EF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E784850E-52D4-A57D-8718-8FB293FEB3FF}"/>
              </a:ext>
            </a:extLst>
          </p:cNvPr>
          <p:cNvCxnSpPr>
            <a:cxnSpLocks/>
            <a:stCxn id="25" idx="1"/>
            <a:endCxn id="30" idx="3"/>
          </p:cNvCxnSpPr>
          <p:nvPr/>
        </p:nvCxnSpPr>
        <p:spPr>
          <a:xfrm flipH="1">
            <a:off x="4700806" y="4868260"/>
            <a:ext cx="312462" cy="188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C1440680-AD23-62B3-A059-B52750C217F1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023441" y="4868260"/>
            <a:ext cx="42603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7CB0CD82-785D-36B2-A856-5B2717705871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454559" y="512988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3531C7E8-C397-337F-9398-AEBAD30E8716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FE706C-CCF6-AD33-DB2A-AA5FE590725D}"/>
              </a:ext>
            </a:extLst>
          </p:cNvPr>
          <p:cNvSpPr txBox="1"/>
          <p:nvPr/>
        </p:nvSpPr>
        <p:spPr>
          <a:xfrm>
            <a:off x="5388101" y="3685200"/>
            <a:ext cx="1019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Core Layer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F3A8DD-1CA0-4D2D-18F4-0AB558A0C92A}"/>
              </a:ext>
            </a:extLst>
          </p:cNvPr>
          <p:cNvSpPr txBox="1"/>
          <p:nvPr/>
        </p:nvSpPr>
        <p:spPr>
          <a:xfrm>
            <a:off x="5192627" y="2872418"/>
            <a:ext cx="1670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Ephemerides</a:t>
            </a:r>
            <a:r>
              <a:rPr lang="de-DE" sz="1400" dirty="0"/>
              <a:t> Layer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CB498B1-4AC2-D235-143D-BA40E347DBF9}"/>
              </a:ext>
            </a:extLst>
          </p:cNvPr>
          <p:cNvSpPr txBox="1"/>
          <p:nvPr/>
        </p:nvSpPr>
        <p:spPr>
          <a:xfrm>
            <a:off x="5276676" y="4697889"/>
            <a:ext cx="1483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Simulation Layer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338CE7FB-F4A8-BE04-22A9-0DAC8531019C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>
          <a:xfrm>
            <a:off x="6026093" y="2271173"/>
            <a:ext cx="0" cy="510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F8960BA-C47A-4A09-2375-52B20579FBA8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6093" y="3304713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AE94F41-225B-DDE8-D749-057B723C2688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18355" y="4100719"/>
            <a:ext cx="7738" cy="50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6AD2147-10E0-BD5D-D2CB-FE830588742B}"/>
              </a:ext>
            </a:extLst>
          </p:cNvPr>
          <p:cNvSpPr txBox="1"/>
          <p:nvPr/>
        </p:nvSpPr>
        <p:spPr>
          <a:xfrm>
            <a:off x="7712880" y="4697889"/>
            <a:ext cx="1434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Projection</a:t>
            </a:r>
            <a:r>
              <a:rPr lang="de-DE" sz="1400" dirty="0"/>
              <a:t> Layer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E9475A7F-06FD-F495-5D3C-54D2D5D21FF7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69E7B7A2-B4A7-8F5D-0B1C-0C8F4A980E21}"/>
              </a:ext>
            </a:extLst>
          </p:cNvPr>
          <p:cNvSpPr txBox="1"/>
          <p:nvPr/>
        </p:nvSpPr>
        <p:spPr>
          <a:xfrm>
            <a:off x="7169417" y="2070264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Parser, Catalog,  Orbital </a:t>
            </a:r>
          </a:p>
          <a:p>
            <a:r>
              <a:rPr lang="de-DE" sz="1000" i="1" dirty="0" err="1"/>
              <a:t>elements</a:t>
            </a:r>
            <a:r>
              <a:rPr lang="de-DE" sz="1000" i="1" dirty="0"/>
              <a:t>, VSOP </a:t>
            </a:r>
            <a:r>
              <a:rPr lang="de-DE" sz="1000" i="1" dirty="0" err="1"/>
              <a:t>Loader</a:t>
            </a:r>
            <a:r>
              <a:rPr lang="de-DE" sz="1000" i="1" dirty="0"/>
              <a:t>, …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6C22F3AB-84ED-FF6C-859A-2264EF8AB2F2}"/>
              </a:ext>
            </a:extLst>
          </p:cNvPr>
          <p:cNvSpPr txBox="1"/>
          <p:nvPr/>
        </p:nvSpPr>
        <p:spPr>
          <a:xfrm>
            <a:off x="7202800" y="2780085"/>
            <a:ext cx="2400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VSOP, Aberration, </a:t>
            </a:r>
            <a:r>
              <a:rPr lang="de-DE" sz="1000" i="1" dirty="0" err="1"/>
              <a:t>Nutaiton</a:t>
            </a:r>
            <a:r>
              <a:rPr lang="de-DE" sz="1000" i="1" dirty="0"/>
              <a:t>, </a:t>
            </a:r>
            <a:r>
              <a:rPr lang="de-DE" sz="1000" i="1" dirty="0" err="1"/>
              <a:t>Precession</a:t>
            </a:r>
            <a:r>
              <a:rPr lang="de-DE" sz="1000" i="1" dirty="0"/>
              <a:t>,</a:t>
            </a:r>
          </a:p>
          <a:p>
            <a:r>
              <a:rPr lang="de-DE" sz="1000" i="1" dirty="0"/>
              <a:t>Light-</a:t>
            </a:r>
            <a:r>
              <a:rPr lang="de-DE" sz="1000" i="1" dirty="0" err="1"/>
              <a:t>Runtime</a:t>
            </a:r>
            <a:endParaRPr lang="de-DE" sz="1000" i="1" dirty="0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0858559F-393D-6E29-8852-F97D89B80B32}"/>
              </a:ext>
            </a:extLst>
          </p:cNvPr>
          <p:cNvSpPr txBox="1"/>
          <p:nvPr/>
        </p:nvSpPr>
        <p:spPr>
          <a:xfrm>
            <a:off x="7236851" y="3577460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/>
              <a:t>Planets</a:t>
            </a:r>
            <a:r>
              <a:rPr lang="de-DE" sz="1000" i="1" dirty="0"/>
              <a:t>, Moon, Stars, Sun, Comets,</a:t>
            </a:r>
          </a:p>
          <a:p>
            <a:r>
              <a:rPr lang="de-DE" sz="1000" i="1" dirty="0"/>
              <a:t>„Sky Objects“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F0347BB8-6957-C016-A1DD-B98CC9FBD0B1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772A5DE2-028C-F366-84F0-CA82FB3F41F0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1BDDC956-B3D4-DA0F-CFCC-C2044779ECF1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8DF5961B-FBA9-6306-9302-82FD8409058E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C3DA2C98-12D5-8FC8-2720-EA115154737C}"/>
              </a:ext>
            </a:extLst>
          </p:cNvPr>
          <p:cNvSpPr txBox="1"/>
          <p:nvPr/>
        </p:nvSpPr>
        <p:spPr>
          <a:xfrm>
            <a:off x="2933822" y="3180195"/>
            <a:ext cx="929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TT, TDB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80508AA4-3D3A-2193-E54D-B561F21B7262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A7C1A844-3AE3-29FE-3520-F12852C23DCD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C01E39DE-5EA0-A4E5-6109-1EFB4DE9BF83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58C68D02-C0DA-89A2-4669-A1572543A924}"/>
              </a:ext>
            </a:extLst>
          </p:cNvPr>
          <p:cNvSpPr txBox="1"/>
          <p:nvPr/>
        </p:nvSpPr>
        <p:spPr>
          <a:xfrm>
            <a:off x="2881293" y="2448345"/>
            <a:ext cx="1544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58EE4E3-67F4-1FF6-38C3-5175B017E315}"/>
              </a:ext>
            </a:extLst>
          </p:cNvPr>
          <p:cNvSpPr txBox="1"/>
          <p:nvPr/>
        </p:nvSpPr>
        <p:spPr>
          <a:xfrm>
            <a:off x="-82638" y="-32128"/>
            <a:ext cx="8138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highlight>
                  <a:srgbClr val="00FF00"/>
                </a:highlight>
              </a:rPr>
              <a:t>final </a:t>
            </a:r>
            <a:r>
              <a:rPr lang="de-DE" sz="3600" dirty="0" err="1">
                <a:highlight>
                  <a:srgbClr val="00FF00"/>
                </a:highlight>
              </a:rPr>
              <a:t>implementation</a:t>
            </a:r>
            <a:r>
              <a:rPr lang="de-DE" sz="3600" dirty="0">
                <a:highlight>
                  <a:srgbClr val="00FF00"/>
                </a:highlight>
              </a:rPr>
              <a:t> </a:t>
            </a:r>
            <a:r>
              <a:rPr lang="de-DE" sz="3600" dirty="0" err="1">
                <a:highlight>
                  <a:srgbClr val="00FF00"/>
                </a:highlight>
              </a:rPr>
              <a:t>idea</a:t>
            </a:r>
            <a:r>
              <a:rPr lang="de-DE" sz="3600" dirty="0">
                <a:highlight>
                  <a:srgbClr val="00FF00"/>
                </a:highlight>
              </a:rPr>
              <a:t>: </a:t>
            </a:r>
            <a:r>
              <a:rPr lang="de-DE" sz="3600" dirty="0" err="1">
                <a:highlight>
                  <a:srgbClr val="00FF00"/>
                </a:highlight>
              </a:rPr>
              <a:t>starting</a:t>
            </a:r>
            <a:r>
              <a:rPr lang="de-DE" sz="3600" dirty="0">
                <a:highlight>
                  <a:srgbClr val="00FF00"/>
                </a:highlight>
              </a:rPr>
              <a:t> </a:t>
            </a:r>
            <a:r>
              <a:rPr lang="de-DE" sz="3600" dirty="0" err="1">
                <a:highlight>
                  <a:srgbClr val="00FF00"/>
                </a:highlight>
              </a:rPr>
              <a:t>point</a:t>
            </a:r>
            <a:endParaRPr lang="de-DE" sz="36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5038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17F1C-CA45-3477-6F3D-C0752B09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hteck 87">
            <a:extLst>
              <a:ext uri="{FF2B5EF4-FFF2-40B4-BE49-F238E27FC236}">
                <a16:creationId xmlns:a16="http://schemas.microsoft.com/office/drawing/2014/main" id="{DA8DB22E-A5F0-572B-6862-8C92365D6925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56362B9-81CE-3317-6DBE-F3F7C76148CF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4F11382A-0AB9-7953-C8E6-D3FD8CEF4AB8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6344114-60E5-855F-33F9-8CEA9CFC3CE1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522E81D-E483-AB56-73CF-B5660F6A6808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15E7106-5D09-80BE-612A-DD5C4940225C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75FF269-AB93-8660-D63F-55120BB1B48A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FB8F5162-BAF6-7778-CB84-B3E2DCD3D208}"/>
              </a:ext>
            </a:extLst>
          </p:cNvPr>
          <p:cNvSpPr txBox="1"/>
          <p:nvPr/>
        </p:nvSpPr>
        <p:spPr>
          <a:xfrm>
            <a:off x="4822726" y="511950"/>
            <a:ext cx="4750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 – </a:t>
            </a:r>
            <a:r>
              <a:rPr lang="de-DE" sz="1400" i="1" dirty="0"/>
              <a:t>Time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, Observation Point, etc.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F212AD6-8BFE-EA16-992A-0305C8B2E5FF}"/>
              </a:ext>
            </a:extLst>
          </p:cNvPr>
          <p:cNvSpPr/>
          <p:nvPr/>
        </p:nvSpPr>
        <p:spPr>
          <a:xfrm>
            <a:off x="5021006" y="278145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0B61556-3ADB-FD02-1CE4-EBA9D7365319}"/>
              </a:ext>
            </a:extLst>
          </p:cNvPr>
          <p:cNvSpPr/>
          <p:nvPr/>
        </p:nvSpPr>
        <p:spPr>
          <a:xfrm>
            <a:off x="5021006" y="357746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4AD9584-AA4D-E634-189D-10CA6FF62D44}"/>
              </a:ext>
            </a:extLst>
          </p:cNvPr>
          <p:cNvSpPr/>
          <p:nvPr/>
        </p:nvSpPr>
        <p:spPr>
          <a:xfrm>
            <a:off x="5013268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0EF56D0-EA00-972C-F2E8-DAE66BC25065}"/>
              </a:ext>
            </a:extLst>
          </p:cNvPr>
          <p:cNvSpPr/>
          <p:nvPr/>
        </p:nvSpPr>
        <p:spPr>
          <a:xfrm>
            <a:off x="7449472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8FEC3C0-AA15-C883-A990-F32F0268F8FD}"/>
              </a:ext>
            </a:extLst>
          </p:cNvPr>
          <p:cNvSpPr/>
          <p:nvPr/>
        </p:nvSpPr>
        <p:spPr>
          <a:xfrm>
            <a:off x="2690633" y="4608519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9FF3307-81B0-D0EB-7922-BD324B8D6B3D}"/>
              </a:ext>
            </a:extLst>
          </p:cNvPr>
          <p:cNvSpPr txBox="1"/>
          <p:nvPr/>
        </p:nvSpPr>
        <p:spPr>
          <a:xfrm>
            <a:off x="3053716" y="4697889"/>
            <a:ext cx="116435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Report Layer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58034131-3B58-B11D-DBF7-463B45B5DE89}"/>
              </a:ext>
            </a:extLst>
          </p:cNvPr>
          <p:cNvCxnSpPr>
            <a:cxnSpLocks/>
          </p:cNvCxnSpPr>
          <p:nvPr/>
        </p:nvCxnSpPr>
        <p:spPr>
          <a:xfrm flipH="1">
            <a:off x="4332092" y="4342588"/>
            <a:ext cx="3" cy="26404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B082F47-954B-584F-6BE2-DDCBB5FC008E}"/>
              </a:ext>
            </a:extLst>
          </p:cNvPr>
          <p:cNvCxnSpPr>
            <a:cxnSpLocks/>
          </p:cNvCxnSpPr>
          <p:nvPr/>
        </p:nvCxnSpPr>
        <p:spPr>
          <a:xfrm>
            <a:off x="7795240" y="4342588"/>
            <a:ext cx="0" cy="27274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8A4F57E7-D514-73DB-1E0B-BD98A2CAA46F}"/>
              </a:ext>
            </a:extLst>
          </p:cNvPr>
          <p:cNvCxnSpPr/>
          <p:nvPr/>
        </p:nvCxnSpPr>
        <p:spPr>
          <a:xfrm>
            <a:off x="4332092" y="4342588"/>
            <a:ext cx="34631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452D0798-AA23-ABE5-4D48-A1E0803FA560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3695720" y="513177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5CA513E5-1093-51E4-F535-1FA659352EDD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25B4711F-34B9-2884-F138-2DAFEFD21547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22F402C-0DA1-B368-186B-3BFCCA7F8EB0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FD9FFE9D-2724-3FD2-6FC4-A4D0216D512B}"/>
              </a:ext>
            </a:extLst>
          </p:cNvPr>
          <p:cNvCxnSpPr>
            <a:cxnSpLocks/>
            <a:stCxn id="25" idx="1"/>
            <a:endCxn id="30" idx="3"/>
          </p:cNvCxnSpPr>
          <p:nvPr/>
        </p:nvCxnSpPr>
        <p:spPr>
          <a:xfrm flipH="1">
            <a:off x="4700806" y="4868260"/>
            <a:ext cx="312462" cy="188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3EE451DD-A600-A7C5-3CEE-43F9254FD2E9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023441" y="4868260"/>
            <a:ext cx="4260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6B003624-020E-34C0-A8C7-1905FBBFCB66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454559" y="512988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8BEA373B-860A-FEBF-323B-6800B0B5A127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D1EC7BE-C5C3-48FA-F52A-E747A70F5A0E}"/>
              </a:ext>
            </a:extLst>
          </p:cNvPr>
          <p:cNvSpPr txBox="1"/>
          <p:nvPr/>
        </p:nvSpPr>
        <p:spPr>
          <a:xfrm>
            <a:off x="5388101" y="3685200"/>
            <a:ext cx="101925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Core Layer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C8E1B83-771A-6541-D77F-3D0468ABF561}"/>
              </a:ext>
            </a:extLst>
          </p:cNvPr>
          <p:cNvSpPr txBox="1"/>
          <p:nvPr/>
        </p:nvSpPr>
        <p:spPr>
          <a:xfrm>
            <a:off x="5192627" y="2872418"/>
            <a:ext cx="1670907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400" dirty="0" err="1">
                <a:solidFill>
                  <a:schemeClr val="bg1">
                    <a:lumMod val="75000"/>
                  </a:schemeClr>
                </a:solidFill>
              </a:rPr>
              <a:t>Ephemerides</a:t>
            </a:r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 Layer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66B76F2-1419-E7C9-805B-B9B006303C64}"/>
              </a:ext>
            </a:extLst>
          </p:cNvPr>
          <p:cNvSpPr txBox="1"/>
          <p:nvPr/>
        </p:nvSpPr>
        <p:spPr>
          <a:xfrm>
            <a:off x="5276676" y="4697889"/>
            <a:ext cx="148335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Simulation Layer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1EB44F3-C542-E57F-989D-37DD0113721E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>
          <a:xfrm>
            <a:off x="6026093" y="2271173"/>
            <a:ext cx="0" cy="510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9732851-ABDC-E984-E6EF-1CC719728298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6093" y="3304713"/>
            <a:ext cx="0" cy="27274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52E32F4A-6DA2-0A31-8B9F-D27CBAE6F8B8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18355" y="4100719"/>
            <a:ext cx="7738" cy="50591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79E5BFF1-F0DA-7E66-0886-EA97F9A535A3}"/>
              </a:ext>
            </a:extLst>
          </p:cNvPr>
          <p:cNvSpPr txBox="1"/>
          <p:nvPr/>
        </p:nvSpPr>
        <p:spPr>
          <a:xfrm>
            <a:off x="7712880" y="4697889"/>
            <a:ext cx="14343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400" dirty="0" err="1">
                <a:solidFill>
                  <a:schemeClr val="bg1">
                    <a:lumMod val="75000"/>
                  </a:schemeClr>
                </a:solidFill>
              </a:rPr>
              <a:t>Projection</a:t>
            </a:r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 Layer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D9E4BABC-7F49-F0CE-C1E0-A565A20BFA88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6D7174D-8C35-A3D5-721F-43A795A48F16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8027F792-FCB9-47F4-3825-90B324F33D27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85641A4E-62FF-D094-1373-A69A1D1B8C44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8E0A81A4-4EF1-E1C2-31AE-F37993605467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77B87D5C-0E9F-35C6-0013-DA6AAF69951B}"/>
              </a:ext>
            </a:extLst>
          </p:cNvPr>
          <p:cNvSpPr txBox="1"/>
          <p:nvPr/>
        </p:nvSpPr>
        <p:spPr>
          <a:xfrm>
            <a:off x="2933822" y="3180195"/>
            <a:ext cx="92928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TT, TDB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BC0EE7DD-495F-BB67-235B-3B1467F007E9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C8C3D906-EAEF-310D-627B-EDFF6BF659E3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D2F6C255-822A-A497-4DB0-563791A026BC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ED9F78C5-AD89-F5F8-9B1E-055A16EDA272}"/>
              </a:ext>
            </a:extLst>
          </p:cNvPr>
          <p:cNvSpPr txBox="1"/>
          <p:nvPr/>
        </p:nvSpPr>
        <p:spPr>
          <a:xfrm>
            <a:off x="2881293" y="2448345"/>
            <a:ext cx="154426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23E9FA4-A4DB-7369-8B3A-C8F6E2760414}"/>
              </a:ext>
            </a:extLst>
          </p:cNvPr>
          <p:cNvSpPr txBox="1"/>
          <p:nvPr/>
        </p:nvSpPr>
        <p:spPr>
          <a:xfrm>
            <a:off x="-98119" y="-31536"/>
            <a:ext cx="4555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highlight>
                  <a:srgbClr val="00FF00"/>
                </a:highlight>
              </a:rPr>
              <a:t>final </a:t>
            </a:r>
            <a:r>
              <a:rPr lang="de-DE" sz="3600" dirty="0" err="1">
                <a:highlight>
                  <a:srgbClr val="00FF00"/>
                </a:highlight>
              </a:rPr>
              <a:t>implementation</a:t>
            </a:r>
            <a:r>
              <a:rPr lang="de-DE" sz="3600" dirty="0">
                <a:highlight>
                  <a:srgbClr val="00FF00"/>
                </a:highlight>
              </a:rPr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845C5C2-F9A4-DBA6-EE69-3EE0188BDCCB}"/>
              </a:ext>
            </a:extLst>
          </p:cNvPr>
          <p:cNvSpPr/>
          <p:nvPr/>
        </p:nvSpPr>
        <p:spPr>
          <a:xfrm>
            <a:off x="10545328" y="2020373"/>
            <a:ext cx="1280830" cy="52325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FF0000"/>
                </a:solidFill>
              </a:rPr>
              <a:t>UTC Instant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5420801-C933-E339-297C-0AC1423E4EC7}"/>
              </a:ext>
            </a:extLst>
          </p:cNvPr>
          <p:cNvSpPr/>
          <p:nvPr/>
        </p:nvSpPr>
        <p:spPr>
          <a:xfrm>
            <a:off x="9671307" y="2875513"/>
            <a:ext cx="1280830" cy="52325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FF0000"/>
                </a:solidFill>
              </a:rPr>
              <a:t>UTCToTT</a:t>
            </a:r>
            <a:endParaRPr lang="de-DE" sz="1400" dirty="0">
              <a:solidFill>
                <a:srgbClr val="FF0000"/>
              </a:solidFill>
            </a:endParaRPr>
          </a:p>
          <a:p>
            <a:pPr algn="ctr"/>
            <a:r>
              <a:rPr lang="de-DE" sz="1400" dirty="0">
                <a:solidFill>
                  <a:srgbClr val="FF0000"/>
                </a:solidFill>
              </a:rPr>
              <a:t>Converter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E4D8510-36EF-5111-0FAE-D805CCCF9847}"/>
              </a:ext>
            </a:extLst>
          </p:cNvPr>
          <p:cNvSpPr/>
          <p:nvPr/>
        </p:nvSpPr>
        <p:spPr>
          <a:xfrm>
            <a:off x="8066863" y="3612402"/>
            <a:ext cx="1280830" cy="52325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FF0000"/>
                </a:solidFill>
              </a:rPr>
              <a:t>TTInstant</a:t>
            </a:r>
            <a:endParaRPr lang="de-DE" sz="1400" dirty="0">
              <a:solidFill>
                <a:srgbClr val="FF0000"/>
              </a:solidFill>
            </a:endParaRP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C67D38F9-2595-2467-1DC6-8486E5437000}"/>
              </a:ext>
            </a:extLst>
          </p:cNvPr>
          <p:cNvCxnSpPr>
            <a:stCxn id="9" idx="2"/>
            <a:endCxn id="10" idx="3"/>
          </p:cNvCxnSpPr>
          <p:nvPr/>
        </p:nvCxnSpPr>
        <p:spPr>
          <a:xfrm rot="5400000">
            <a:off x="10772185" y="2723584"/>
            <a:ext cx="593511" cy="23360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0293FEA8-B19C-46C3-3194-22F64786C20C}"/>
              </a:ext>
            </a:extLst>
          </p:cNvPr>
          <p:cNvCxnSpPr>
            <a:cxnSpLocks/>
            <a:stCxn id="10" idx="2"/>
            <a:endCxn id="12" idx="3"/>
          </p:cNvCxnSpPr>
          <p:nvPr/>
        </p:nvCxnSpPr>
        <p:spPr>
          <a:xfrm rot="5400000">
            <a:off x="9592078" y="3154388"/>
            <a:ext cx="475260" cy="96402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09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FFEEFC2-35CD-108F-CF56-1E20B5A7FCC1}"/>
              </a:ext>
            </a:extLst>
          </p:cNvPr>
          <p:cNvSpPr/>
          <p:nvPr/>
        </p:nvSpPr>
        <p:spPr>
          <a:xfrm>
            <a:off x="460989" y="672461"/>
            <a:ext cx="3724481" cy="5882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04F35E0-AB84-BD49-A918-7340FC377A84}"/>
              </a:ext>
            </a:extLst>
          </p:cNvPr>
          <p:cNvSpPr/>
          <p:nvPr/>
        </p:nvSpPr>
        <p:spPr>
          <a:xfrm>
            <a:off x="4401374" y="672462"/>
            <a:ext cx="2380426" cy="5882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4316D9-0AE2-C761-90E6-1068853E3E89}"/>
              </a:ext>
            </a:extLst>
          </p:cNvPr>
          <p:cNvSpPr/>
          <p:nvPr/>
        </p:nvSpPr>
        <p:spPr>
          <a:xfrm>
            <a:off x="6928669" y="672465"/>
            <a:ext cx="4434655" cy="5882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387553F-353E-CEF8-1FF7-0D5A3C1C62C7}"/>
              </a:ext>
            </a:extLst>
          </p:cNvPr>
          <p:cNvSpPr txBox="1"/>
          <p:nvPr/>
        </p:nvSpPr>
        <p:spPr>
          <a:xfrm>
            <a:off x="1804220" y="146892"/>
            <a:ext cx="789393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/>
              <a:t>Use Case: GUI </a:t>
            </a:r>
            <a:r>
              <a:rPr lang="de-DE" b="1" dirty="0" err="1"/>
              <a:t>says</a:t>
            </a:r>
            <a:r>
              <a:rPr lang="de-DE" b="1" dirty="0"/>
              <a:t> „</a:t>
            </a:r>
            <a:r>
              <a:rPr lang="de-DE" b="1" dirty="0" err="1"/>
              <a:t>Simulate</a:t>
            </a:r>
            <a:r>
              <a:rPr lang="de-DE" b="1" dirty="0"/>
              <a:t> </a:t>
            </a:r>
            <a:r>
              <a:rPr lang="de-DE" b="1" dirty="0" err="1"/>
              <a:t>Positions</a:t>
            </a:r>
            <a:r>
              <a:rPr lang="de-DE" b="1" dirty="0"/>
              <a:t> in </a:t>
            </a:r>
            <a:r>
              <a:rPr lang="de-DE" b="1" dirty="0" err="1"/>
              <a:t>January</a:t>
            </a:r>
            <a:r>
              <a:rPr lang="de-DE" b="1" dirty="0"/>
              <a:t> and </a:t>
            </a:r>
            <a:r>
              <a:rPr lang="de-DE" b="1" dirty="0" err="1"/>
              <a:t>create</a:t>
            </a:r>
            <a:r>
              <a:rPr lang="de-DE" b="1" dirty="0"/>
              <a:t> a </a:t>
            </a:r>
            <a:r>
              <a:rPr lang="de-DE" b="1" dirty="0" err="1"/>
              <a:t>report</a:t>
            </a:r>
            <a:r>
              <a:rPr lang="de-DE" b="1" dirty="0"/>
              <a:t>“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B8E0387-53FF-F0E9-7F7D-69840CC2F0E9}"/>
              </a:ext>
            </a:extLst>
          </p:cNvPr>
          <p:cNvSpPr txBox="1"/>
          <p:nvPr/>
        </p:nvSpPr>
        <p:spPr>
          <a:xfrm>
            <a:off x="7154310" y="734393"/>
            <a:ext cx="156465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 err="1"/>
              <a:t>Determine</a:t>
            </a:r>
            <a:r>
              <a:rPr lang="de-DE" sz="1200" dirty="0"/>
              <a:t> 1.1. </a:t>
            </a:r>
            <a:r>
              <a:rPr lang="de-DE" sz="1200" dirty="0">
                <a:solidFill>
                  <a:srgbClr val="00B050"/>
                </a:solidFill>
              </a:rPr>
              <a:t>UTC</a:t>
            </a:r>
          </a:p>
          <a:p>
            <a:r>
              <a:rPr lang="de-DE" sz="1200" dirty="0" err="1"/>
              <a:t>Determine</a:t>
            </a:r>
            <a:r>
              <a:rPr lang="de-DE" sz="1200" dirty="0"/>
              <a:t> 31.1. </a:t>
            </a:r>
            <a:r>
              <a:rPr lang="de-DE" sz="1200" dirty="0">
                <a:solidFill>
                  <a:srgbClr val="00B050"/>
                </a:solidFill>
              </a:rPr>
              <a:t>UTC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A5B9EEB-A10C-BAD2-BE4E-C54E30F29183}"/>
              </a:ext>
            </a:extLst>
          </p:cNvPr>
          <p:cNvSpPr txBox="1"/>
          <p:nvPr/>
        </p:nvSpPr>
        <p:spPr>
          <a:xfrm>
            <a:off x="7144574" y="1315600"/>
            <a:ext cx="117589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Create 1.1.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  <a:p>
            <a:r>
              <a:rPr lang="de-DE" sz="1200" dirty="0"/>
              <a:t>Create 31.1.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51318E1-26A7-D4C3-DD95-5AE995C4A1C6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273959" y="1546432"/>
            <a:ext cx="8706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9A80EABB-A35C-4F86-C1C0-89A5E3CDE7C8}"/>
              </a:ext>
            </a:extLst>
          </p:cNvPr>
          <p:cNvSpPr txBox="1"/>
          <p:nvPr/>
        </p:nvSpPr>
        <p:spPr>
          <a:xfrm>
            <a:off x="7151232" y="1896807"/>
            <a:ext cx="6960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1.1.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  <a:p>
            <a:r>
              <a:rPr lang="de-DE" sz="1200" dirty="0"/>
              <a:t>31.1.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AF14660-606D-CFE1-D243-12501E743F28}"/>
              </a:ext>
            </a:extLst>
          </p:cNvPr>
          <p:cNvCxnSpPr>
            <a:cxnSpLocks/>
          </p:cNvCxnSpPr>
          <p:nvPr/>
        </p:nvCxnSpPr>
        <p:spPr>
          <a:xfrm flipH="1">
            <a:off x="6290353" y="2200595"/>
            <a:ext cx="854221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F9217B96-A8B6-5AA5-7FF1-2FB9C13D6043}"/>
              </a:ext>
            </a:extLst>
          </p:cNvPr>
          <p:cNvSpPr txBox="1"/>
          <p:nvPr/>
        </p:nvSpPr>
        <p:spPr>
          <a:xfrm>
            <a:off x="5413852" y="1458647"/>
            <a:ext cx="860107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1.1. </a:t>
            </a:r>
            <a:r>
              <a:rPr lang="de-DE" sz="1200" dirty="0">
                <a:solidFill>
                  <a:srgbClr val="00B050"/>
                </a:solidFill>
              </a:rPr>
              <a:t>UTC</a:t>
            </a:r>
          </a:p>
          <a:p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  <a:p>
            <a:r>
              <a:rPr lang="de-DE" sz="1200" dirty="0"/>
              <a:t>31.1. </a:t>
            </a:r>
            <a:r>
              <a:rPr lang="de-DE" sz="1200" dirty="0">
                <a:solidFill>
                  <a:srgbClr val="00B050"/>
                </a:solidFill>
              </a:rPr>
              <a:t>UTC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7701531-F127-1B1F-50BF-043FD71EBCDE}"/>
              </a:ext>
            </a:extLst>
          </p:cNvPr>
          <p:cNvSpPr txBox="1"/>
          <p:nvPr/>
        </p:nvSpPr>
        <p:spPr>
          <a:xfrm>
            <a:off x="7157890" y="2486252"/>
            <a:ext cx="147829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Simuliere jetzt  </a:t>
            </a:r>
          </a:p>
          <a:p>
            <a:r>
              <a:rPr lang="de-DE" sz="1200" dirty="0"/>
              <a:t>(1.1.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  <a:r>
              <a:rPr lang="de-DE" sz="1200" dirty="0"/>
              <a:t> bis 31.1.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  <a:r>
              <a:rPr lang="de-DE" sz="1200" dirty="0"/>
              <a:t>)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E4A14BA-BDF3-659B-DFD3-ADB67C369226}"/>
              </a:ext>
            </a:extLst>
          </p:cNvPr>
          <p:cNvCxnSpPr>
            <a:cxnSpLocks/>
          </p:cNvCxnSpPr>
          <p:nvPr/>
        </p:nvCxnSpPr>
        <p:spPr>
          <a:xfrm flipH="1">
            <a:off x="3736264" y="2765600"/>
            <a:ext cx="3414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98885ED8-1038-3ADF-F5B3-FEA814F0BA83}"/>
              </a:ext>
            </a:extLst>
          </p:cNvPr>
          <p:cNvSpPr txBox="1"/>
          <p:nvPr/>
        </p:nvSpPr>
        <p:spPr>
          <a:xfrm>
            <a:off x="685801" y="2600310"/>
            <a:ext cx="304421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Simulation (1.1. </a:t>
            </a:r>
            <a:r>
              <a:rPr lang="de-DE" sz="1200" dirty="0">
                <a:solidFill>
                  <a:srgbClr val="00B050"/>
                </a:solidFill>
              </a:rPr>
              <a:t>TT</a:t>
            </a:r>
            <a:r>
              <a:rPr lang="de-DE" sz="1200" dirty="0"/>
              <a:t> - 31.1. </a:t>
            </a:r>
            <a:r>
              <a:rPr lang="de-DE" sz="1200" dirty="0">
                <a:solidFill>
                  <a:srgbClr val="00B050"/>
                </a:solidFill>
              </a:rPr>
              <a:t>TT</a:t>
            </a:r>
            <a:r>
              <a:rPr lang="de-DE" sz="1200" dirty="0"/>
              <a:t>):</a:t>
            </a:r>
          </a:p>
          <a:p>
            <a:r>
              <a:rPr lang="de-DE" sz="1200" dirty="0"/>
              <a:t>List&lt;</a:t>
            </a:r>
            <a:r>
              <a:rPr lang="de-DE" sz="1200" dirty="0" err="1">
                <a:solidFill>
                  <a:srgbClr val="00B050"/>
                </a:solidFill>
              </a:rPr>
              <a:t>TTInstant</a:t>
            </a:r>
            <a:r>
              <a:rPr lang="de-DE" sz="1200" dirty="0"/>
              <a:t> time, Position </a:t>
            </a:r>
            <a:r>
              <a:rPr lang="de-DE" sz="1200" dirty="0" err="1"/>
              <a:t>pos</a:t>
            </a:r>
            <a:r>
              <a:rPr lang="de-DE" sz="1200" dirty="0"/>
              <a:t>)</a:t>
            </a:r>
          </a:p>
          <a:p>
            <a:r>
              <a:rPr lang="de-DE" sz="1200" dirty="0"/>
              <a:t>1.1. 	</a:t>
            </a:r>
            <a:r>
              <a:rPr lang="de-DE" sz="1200" dirty="0" err="1">
                <a:solidFill>
                  <a:srgbClr val="00B050"/>
                </a:solidFill>
              </a:rPr>
              <a:t>TTInstant</a:t>
            </a:r>
            <a:r>
              <a:rPr lang="de-DE" sz="1200" dirty="0"/>
              <a:t>	Pos@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TTInstant</a:t>
            </a:r>
            <a:endParaRPr lang="de-DE" sz="1200" dirty="0">
              <a:solidFill>
                <a:srgbClr val="00B050"/>
              </a:solidFill>
            </a:endParaRPr>
          </a:p>
          <a:p>
            <a:r>
              <a:rPr lang="de-DE" sz="1200" dirty="0"/>
              <a:t>2.1. 	</a:t>
            </a:r>
            <a:r>
              <a:rPr lang="de-DE" sz="1200" dirty="0" err="1">
                <a:solidFill>
                  <a:srgbClr val="00B050"/>
                </a:solidFill>
              </a:rPr>
              <a:t>TTInstant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/>
              <a:t>	Pos@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TTInstant</a:t>
            </a:r>
            <a:endParaRPr lang="de-DE" sz="1200" dirty="0">
              <a:solidFill>
                <a:srgbClr val="00B050"/>
              </a:solidFill>
            </a:endParaRPr>
          </a:p>
          <a:p>
            <a:r>
              <a:rPr lang="de-DE" sz="1200" dirty="0"/>
              <a:t>…</a:t>
            </a:r>
          </a:p>
          <a:p>
            <a:r>
              <a:rPr lang="de-DE" sz="1200" dirty="0"/>
              <a:t>31.1. 	</a:t>
            </a:r>
            <a:r>
              <a:rPr lang="de-DE" sz="1200" dirty="0" err="1">
                <a:solidFill>
                  <a:srgbClr val="00B050"/>
                </a:solidFill>
              </a:rPr>
              <a:t>TTInstant</a:t>
            </a:r>
            <a:r>
              <a:rPr lang="de-DE" sz="1200" dirty="0"/>
              <a:t> 	Pos@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TTInstant</a:t>
            </a:r>
            <a:endParaRPr lang="de-DE" sz="1200" dirty="0">
              <a:solidFill>
                <a:srgbClr val="00B050"/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E4847F4-DDAA-AC78-8930-F4CA41C88C28}"/>
              </a:ext>
            </a:extLst>
          </p:cNvPr>
          <p:cNvCxnSpPr>
            <a:cxnSpLocks/>
          </p:cNvCxnSpPr>
          <p:nvPr/>
        </p:nvCxnSpPr>
        <p:spPr>
          <a:xfrm flipH="1">
            <a:off x="3742922" y="3414529"/>
            <a:ext cx="341496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500E8A5E-454D-5B72-6C58-1570C246FBDA}"/>
              </a:ext>
            </a:extLst>
          </p:cNvPr>
          <p:cNvSpPr txBox="1"/>
          <p:nvPr/>
        </p:nvSpPr>
        <p:spPr>
          <a:xfrm>
            <a:off x="7170800" y="3033260"/>
            <a:ext cx="319915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err="1"/>
              <a:t>Result</a:t>
            </a:r>
            <a:r>
              <a:rPr lang="de-DE" sz="1200" dirty="0"/>
              <a:t>: List&lt;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/>
              <a:t> time, Position </a:t>
            </a:r>
            <a:r>
              <a:rPr lang="de-DE" sz="1200" dirty="0" err="1"/>
              <a:t>pos</a:t>
            </a:r>
            <a:r>
              <a:rPr lang="de-DE" sz="1200" dirty="0"/>
              <a:t>)</a:t>
            </a:r>
          </a:p>
          <a:p>
            <a:r>
              <a:rPr lang="de-DE" sz="1200" dirty="0"/>
              <a:t>1.1. 	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/>
              <a:t>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endParaRPr lang="de-DE" sz="1200" dirty="0">
              <a:solidFill>
                <a:srgbClr val="FF0000"/>
              </a:solidFill>
            </a:endParaRPr>
          </a:p>
          <a:p>
            <a:r>
              <a:rPr lang="de-DE" sz="1200" dirty="0"/>
              <a:t>2.1. 	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/>
              <a:t>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endParaRPr lang="de-DE" sz="1200" dirty="0">
              <a:solidFill>
                <a:srgbClr val="FF0000"/>
              </a:solidFill>
            </a:endParaRPr>
          </a:p>
          <a:p>
            <a:r>
              <a:rPr lang="de-DE" sz="1200" dirty="0"/>
              <a:t>…</a:t>
            </a:r>
          </a:p>
          <a:p>
            <a:r>
              <a:rPr lang="de-DE" sz="1200" dirty="0"/>
              <a:t>31.1. 	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/>
              <a:t>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endParaRPr lang="de-DE" sz="1200" dirty="0">
              <a:solidFill>
                <a:srgbClr val="FF0000"/>
              </a:solidFill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72620731-BA2B-590D-A937-12684DAA0643}"/>
              </a:ext>
            </a:extLst>
          </p:cNvPr>
          <p:cNvCxnSpPr>
            <a:cxnSpLocks/>
          </p:cNvCxnSpPr>
          <p:nvPr/>
        </p:nvCxnSpPr>
        <p:spPr>
          <a:xfrm flipH="1" flipV="1">
            <a:off x="6280616" y="4441519"/>
            <a:ext cx="8706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6D2274C2-76AA-A108-E7E6-64DE40152141}"/>
              </a:ext>
            </a:extLst>
          </p:cNvPr>
          <p:cNvSpPr txBox="1"/>
          <p:nvPr/>
        </p:nvSpPr>
        <p:spPr>
          <a:xfrm>
            <a:off x="7170801" y="4203296"/>
            <a:ext cx="319915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Create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these</a:t>
            </a:r>
            <a:r>
              <a:rPr lang="de-DE" sz="1200" dirty="0"/>
              <a:t> TTs </a:t>
            </a:r>
            <a:r>
              <a:rPr lang="de-DE" sz="1200" dirty="0" err="1"/>
              <a:t>their</a:t>
            </a:r>
            <a:r>
              <a:rPr lang="de-DE" sz="1200" dirty="0"/>
              <a:t> UTCs </a:t>
            </a:r>
            <a:r>
              <a:rPr lang="de-DE" sz="1200" dirty="0" err="1"/>
              <a:t>again</a:t>
            </a:r>
            <a:r>
              <a:rPr lang="de-DE" sz="1200" dirty="0"/>
              <a:t>:</a:t>
            </a:r>
          </a:p>
          <a:p>
            <a:r>
              <a:rPr lang="de-DE" sz="1200" dirty="0"/>
              <a:t>1.1. 	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/>
              <a:t>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/>
              <a:t>2.1. 	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/>
              <a:t>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/>
              <a:t>…</a:t>
            </a:r>
          </a:p>
          <a:p>
            <a:r>
              <a:rPr lang="de-DE" sz="1200" dirty="0"/>
              <a:t>31.1. 	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r>
              <a:rPr lang="de-DE" sz="1200" dirty="0"/>
              <a:t> 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FF0000"/>
                </a:solidFill>
              </a:rPr>
              <a:t>TTInstant</a:t>
            </a:r>
            <a:endParaRPr lang="de-DE" sz="1200" dirty="0">
              <a:solidFill>
                <a:srgbClr val="FF0000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C06C307-4E71-23B3-C354-9411E9DC50CF}"/>
              </a:ext>
            </a:extLst>
          </p:cNvPr>
          <p:cNvSpPr txBox="1"/>
          <p:nvPr/>
        </p:nvSpPr>
        <p:spPr>
          <a:xfrm>
            <a:off x="5450405" y="4244975"/>
            <a:ext cx="839947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1.1.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  <a:p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00B050"/>
                </a:solidFill>
              </a:rPr>
              <a:t>UTC</a:t>
            </a:r>
          </a:p>
          <a:p>
            <a:r>
              <a:rPr lang="de-DE" sz="1200" dirty="0"/>
              <a:t>31.1. </a:t>
            </a:r>
            <a:r>
              <a:rPr lang="de-DE" sz="1200" dirty="0">
                <a:solidFill>
                  <a:srgbClr val="FF0000"/>
                </a:solidFill>
              </a:rPr>
              <a:t>TT </a:t>
            </a:r>
          </a:p>
          <a:p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00B050"/>
                </a:solidFill>
              </a:rPr>
              <a:t>UTC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2E6BEDA-73D2-2246-1D31-0037F3106929}"/>
              </a:ext>
            </a:extLst>
          </p:cNvPr>
          <p:cNvSpPr txBox="1"/>
          <p:nvPr/>
        </p:nvSpPr>
        <p:spPr>
          <a:xfrm>
            <a:off x="7179806" y="5249025"/>
            <a:ext cx="3724480" cy="12003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Final Report: List&lt;</a:t>
            </a:r>
            <a:r>
              <a:rPr lang="de-DE" sz="1200" dirty="0" err="1">
                <a:solidFill>
                  <a:srgbClr val="00B050"/>
                </a:solidFill>
              </a:rPr>
              <a:t>UTCInstant</a:t>
            </a:r>
            <a:r>
              <a:rPr lang="de-DE" sz="1200" dirty="0"/>
              <a:t> time, Position </a:t>
            </a:r>
            <a:r>
              <a:rPr lang="de-DE" sz="1200" dirty="0" err="1"/>
              <a:t>pos</a:t>
            </a:r>
            <a:r>
              <a:rPr lang="de-DE" sz="1200" dirty="0"/>
              <a:t>)</a:t>
            </a:r>
          </a:p>
          <a:p>
            <a:endParaRPr lang="de-DE" sz="1200" dirty="0"/>
          </a:p>
          <a:p>
            <a:r>
              <a:rPr lang="de-DE" sz="1200" dirty="0"/>
              <a:t>1.1. 	</a:t>
            </a:r>
            <a:r>
              <a:rPr lang="de-DE" sz="1200" dirty="0" err="1">
                <a:solidFill>
                  <a:srgbClr val="00B050"/>
                </a:solidFill>
              </a:rPr>
              <a:t>UTCInstant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/>
              <a:t>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00B050"/>
                </a:solidFill>
              </a:rPr>
              <a:t>UTCInstant</a:t>
            </a:r>
            <a:endParaRPr lang="de-DE" sz="1200" dirty="0">
              <a:solidFill>
                <a:srgbClr val="00B050"/>
              </a:solidFill>
            </a:endParaRPr>
          </a:p>
          <a:p>
            <a:r>
              <a:rPr lang="de-DE" sz="1200" dirty="0"/>
              <a:t>2.1. 	</a:t>
            </a:r>
            <a:r>
              <a:rPr lang="de-DE" sz="1200" dirty="0" err="1">
                <a:solidFill>
                  <a:srgbClr val="00B050"/>
                </a:solidFill>
              </a:rPr>
              <a:t>UTCInstant</a:t>
            </a:r>
            <a:r>
              <a:rPr lang="de-DE" sz="1200" dirty="0"/>
              <a:t> 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00B050"/>
                </a:solidFill>
              </a:rPr>
              <a:t>UTCInstant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</a:p>
          <a:p>
            <a:r>
              <a:rPr lang="de-DE" sz="1200" dirty="0"/>
              <a:t>…</a:t>
            </a:r>
          </a:p>
          <a:p>
            <a:r>
              <a:rPr lang="de-DE" sz="1200" dirty="0"/>
              <a:t>31.1. 	</a:t>
            </a:r>
            <a:r>
              <a:rPr lang="de-DE" sz="1200" dirty="0" err="1">
                <a:solidFill>
                  <a:srgbClr val="00B050"/>
                </a:solidFill>
              </a:rPr>
              <a:t>UTCInstant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/>
              <a:t>	</a:t>
            </a:r>
            <a:r>
              <a:rPr lang="de-DE" sz="1200" dirty="0" err="1"/>
              <a:t>Pos@</a:t>
            </a:r>
            <a:r>
              <a:rPr lang="de-DE" sz="1200" dirty="0" err="1">
                <a:solidFill>
                  <a:srgbClr val="00B050"/>
                </a:solidFill>
              </a:rPr>
              <a:t>UTCInstant</a:t>
            </a:r>
            <a:endParaRPr lang="de-DE" sz="1200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CE0FE411-A7D6-B8CF-CB66-E1D85AB217DD}"/>
              </a:ext>
            </a:extLst>
          </p:cNvPr>
          <p:cNvCxnSpPr>
            <a:cxnSpLocks/>
          </p:cNvCxnSpPr>
          <p:nvPr/>
        </p:nvCxnSpPr>
        <p:spPr>
          <a:xfrm flipH="1">
            <a:off x="6303669" y="4924745"/>
            <a:ext cx="854221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7C975EBA-A4E7-4BC9-3CD4-599B9F939971}"/>
              </a:ext>
            </a:extLst>
          </p:cNvPr>
          <p:cNvSpPr txBox="1"/>
          <p:nvPr/>
        </p:nvSpPr>
        <p:spPr>
          <a:xfrm>
            <a:off x="9001602" y="734393"/>
            <a:ext cx="2281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  <a:p>
            <a:pPr algn="r"/>
            <a:r>
              <a:rPr lang="de-DE" dirty="0">
                <a:solidFill>
                  <a:schemeClr val="accent4"/>
                </a:solidFill>
              </a:rPr>
              <a:t>(</a:t>
            </a:r>
            <a:r>
              <a:rPr lang="de-DE" dirty="0" err="1">
                <a:solidFill>
                  <a:schemeClr val="accent4"/>
                </a:solidFill>
              </a:rPr>
              <a:t>AstroSim.Time.User</a:t>
            </a:r>
            <a:r>
              <a:rPr lang="de-DE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85CD983-1E8B-08C2-5074-2735FA72F84A}"/>
              </a:ext>
            </a:extLst>
          </p:cNvPr>
          <p:cNvSpPr txBox="1"/>
          <p:nvPr/>
        </p:nvSpPr>
        <p:spPr>
          <a:xfrm>
            <a:off x="987846" y="870073"/>
            <a:ext cx="234218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 </a:t>
            </a:r>
            <a:r>
              <a:rPr lang="de-DE" b="1" dirty="0">
                <a:solidFill>
                  <a:srgbClr val="00B050"/>
                </a:solidFill>
              </a:rPr>
              <a:t>TT</a:t>
            </a:r>
          </a:p>
          <a:p>
            <a:r>
              <a:rPr lang="de-DE" dirty="0">
                <a:solidFill>
                  <a:srgbClr val="00B050"/>
                </a:solidFill>
              </a:rPr>
              <a:t>(</a:t>
            </a:r>
            <a:r>
              <a:rPr lang="de-DE" dirty="0" err="1">
                <a:solidFill>
                  <a:srgbClr val="00B050"/>
                </a:solidFill>
              </a:rPr>
              <a:t>AstroSim.Time.Astro</a:t>
            </a:r>
            <a:r>
              <a:rPr lang="de-DE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C6F9A08-38B8-00A9-F902-A0592A960F3B}"/>
              </a:ext>
            </a:extLst>
          </p:cNvPr>
          <p:cNvSpPr txBox="1"/>
          <p:nvPr/>
        </p:nvSpPr>
        <p:spPr>
          <a:xfrm>
            <a:off x="4450687" y="5337569"/>
            <a:ext cx="2281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Converter Domain </a:t>
            </a:r>
            <a:r>
              <a:rPr lang="de-DE" b="1" dirty="0">
                <a:solidFill>
                  <a:srgbClr val="FF0000"/>
                </a:solidFill>
              </a:rPr>
              <a:t>UTC/TT</a:t>
            </a:r>
          </a:p>
          <a:p>
            <a:pPr algn="ctr"/>
            <a:r>
              <a:rPr lang="de-DE" dirty="0">
                <a:solidFill>
                  <a:srgbClr val="FF0000"/>
                </a:solidFill>
              </a:rPr>
              <a:t>(</a:t>
            </a:r>
            <a:r>
              <a:rPr lang="de-DE" dirty="0" err="1">
                <a:solidFill>
                  <a:srgbClr val="FF0000"/>
                </a:solidFill>
              </a:rPr>
              <a:t>AstroTim.Time</a:t>
            </a:r>
            <a:r>
              <a:rPr lang="de-DE" dirty="0">
                <a:solidFill>
                  <a:srgbClr val="FF0000"/>
                </a:solidFill>
              </a:rPr>
              <a:t>.</a:t>
            </a:r>
          </a:p>
          <a:p>
            <a:pPr algn="ctr"/>
            <a:r>
              <a:rPr lang="de-DE" dirty="0" err="1">
                <a:solidFill>
                  <a:srgbClr val="FF0000"/>
                </a:solidFill>
              </a:rPr>
              <a:t>Conversion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993D13E-C613-7530-39F2-D4F5C018BB2B}"/>
              </a:ext>
            </a:extLst>
          </p:cNvPr>
          <p:cNvCxnSpPr/>
          <p:nvPr/>
        </p:nvCxnSpPr>
        <p:spPr>
          <a:xfrm>
            <a:off x="7499244" y="1196058"/>
            <a:ext cx="0" cy="13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4B3AF26-5E42-572C-E6F3-5759E4A73916}"/>
              </a:ext>
            </a:extLst>
          </p:cNvPr>
          <p:cNvCxnSpPr/>
          <p:nvPr/>
        </p:nvCxnSpPr>
        <p:spPr>
          <a:xfrm>
            <a:off x="7492788" y="2358472"/>
            <a:ext cx="0" cy="13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90BE3D3-5CE0-C86C-C538-E285E1CAA373}"/>
              </a:ext>
            </a:extLst>
          </p:cNvPr>
          <p:cNvCxnSpPr>
            <a:cxnSpLocks/>
          </p:cNvCxnSpPr>
          <p:nvPr/>
        </p:nvCxnSpPr>
        <p:spPr>
          <a:xfrm>
            <a:off x="7435638" y="4048923"/>
            <a:ext cx="0" cy="154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F3B033B-31A5-96DA-49E5-1A274AD7F143}"/>
              </a:ext>
            </a:extLst>
          </p:cNvPr>
          <p:cNvCxnSpPr>
            <a:cxnSpLocks/>
          </p:cNvCxnSpPr>
          <p:nvPr/>
        </p:nvCxnSpPr>
        <p:spPr>
          <a:xfrm>
            <a:off x="7422938" y="5034293"/>
            <a:ext cx="0" cy="214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568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FFBF-DEFD-1111-6323-1AAF3E58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F1709F9-9473-2C5F-A284-21AC7BBF2ED4}"/>
              </a:ext>
            </a:extLst>
          </p:cNvPr>
          <p:cNvSpPr/>
          <p:nvPr/>
        </p:nvSpPr>
        <p:spPr>
          <a:xfrm>
            <a:off x="460989" y="672461"/>
            <a:ext cx="3724481" cy="5882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3940DE1-33C8-E21A-EAB1-99AB162C0BD8}"/>
              </a:ext>
            </a:extLst>
          </p:cNvPr>
          <p:cNvSpPr/>
          <p:nvPr/>
        </p:nvSpPr>
        <p:spPr>
          <a:xfrm>
            <a:off x="4401374" y="672462"/>
            <a:ext cx="2380426" cy="5882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8BB3C09-3FF4-04EE-AA8A-0A0D0662C1D1}"/>
              </a:ext>
            </a:extLst>
          </p:cNvPr>
          <p:cNvSpPr/>
          <p:nvPr/>
        </p:nvSpPr>
        <p:spPr>
          <a:xfrm>
            <a:off x="6928669" y="672465"/>
            <a:ext cx="4434655" cy="5882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7FB131-2267-41A8-FD04-B1489FEB25B1}"/>
              </a:ext>
            </a:extLst>
          </p:cNvPr>
          <p:cNvSpPr txBox="1"/>
          <p:nvPr/>
        </p:nvSpPr>
        <p:spPr>
          <a:xfrm>
            <a:off x="1804220" y="146892"/>
            <a:ext cx="789393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/>
              <a:t>Use Case: GUI </a:t>
            </a:r>
            <a:r>
              <a:rPr lang="de-DE" b="1" dirty="0" err="1"/>
              <a:t>says</a:t>
            </a:r>
            <a:r>
              <a:rPr lang="de-DE" b="1" dirty="0"/>
              <a:t> „</a:t>
            </a:r>
            <a:r>
              <a:rPr lang="de-DE" b="1" dirty="0" err="1"/>
              <a:t>Simulate</a:t>
            </a:r>
            <a:r>
              <a:rPr lang="de-DE" b="1" dirty="0"/>
              <a:t> </a:t>
            </a:r>
            <a:r>
              <a:rPr lang="de-DE" b="1" dirty="0" err="1"/>
              <a:t>Positions</a:t>
            </a:r>
            <a:r>
              <a:rPr lang="de-DE" b="1" dirty="0"/>
              <a:t> in </a:t>
            </a:r>
            <a:r>
              <a:rPr lang="de-DE" b="1" dirty="0" err="1"/>
              <a:t>January</a:t>
            </a:r>
            <a:r>
              <a:rPr lang="de-DE" b="1" dirty="0"/>
              <a:t> and </a:t>
            </a:r>
            <a:r>
              <a:rPr lang="de-DE" b="1" dirty="0" err="1"/>
              <a:t>create</a:t>
            </a:r>
            <a:r>
              <a:rPr lang="de-DE" b="1" dirty="0"/>
              <a:t> a </a:t>
            </a:r>
            <a:r>
              <a:rPr lang="de-DE" b="1" dirty="0" err="1"/>
              <a:t>report</a:t>
            </a:r>
            <a:r>
              <a:rPr lang="de-DE" b="1" dirty="0"/>
              <a:t>“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968AB2C-C25A-CA48-D353-AF7BB6559D0A}"/>
              </a:ext>
            </a:extLst>
          </p:cNvPr>
          <p:cNvSpPr txBox="1"/>
          <p:nvPr/>
        </p:nvSpPr>
        <p:spPr>
          <a:xfrm>
            <a:off x="9001602" y="734393"/>
            <a:ext cx="2281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  <a:p>
            <a:pPr algn="r"/>
            <a:r>
              <a:rPr lang="de-DE" dirty="0">
                <a:solidFill>
                  <a:schemeClr val="accent4"/>
                </a:solidFill>
              </a:rPr>
              <a:t>(</a:t>
            </a:r>
            <a:r>
              <a:rPr lang="de-DE" dirty="0" err="1">
                <a:solidFill>
                  <a:schemeClr val="accent4"/>
                </a:solidFill>
              </a:rPr>
              <a:t>AstroSim.Time.User</a:t>
            </a:r>
            <a:r>
              <a:rPr lang="de-DE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050E7E4-7829-5898-635A-0381FB368FDF}"/>
              </a:ext>
            </a:extLst>
          </p:cNvPr>
          <p:cNvSpPr txBox="1"/>
          <p:nvPr/>
        </p:nvSpPr>
        <p:spPr>
          <a:xfrm>
            <a:off x="987846" y="870073"/>
            <a:ext cx="234218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 </a:t>
            </a:r>
            <a:r>
              <a:rPr lang="de-DE" b="1" dirty="0">
                <a:solidFill>
                  <a:srgbClr val="00B050"/>
                </a:solidFill>
              </a:rPr>
              <a:t>TT</a:t>
            </a:r>
          </a:p>
          <a:p>
            <a:r>
              <a:rPr lang="de-DE" dirty="0">
                <a:solidFill>
                  <a:srgbClr val="00B050"/>
                </a:solidFill>
              </a:rPr>
              <a:t>(</a:t>
            </a:r>
            <a:r>
              <a:rPr lang="de-DE" dirty="0" err="1">
                <a:solidFill>
                  <a:srgbClr val="00B050"/>
                </a:solidFill>
              </a:rPr>
              <a:t>AstroSim.Time.Astro</a:t>
            </a:r>
            <a:r>
              <a:rPr lang="de-DE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DCFE817-0435-FE70-124D-5FF29FD92229}"/>
              </a:ext>
            </a:extLst>
          </p:cNvPr>
          <p:cNvSpPr txBox="1"/>
          <p:nvPr/>
        </p:nvSpPr>
        <p:spPr>
          <a:xfrm>
            <a:off x="4450687" y="5337569"/>
            <a:ext cx="2281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Converter Domain </a:t>
            </a:r>
            <a:r>
              <a:rPr lang="de-DE" b="1" dirty="0">
                <a:solidFill>
                  <a:srgbClr val="FF0000"/>
                </a:solidFill>
              </a:rPr>
              <a:t>UTC/TT</a:t>
            </a:r>
          </a:p>
          <a:p>
            <a:pPr algn="ctr"/>
            <a:r>
              <a:rPr lang="de-DE" dirty="0">
                <a:solidFill>
                  <a:srgbClr val="FF0000"/>
                </a:solidFill>
              </a:rPr>
              <a:t>(</a:t>
            </a:r>
            <a:r>
              <a:rPr lang="de-DE" dirty="0" err="1">
                <a:solidFill>
                  <a:srgbClr val="FF0000"/>
                </a:solidFill>
              </a:rPr>
              <a:t>AstroTim.Time</a:t>
            </a:r>
            <a:r>
              <a:rPr lang="de-DE" dirty="0">
                <a:solidFill>
                  <a:srgbClr val="FF0000"/>
                </a:solidFill>
              </a:rPr>
              <a:t>.</a:t>
            </a:r>
          </a:p>
          <a:p>
            <a:pPr algn="ctr"/>
            <a:r>
              <a:rPr lang="de-DE" dirty="0" err="1">
                <a:solidFill>
                  <a:srgbClr val="FF0000"/>
                </a:solidFill>
              </a:rPr>
              <a:t>Conversion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4194EF4-ACB8-910F-3B93-AD2A864ED025}"/>
              </a:ext>
            </a:extLst>
          </p:cNvPr>
          <p:cNvSpPr txBox="1"/>
          <p:nvPr/>
        </p:nvSpPr>
        <p:spPr>
          <a:xfrm rot="1723162" flipH="1">
            <a:off x="12387639" y="-184666"/>
            <a:ext cx="2316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Zeit bei Test Cases</a:t>
            </a:r>
          </a:p>
        </p:txBody>
      </p:sp>
    </p:spTree>
    <p:extLst>
      <p:ext uri="{BB962C8B-B14F-4D97-AF65-F5344CB8AC3E}">
        <p14:creationId xmlns:p14="http://schemas.microsoft.com/office/powerpoint/2010/main" val="1159917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C5AC1D5-BE6B-BD10-70EA-F7C92FBC7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55" y="1212850"/>
            <a:ext cx="3050346" cy="1674563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88ADA50-99B6-13E8-9C5F-7EAAC5739C76}"/>
              </a:ext>
            </a:extLst>
          </p:cNvPr>
          <p:cNvSpPr/>
          <p:nvPr/>
        </p:nvSpPr>
        <p:spPr>
          <a:xfrm>
            <a:off x="450850" y="501651"/>
            <a:ext cx="3905250" cy="28003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AA32CA3-5DC7-5143-46A8-D9F57B0D2D3B}"/>
              </a:ext>
            </a:extLst>
          </p:cNvPr>
          <p:cNvSpPr/>
          <p:nvPr/>
        </p:nvSpPr>
        <p:spPr>
          <a:xfrm>
            <a:off x="450850" y="5384800"/>
            <a:ext cx="3905250" cy="13091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F7D6FE1-6A4F-84C8-0A23-EAE67A28B546}"/>
              </a:ext>
            </a:extLst>
          </p:cNvPr>
          <p:cNvSpPr txBox="1"/>
          <p:nvPr/>
        </p:nvSpPr>
        <p:spPr>
          <a:xfrm>
            <a:off x="450850" y="570469"/>
            <a:ext cx="161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Astronometria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16CF2D6-AC58-737D-7D49-CE366808506D}"/>
              </a:ext>
            </a:extLst>
          </p:cNvPr>
          <p:cNvSpPr txBox="1"/>
          <p:nvPr/>
        </p:nvSpPr>
        <p:spPr>
          <a:xfrm>
            <a:off x="565150" y="5532190"/>
            <a:ext cx="235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EphemerisRegression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3A11019-C6B2-34C1-C8E2-813D78490A7A}"/>
              </a:ext>
            </a:extLst>
          </p:cNvPr>
          <p:cNvSpPr txBox="1"/>
          <p:nvPr/>
        </p:nvSpPr>
        <p:spPr>
          <a:xfrm>
            <a:off x="3607871" y="3575049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json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EBE640E-FD55-41D1-25C2-AA9B420981F0}"/>
              </a:ext>
            </a:extLst>
          </p:cNvPr>
          <p:cNvSpPr/>
          <p:nvPr/>
        </p:nvSpPr>
        <p:spPr>
          <a:xfrm>
            <a:off x="1866900" y="3556002"/>
            <a:ext cx="2489200" cy="14996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03A1012-BD17-5035-CF80-C8B4926DCACF}"/>
              </a:ext>
            </a:extLst>
          </p:cNvPr>
          <p:cNvSpPr txBox="1"/>
          <p:nvPr/>
        </p:nvSpPr>
        <p:spPr>
          <a:xfrm>
            <a:off x="1866900" y="3679822"/>
            <a:ext cx="2171700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StateVector</a:t>
            </a:r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JD </a:t>
            </a:r>
            <a:r>
              <a:rPr lang="de-DE" sz="105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(UTC!)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{x, y, z,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vx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vy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vz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47173C8-221E-21A0-ED46-94E749DB670F}"/>
              </a:ext>
            </a:extLst>
          </p:cNvPr>
          <p:cNvCxnSpPr/>
          <p:nvPr/>
        </p:nvCxnSpPr>
        <p:spPr>
          <a:xfrm flipH="1" flipV="1">
            <a:off x="1257449" y="2300748"/>
            <a:ext cx="915480" cy="1379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CC944506-35E9-08D0-BEBD-2D25ED364E5D}"/>
              </a:ext>
            </a:extLst>
          </p:cNvPr>
          <p:cNvSpPr/>
          <p:nvPr/>
        </p:nvSpPr>
        <p:spPr>
          <a:xfrm>
            <a:off x="5647466" y="570468"/>
            <a:ext cx="3724481" cy="5882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5B7A170-2205-9575-9142-9FAB1ADC4E4E}"/>
              </a:ext>
            </a:extLst>
          </p:cNvPr>
          <p:cNvSpPr/>
          <p:nvPr/>
        </p:nvSpPr>
        <p:spPr>
          <a:xfrm>
            <a:off x="9587851" y="570469"/>
            <a:ext cx="2380426" cy="5882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2942AE-F8D1-C7C0-420D-F270DDE33909}"/>
              </a:ext>
            </a:extLst>
          </p:cNvPr>
          <p:cNvSpPr txBox="1"/>
          <p:nvPr/>
        </p:nvSpPr>
        <p:spPr>
          <a:xfrm>
            <a:off x="5982328" y="739986"/>
            <a:ext cx="2808461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 </a:t>
            </a:r>
            <a:r>
              <a:rPr lang="de-DE" b="1" dirty="0">
                <a:solidFill>
                  <a:srgbClr val="00B050"/>
                </a:solidFill>
              </a:rPr>
              <a:t>TT</a:t>
            </a:r>
          </a:p>
          <a:p>
            <a:r>
              <a:rPr lang="de-DE" dirty="0">
                <a:solidFill>
                  <a:srgbClr val="00B050"/>
                </a:solidFill>
              </a:rPr>
              <a:t>(</a:t>
            </a:r>
            <a:r>
              <a:rPr lang="de-DE" dirty="0" err="1">
                <a:solidFill>
                  <a:srgbClr val="00B050"/>
                </a:solidFill>
              </a:rPr>
              <a:t>AstroSim</a:t>
            </a:r>
            <a:r>
              <a:rPr lang="de-DE" dirty="0">
                <a:solidFill>
                  <a:srgbClr val="00B050"/>
                </a:solidFill>
              </a:rPr>
              <a:t>. </a:t>
            </a:r>
            <a:r>
              <a:rPr lang="de-DE" dirty="0" err="1">
                <a:solidFill>
                  <a:srgbClr val="00B050"/>
                </a:solidFill>
              </a:rPr>
              <a:t>EphemerisTest</a:t>
            </a:r>
            <a:r>
              <a:rPr lang="de-DE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77AC1B-8ACB-9906-A2BA-813D74C39353}"/>
              </a:ext>
            </a:extLst>
          </p:cNvPr>
          <p:cNvSpPr txBox="1"/>
          <p:nvPr/>
        </p:nvSpPr>
        <p:spPr>
          <a:xfrm>
            <a:off x="9637164" y="5235576"/>
            <a:ext cx="2281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Converter Domain </a:t>
            </a:r>
            <a:r>
              <a:rPr lang="de-DE" b="1" dirty="0">
                <a:solidFill>
                  <a:srgbClr val="FF0000"/>
                </a:solidFill>
              </a:rPr>
              <a:t>UTC/TT</a:t>
            </a:r>
          </a:p>
          <a:p>
            <a:pPr algn="ctr"/>
            <a:r>
              <a:rPr lang="de-DE" dirty="0">
                <a:solidFill>
                  <a:srgbClr val="FF0000"/>
                </a:solidFill>
              </a:rPr>
              <a:t>(</a:t>
            </a:r>
            <a:r>
              <a:rPr lang="de-DE" dirty="0" err="1">
                <a:solidFill>
                  <a:srgbClr val="FF0000"/>
                </a:solidFill>
              </a:rPr>
              <a:t>AstroTim.Time</a:t>
            </a:r>
            <a:r>
              <a:rPr lang="de-DE" dirty="0">
                <a:solidFill>
                  <a:srgbClr val="FF0000"/>
                </a:solidFill>
              </a:rPr>
              <a:t>.</a:t>
            </a:r>
          </a:p>
          <a:p>
            <a:pPr algn="ctr"/>
            <a:r>
              <a:rPr lang="de-DE" dirty="0" err="1">
                <a:solidFill>
                  <a:srgbClr val="FF0000"/>
                </a:solidFill>
              </a:rPr>
              <a:t>Conversion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039B6846-6BF1-BFB3-7FAA-3615CE54C51E}"/>
              </a:ext>
            </a:extLst>
          </p:cNvPr>
          <p:cNvSpPr/>
          <p:nvPr/>
        </p:nvSpPr>
        <p:spPr>
          <a:xfrm>
            <a:off x="4591665" y="939801"/>
            <a:ext cx="727214" cy="9184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31613E4-ACE5-2CD8-8DA7-D6761206DC16}"/>
              </a:ext>
            </a:extLst>
          </p:cNvPr>
          <p:cNvSpPr txBox="1"/>
          <p:nvPr/>
        </p:nvSpPr>
        <p:spPr>
          <a:xfrm>
            <a:off x="5958349" y="1858297"/>
            <a:ext cx="2171700" cy="12234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StateVector</a:t>
            </a:r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JD </a:t>
            </a:r>
            <a:r>
              <a:rPr lang="de-DE" sz="105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(UTC!)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{x, y, z,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vx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vy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vz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3C30573-71FF-FAEC-CB59-D01035D2B3C8}"/>
              </a:ext>
            </a:extLst>
          </p:cNvPr>
          <p:cNvSpPr txBox="1"/>
          <p:nvPr/>
        </p:nvSpPr>
        <p:spPr>
          <a:xfrm>
            <a:off x="10408018" y="2239170"/>
            <a:ext cx="51058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00B050"/>
                </a:solidFill>
              </a:rPr>
              <a:t>UTC</a:t>
            </a:r>
          </a:p>
          <a:p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FF0000"/>
                </a:solidFill>
              </a:rPr>
              <a:t>TT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6657A125-CA7D-AB98-66AF-85B238CD0F71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130049" y="2470003"/>
            <a:ext cx="2277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93E9CC19-A1BA-F367-7D0C-426C944AAF3D}"/>
              </a:ext>
            </a:extLst>
          </p:cNvPr>
          <p:cNvCxnSpPr>
            <a:cxnSpLocks/>
            <a:stCxn id="21" idx="2"/>
            <a:endCxn id="28" idx="3"/>
          </p:cNvCxnSpPr>
          <p:nvPr/>
        </p:nvCxnSpPr>
        <p:spPr>
          <a:xfrm rot="5400000">
            <a:off x="8741321" y="2089563"/>
            <a:ext cx="1310720" cy="25332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45697D7-2775-EDCA-E558-5AF7AC57AAC3}"/>
              </a:ext>
            </a:extLst>
          </p:cNvPr>
          <p:cNvSpPr txBox="1"/>
          <p:nvPr/>
        </p:nvSpPr>
        <p:spPr>
          <a:xfrm>
            <a:off x="6704913" y="3884597"/>
            <a:ext cx="142513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JD </a:t>
            </a:r>
            <a:r>
              <a:rPr lang="de-DE" sz="10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(TT!)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35AD697-7359-079C-B70D-2F91A52B6967}"/>
              </a:ext>
            </a:extLst>
          </p:cNvPr>
          <p:cNvSpPr txBox="1"/>
          <p:nvPr/>
        </p:nvSpPr>
        <p:spPr>
          <a:xfrm>
            <a:off x="8199126" y="2100671"/>
            <a:ext cx="1574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JD </a:t>
            </a:r>
            <a:r>
              <a:rPr lang="de-DE" sz="18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(UTC!)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273108B-BFD2-4D6E-98AC-2F8A1C3A629A}"/>
              </a:ext>
            </a:extLst>
          </p:cNvPr>
          <p:cNvSpPr txBox="1"/>
          <p:nvPr/>
        </p:nvSpPr>
        <p:spPr>
          <a:xfrm>
            <a:off x="8153556" y="3650949"/>
            <a:ext cx="1761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JD </a:t>
            </a:r>
            <a:r>
              <a:rPr lang="de-DE" sz="18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(TT!)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4E6628C0-C29F-923C-4802-074BC7DB5E9E}"/>
              </a:ext>
            </a:extLst>
          </p:cNvPr>
          <p:cNvCxnSpPr>
            <a:cxnSpLocks/>
            <a:stCxn id="28" idx="2"/>
            <a:endCxn id="37" idx="0"/>
          </p:cNvCxnSpPr>
          <p:nvPr/>
        </p:nvCxnSpPr>
        <p:spPr>
          <a:xfrm flipH="1">
            <a:off x="7417480" y="4138513"/>
            <a:ext cx="1" cy="357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6C4077C5-1CE5-67F6-E148-3EC93F83B666}"/>
              </a:ext>
            </a:extLst>
          </p:cNvPr>
          <p:cNvSpPr txBox="1"/>
          <p:nvPr/>
        </p:nvSpPr>
        <p:spPr>
          <a:xfrm>
            <a:off x="6704912" y="4496302"/>
            <a:ext cx="142513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VSOP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TT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373F6C5-76C2-7AEA-263C-1ED0440E6A4B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7417480" y="4750218"/>
            <a:ext cx="0" cy="634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BD4B81AD-992C-8064-8BC5-36FB7FED5554}"/>
              </a:ext>
            </a:extLst>
          </p:cNvPr>
          <p:cNvSpPr txBox="1"/>
          <p:nvPr/>
        </p:nvSpPr>
        <p:spPr>
          <a:xfrm>
            <a:off x="7417480" y="4750218"/>
            <a:ext cx="8646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x_VSOP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y_VSOP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z_VSOP</a:t>
            </a:r>
            <a:endParaRPr lang="de-DE" sz="1000" dirty="0"/>
          </a:p>
        </p:txBody>
      </p: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086ECAEE-6FAE-8C45-E9EB-2AEC1A8766BA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5605779" y="3971177"/>
            <a:ext cx="2327888" cy="548952"/>
          </a:xfrm>
          <a:prstGeom prst="bentConnector3">
            <a:avLst>
              <a:gd name="adj1" fmla="val 84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E7729DD1-3B01-ACBA-5303-5807347F65D1}"/>
              </a:ext>
            </a:extLst>
          </p:cNvPr>
          <p:cNvSpPr txBox="1"/>
          <p:nvPr/>
        </p:nvSpPr>
        <p:spPr>
          <a:xfrm>
            <a:off x="6259407" y="5409597"/>
            <a:ext cx="1425136" cy="90024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x_VSOP</a:t>
            </a:r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y,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y_VSOP</a:t>
            </a:r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z,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z_VSOP</a:t>
            </a:r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A9D4A633-BF3B-258A-219B-31F6581FF8C8}"/>
              </a:ext>
            </a:extLst>
          </p:cNvPr>
          <p:cNvSpPr txBox="1"/>
          <p:nvPr/>
        </p:nvSpPr>
        <p:spPr>
          <a:xfrm>
            <a:off x="7430179" y="188912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json</a:t>
            </a:r>
            <a:endParaRPr lang="de-DE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2E94EF34-6EC6-FB2E-497E-CE3C1D1CFF00}"/>
              </a:ext>
            </a:extLst>
          </p:cNvPr>
          <p:cNvSpPr txBox="1"/>
          <p:nvPr/>
        </p:nvSpPr>
        <p:spPr>
          <a:xfrm>
            <a:off x="742297" y="6182885"/>
            <a:ext cx="867428" cy="2539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JD Mesh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89222EAE-4EE5-F8D9-6F82-1D1D3C137FB3}"/>
              </a:ext>
            </a:extLst>
          </p:cNvPr>
          <p:cNvSpPr txBox="1"/>
          <p:nvPr/>
        </p:nvSpPr>
        <p:spPr>
          <a:xfrm>
            <a:off x="1889214" y="6182885"/>
            <a:ext cx="867428" cy="2539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Horizons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C1D8CA53-875C-DCF0-58AA-617371D96551}"/>
              </a:ext>
            </a:extLst>
          </p:cNvPr>
          <p:cNvSpPr txBox="1"/>
          <p:nvPr/>
        </p:nvSpPr>
        <p:spPr>
          <a:xfrm>
            <a:off x="3135357" y="6182885"/>
            <a:ext cx="867428" cy="2539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Exporter</a:t>
            </a:r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F0A84601-0C5C-26B1-C569-DC51CF46E61A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>
            <a:off x="1609725" y="6309843"/>
            <a:ext cx="2794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1CCED470-0A4C-7266-0D11-FC50B57BA252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2756642" y="6309843"/>
            <a:ext cx="3787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4AEDB8C7-7961-108B-59E5-9F7EE17F2003}"/>
              </a:ext>
            </a:extLst>
          </p:cNvPr>
          <p:cNvCxnSpPr>
            <a:cxnSpLocks/>
            <a:stCxn id="67" idx="0"/>
          </p:cNvCxnSpPr>
          <p:nvPr/>
        </p:nvCxnSpPr>
        <p:spPr>
          <a:xfrm flipH="1" flipV="1">
            <a:off x="3560135" y="5067509"/>
            <a:ext cx="8936" cy="1115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feld 76">
            <a:extLst>
              <a:ext uri="{FF2B5EF4-FFF2-40B4-BE49-F238E27FC236}">
                <a16:creationId xmlns:a16="http://schemas.microsoft.com/office/drawing/2014/main" id="{A8604D97-6F06-4766-B6AE-80133F90806F}"/>
              </a:ext>
            </a:extLst>
          </p:cNvPr>
          <p:cNvSpPr txBox="1"/>
          <p:nvPr/>
        </p:nvSpPr>
        <p:spPr>
          <a:xfrm>
            <a:off x="3592697" y="359890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json</a:t>
            </a:r>
            <a:endParaRPr lang="de-DE" dirty="0"/>
          </a:p>
        </p:txBody>
      </p:sp>
      <p:sp>
        <p:nvSpPr>
          <p:cNvPr id="78" name="Freihandform: Form 77">
            <a:extLst>
              <a:ext uri="{FF2B5EF4-FFF2-40B4-BE49-F238E27FC236}">
                <a16:creationId xmlns:a16="http://schemas.microsoft.com/office/drawing/2014/main" id="{C8A7CDD3-5173-56DE-E1D3-C22DD70D5DC1}"/>
              </a:ext>
            </a:extLst>
          </p:cNvPr>
          <p:cNvSpPr/>
          <p:nvPr/>
        </p:nvSpPr>
        <p:spPr>
          <a:xfrm>
            <a:off x="8896350" y="319541"/>
            <a:ext cx="1323975" cy="385309"/>
          </a:xfrm>
          <a:custGeom>
            <a:avLst/>
            <a:gdLst>
              <a:gd name="csX0" fmla="*/ 0 w 1323975"/>
              <a:gd name="csY0" fmla="*/ 356734 h 385309"/>
              <a:gd name="csX1" fmla="*/ 419100 w 1323975"/>
              <a:gd name="csY1" fmla="*/ 70984 h 385309"/>
              <a:gd name="csX2" fmla="*/ 866775 w 1323975"/>
              <a:gd name="csY2" fmla="*/ 23359 h 385309"/>
              <a:gd name="csX3" fmla="*/ 1323975 w 1323975"/>
              <a:gd name="csY3" fmla="*/ 385309 h 385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23975" h="385309">
                <a:moveTo>
                  <a:pt x="0" y="356734"/>
                </a:moveTo>
                <a:cubicBezTo>
                  <a:pt x="137319" y="241640"/>
                  <a:pt x="274638" y="126546"/>
                  <a:pt x="419100" y="70984"/>
                </a:cubicBezTo>
                <a:cubicBezTo>
                  <a:pt x="563562" y="15422"/>
                  <a:pt x="715963" y="-29028"/>
                  <a:pt x="866775" y="23359"/>
                </a:cubicBezTo>
                <a:cubicBezTo>
                  <a:pt x="1017587" y="75746"/>
                  <a:pt x="1170781" y="230527"/>
                  <a:pt x="1323975" y="38530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EF3989B6-9189-0A25-42A0-9C3D92F06CA6}"/>
              </a:ext>
            </a:extLst>
          </p:cNvPr>
          <p:cNvSpPr txBox="1"/>
          <p:nvPr/>
        </p:nvSpPr>
        <p:spPr>
          <a:xfrm>
            <a:off x="7303504" y="50610"/>
            <a:ext cx="4615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Verweis: </a:t>
            </a:r>
            <a:r>
              <a:rPr lang="de-DE" sz="1100" dirty="0" err="1"/>
              <a:t>AstroSim.Ephemeris.Test</a:t>
            </a:r>
            <a:r>
              <a:rPr lang="de-DE" sz="1100" dirty="0"/>
              <a:t> nach </a:t>
            </a:r>
            <a:r>
              <a:rPr lang="de-DE" sz="1100" dirty="0" err="1"/>
              <a:t>AstroTime.Time.Conversion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51995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FD04DF-B266-D57B-301B-2ABB2A0E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4026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904B-BE20-044A-9186-CCE9CB08C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hteck 87">
            <a:extLst>
              <a:ext uri="{FF2B5EF4-FFF2-40B4-BE49-F238E27FC236}">
                <a16:creationId xmlns:a16="http://schemas.microsoft.com/office/drawing/2014/main" id="{7524DD4D-F09F-145B-56B8-37A8B11AEAB7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7FE5859-C74D-0241-C958-2C75AED9040D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807252AD-0C30-FAD3-A0CE-9AE87B0FD10E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8893BA-E819-0C42-1583-AFCA14B48006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B416C3-9198-53B1-8E09-B9B091F4E745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8B21739-D443-B0AF-5084-519726EB8D11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9761FB8-6E01-C2FE-E69A-DEDF197FB61C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AAB0FA65-8FB5-370A-8886-45E44B6515BA}"/>
              </a:ext>
            </a:extLst>
          </p:cNvPr>
          <p:cNvSpPr txBox="1"/>
          <p:nvPr/>
        </p:nvSpPr>
        <p:spPr>
          <a:xfrm>
            <a:off x="4822726" y="511950"/>
            <a:ext cx="4750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 – </a:t>
            </a:r>
            <a:r>
              <a:rPr lang="de-DE" sz="1400" i="1" dirty="0"/>
              <a:t>Time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, Observation Point, etc.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373D35E-4DE2-D361-A365-8167F05607E5}"/>
              </a:ext>
            </a:extLst>
          </p:cNvPr>
          <p:cNvSpPr/>
          <p:nvPr/>
        </p:nvSpPr>
        <p:spPr>
          <a:xfrm>
            <a:off x="5021006" y="278145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0B60D16-4B12-CB57-9665-3C9BF5CA64A8}"/>
              </a:ext>
            </a:extLst>
          </p:cNvPr>
          <p:cNvSpPr/>
          <p:nvPr/>
        </p:nvSpPr>
        <p:spPr>
          <a:xfrm>
            <a:off x="5021006" y="357746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6D573E2-F306-69C7-BC1F-B3B999D1D1CA}"/>
              </a:ext>
            </a:extLst>
          </p:cNvPr>
          <p:cNvSpPr/>
          <p:nvPr/>
        </p:nvSpPr>
        <p:spPr>
          <a:xfrm>
            <a:off x="5013268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85125AF-110F-2346-717F-8B60FD8EEA6C}"/>
              </a:ext>
            </a:extLst>
          </p:cNvPr>
          <p:cNvSpPr/>
          <p:nvPr/>
        </p:nvSpPr>
        <p:spPr>
          <a:xfrm>
            <a:off x="7449472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3995E45-BBB9-02DD-F96F-8012ACE2E11B}"/>
              </a:ext>
            </a:extLst>
          </p:cNvPr>
          <p:cNvSpPr/>
          <p:nvPr/>
        </p:nvSpPr>
        <p:spPr>
          <a:xfrm>
            <a:off x="2690633" y="4608519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B1D9175-84BC-BBE7-C5F1-86C4C6BBA398}"/>
              </a:ext>
            </a:extLst>
          </p:cNvPr>
          <p:cNvSpPr txBox="1"/>
          <p:nvPr/>
        </p:nvSpPr>
        <p:spPr>
          <a:xfrm>
            <a:off x="3053716" y="4697889"/>
            <a:ext cx="1164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Report Layer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1045A0A7-6CD9-851E-8BD6-8BEC7A71D05E}"/>
              </a:ext>
            </a:extLst>
          </p:cNvPr>
          <p:cNvCxnSpPr>
            <a:cxnSpLocks/>
          </p:cNvCxnSpPr>
          <p:nvPr/>
        </p:nvCxnSpPr>
        <p:spPr>
          <a:xfrm flipH="1">
            <a:off x="4332092" y="4342588"/>
            <a:ext cx="3" cy="264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B02F23D-CD6D-3F38-16C5-91B8DC398FA7}"/>
              </a:ext>
            </a:extLst>
          </p:cNvPr>
          <p:cNvCxnSpPr>
            <a:cxnSpLocks/>
          </p:cNvCxnSpPr>
          <p:nvPr/>
        </p:nvCxnSpPr>
        <p:spPr>
          <a:xfrm>
            <a:off x="7795240" y="4342588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DFFBB667-6584-F4E4-33BD-4869F9FB48C3}"/>
              </a:ext>
            </a:extLst>
          </p:cNvPr>
          <p:cNvCxnSpPr/>
          <p:nvPr/>
        </p:nvCxnSpPr>
        <p:spPr>
          <a:xfrm>
            <a:off x="4332092" y="4342588"/>
            <a:ext cx="3463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CEDFD8A8-C5C5-C08B-73E7-4C15D9DDD07D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3695720" y="513177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A85A0283-8D24-3FA7-0BF2-6B0618172052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161252F-BBC2-B56A-3C0D-760CDF2AD6D4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B7997C06-0CE2-C713-D016-E2470C10039F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C676E9B-81E8-CADF-946D-800972276244}"/>
              </a:ext>
            </a:extLst>
          </p:cNvPr>
          <p:cNvCxnSpPr>
            <a:cxnSpLocks/>
            <a:stCxn id="25" idx="1"/>
            <a:endCxn id="30" idx="3"/>
          </p:cNvCxnSpPr>
          <p:nvPr/>
        </p:nvCxnSpPr>
        <p:spPr>
          <a:xfrm flipH="1">
            <a:off x="4700806" y="4868260"/>
            <a:ext cx="312462" cy="188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F275C26E-377C-DB60-9EED-C5B0103C6DA1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023441" y="4868260"/>
            <a:ext cx="42603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9963D404-ABFA-24E0-1F9A-9DC439E88F82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454559" y="512988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957D1894-F505-614A-697F-BEFFECBD4051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DC92AC1-DA68-DE83-51D7-57BCF26D9403}"/>
              </a:ext>
            </a:extLst>
          </p:cNvPr>
          <p:cNvSpPr txBox="1"/>
          <p:nvPr/>
        </p:nvSpPr>
        <p:spPr>
          <a:xfrm>
            <a:off x="5388101" y="3685200"/>
            <a:ext cx="1019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Core Layer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167CF57-B00D-6533-4841-639635936B5E}"/>
              </a:ext>
            </a:extLst>
          </p:cNvPr>
          <p:cNvSpPr txBox="1"/>
          <p:nvPr/>
        </p:nvSpPr>
        <p:spPr>
          <a:xfrm>
            <a:off x="5192627" y="2872418"/>
            <a:ext cx="1670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Ephemerides</a:t>
            </a:r>
            <a:r>
              <a:rPr lang="de-DE" sz="1400" dirty="0"/>
              <a:t> Layer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0FBE099-7F7B-C921-9F67-914DE6CE472E}"/>
              </a:ext>
            </a:extLst>
          </p:cNvPr>
          <p:cNvSpPr txBox="1"/>
          <p:nvPr/>
        </p:nvSpPr>
        <p:spPr>
          <a:xfrm>
            <a:off x="5276676" y="4697889"/>
            <a:ext cx="1483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Simulation Layer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81C3692-C11D-FE58-B1F4-8EF776FEDEF5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>
          <a:xfrm>
            <a:off x="6026093" y="2271173"/>
            <a:ext cx="0" cy="510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0A54F2DE-0D5C-8D84-1F02-92A4F3A41C6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6093" y="3304713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8616721-CF9D-CFA0-D7A5-807741574A76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18355" y="4100719"/>
            <a:ext cx="7738" cy="50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A027098E-714E-D5C7-5F29-50EB254A980F}"/>
              </a:ext>
            </a:extLst>
          </p:cNvPr>
          <p:cNvSpPr txBox="1"/>
          <p:nvPr/>
        </p:nvSpPr>
        <p:spPr>
          <a:xfrm>
            <a:off x="7712880" y="4697889"/>
            <a:ext cx="1434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Projection</a:t>
            </a:r>
            <a:r>
              <a:rPr lang="de-DE" sz="1400" dirty="0"/>
              <a:t> Layer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DB3B27B7-99F0-2350-E07B-78B6CBFA8C62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4BF6945B-6844-DC1B-C32A-A43232127C4F}"/>
              </a:ext>
            </a:extLst>
          </p:cNvPr>
          <p:cNvSpPr txBox="1"/>
          <p:nvPr/>
        </p:nvSpPr>
        <p:spPr>
          <a:xfrm>
            <a:off x="7169417" y="2070264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Parser, Catalog,  Orbital </a:t>
            </a:r>
          </a:p>
          <a:p>
            <a:r>
              <a:rPr lang="de-DE" sz="1000" i="1" dirty="0" err="1"/>
              <a:t>elements</a:t>
            </a:r>
            <a:r>
              <a:rPr lang="de-DE" sz="1000" i="1" dirty="0"/>
              <a:t>, VSOP </a:t>
            </a:r>
            <a:r>
              <a:rPr lang="de-DE" sz="1000" i="1" dirty="0" err="1"/>
              <a:t>Loader</a:t>
            </a:r>
            <a:r>
              <a:rPr lang="de-DE" sz="1000" i="1" dirty="0"/>
              <a:t>, …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47C779A6-EC1E-BB9D-8B86-0DFB703F0BCE}"/>
              </a:ext>
            </a:extLst>
          </p:cNvPr>
          <p:cNvSpPr txBox="1"/>
          <p:nvPr/>
        </p:nvSpPr>
        <p:spPr>
          <a:xfrm>
            <a:off x="7202800" y="2780085"/>
            <a:ext cx="2400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VSOP, Aberration, </a:t>
            </a:r>
            <a:r>
              <a:rPr lang="de-DE" sz="1000" i="1" dirty="0" err="1"/>
              <a:t>Nutaiton</a:t>
            </a:r>
            <a:r>
              <a:rPr lang="de-DE" sz="1000" i="1" dirty="0"/>
              <a:t>, </a:t>
            </a:r>
            <a:r>
              <a:rPr lang="de-DE" sz="1000" i="1" dirty="0" err="1"/>
              <a:t>Precession</a:t>
            </a:r>
            <a:r>
              <a:rPr lang="de-DE" sz="1000" i="1" dirty="0"/>
              <a:t>,</a:t>
            </a:r>
          </a:p>
          <a:p>
            <a:r>
              <a:rPr lang="de-DE" sz="1000" i="1" dirty="0"/>
              <a:t>Light-</a:t>
            </a:r>
            <a:r>
              <a:rPr lang="de-DE" sz="1000" i="1" dirty="0" err="1"/>
              <a:t>Runtime</a:t>
            </a:r>
            <a:endParaRPr lang="de-DE" sz="1000" i="1" dirty="0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9E1452E-E967-EF1C-2C74-9EC4C64D5427}"/>
              </a:ext>
            </a:extLst>
          </p:cNvPr>
          <p:cNvSpPr txBox="1"/>
          <p:nvPr/>
        </p:nvSpPr>
        <p:spPr>
          <a:xfrm>
            <a:off x="7236851" y="3577460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/>
              <a:t>Planets</a:t>
            </a:r>
            <a:r>
              <a:rPr lang="de-DE" sz="1000" i="1" dirty="0"/>
              <a:t>, Moon, Stars, Sun, Comets,</a:t>
            </a:r>
          </a:p>
          <a:p>
            <a:r>
              <a:rPr lang="de-DE" sz="1000" i="1" dirty="0"/>
              <a:t>„Sky Objects“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386966DE-B9CB-0A98-6F3A-533A2738ED92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F963FA1D-3AE2-DEA8-3A5F-2D5FFBE70859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4CDD7419-F7BB-6286-0621-342592790D55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5EDDF42B-7927-D8AE-6A0E-FBBB5B7FD288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08081C83-35E7-AA27-B325-DBCFECC0CD58}"/>
              </a:ext>
            </a:extLst>
          </p:cNvPr>
          <p:cNvSpPr txBox="1"/>
          <p:nvPr/>
        </p:nvSpPr>
        <p:spPr>
          <a:xfrm>
            <a:off x="2933822" y="3180195"/>
            <a:ext cx="929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B050"/>
                </a:solidFill>
              </a:rPr>
              <a:t>TT, TDB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CD9FACB9-DBA3-411D-6BC2-DA4C1A4DE899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0D4B83EF-7FEC-7FC1-519B-6854E6B681E2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3CC3208B-BFE2-E04C-2441-1B23DB804F29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6AEC9C29-5D37-6A10-347C-9BF7BF95F73B}"/>
              </a:ext>
            </a:extLst>
          </p:cNvPr>
          <p:cNvSpPr txBox="1"/>
          <p:nvPr/>
        </p:nvSpPr>
        <p:spPr>
          <a:xfrm>
            <a:off x="2881293" y="2448345"/>
            <a:ext cx="1544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575F8A-C935-5B55-AFE1-2E9BDAF52E92}"/>
              </a:ext>
            </a:extLst>
          </p:cNvPr>
          <p:cNvSpPr txBox="1"/>
          <p:nvPr/>
        </p:nvSpPr>
        <p:spPr>
          <a:xfrm rot="20598505">
            <a:off x="1708472" y="2948067"/>
            <a:ext cx="8378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highlight>
                  <a:srgbClr val="FFFF00"/>
                </a:highlight>
              </a:rPr>
              <a:t>Initial </a:t>
            </a:r>
            <a:r>
              <a:rPr lang="de-DE" sz="3600" dirty="0" err="1">
                <a:highlight>
                  <a:srgbClr val="FFFF00"/>
                </a:highlight>
              </a:rPr>
              <a:t>implementation</a:t>
            </a:r>
            <a:r>
              <a:rPr lang="de-DE" sz="3600" dirty="0">
                <a:highlight>
                  <a:srgbClr val="FFFF00"/>
                </a:highlight>
              </a:rPr>
              <a:t> </a:t>
            </a:r>
            <a:r>
              <a:rPr lang="de-DE" sz="3600" dirty="0" err="1">
                <a:highlight>
                  <a:srgbClr val="FFFF00"/>
                </a:highlight>
              </a:rPr>
              <a:t>idea</a:t>
            </a:r>
            <a:r>
              <a:rPr lang="de-DE" sz="3600" dirty="0">
                <a:highlight>
                  <a:srgbClr val="FFFF00"/>
                </a:highlight>
              </a:rPr>
              <a:t>: </a:t>
            </a:r>
            <a:r>
              <a:rPr lang="de-DE" sz="3600" dirty="0" err="1">
                <a:highlight>
                  <a:srgbClr val="FFFF00"/>
                </a:highlight>
              </a:rPr>
              <a:t>starting</a:t>
            </a:r>
            <a:r>
              <a:rPr lang="de-DE" sz="3600" dirty="0">
                <a:highlight>
                  <a:srgbClr val="FFFF00"/>
                </a:highlight>
              </a:rPr>
              <a:t> </a:t>
            </a:r>
            <a:r>
              <a:rPr lang="de-DE" sz="3600" dirty="0" err="1">
                <a:highlight>
                  <a:srgbClr val="FFFF00"/>
                </a:highlight>
              </a:rPr>
              <a:t>point</a:t>
            </a:r>
            <a:endParaRPr lang="de-DE" sz="3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162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03D7-CC41-BD93-14B9-968B7644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030B9F5-56A0-2EC8-F53F-2C701DD82B13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71F63A4F-E94B-06A2-B122-64155A745263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9D8ECF8-A9D6-5522-CCC9-FCE54FFD677E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4341F189-689A-B38E-9D3C-77E5236A994E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80EDB2B-3F34-D5D2-D7AF-46DB8C79BFB3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108C00C-A32E-B498-D667-D42E5BF5F999}"/>
              </a:ext>
            </a:extLst>
          </p:cNvPr>
          <p:cNvSpPr txBox="1"/>
          <p:nvPr/>
        </p:nvSpPr>
        <p:spPr>
          <a:xfrm>
            <a:off x="4822726" y="511950"/>
            <a:ext cx="1828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</a:t>
            </a:r>
            <a:endParaRPr lang="de-DE" sz="1400" i="1" dirty="0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3B09015-3C5E-1D0C-841E-2FF8D728E463}"/>
              </a:ext>
            </a:extLst>
          </p:cNvPr>
          <p:cNvCxnSpPr>
            <a:cxnSpLocks/>
          </p:cNvCxnSpPr>
          <p:nvPr/>
        </p:nvCxnSpPr>
        <p:spPr>
          <a:xfrm>
            <a:off x="3817640" y="524353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73D9504B-F9DC-7493-3C45-F9773EBBCBF0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2A7CBF55-E4C6-8519-4068-CEEBB4E71276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8287DBA1-B598-FBF4-E085-91B6BCBAC318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1DE282F2-48AB-8BC1-F973-88332A0F6B83}"/>
              </a:ext>
            </a:extLst>
          </p:cNvPr>
          <p:cNvCxnSpPr>
            <a:cxnSpLocks/>
          </p:cNvCxnSpPr>
          <p:nvPr/>
        </p:nvCxnSpPr>
        <p:spPr>
          <a:xfrm>
            <a:off x="8576479" y="524164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F4F1546D-E594-12C5-CBBC-44D3DBD10A98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75DD024-09CE-AE67-B772-67C758A37C1A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957107D5-3E5C-0F0D-8DF6-DA317698ED8F}"/>
              </a:ext>
            </a:extLst>
          </p:cNvPr>
          <p:cNvSpPr txBox="1"/>
          <p:nvPr/>
        </p:nvSpPr>
        <p:spPr>
          <a:xfrm>
            <a:off x="5320581" y="2641444"/>
            <a:ext cx="1614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rgbClr val="00B050"/>
                </a:solidFill>
              </a:rPr>
              <a:t>Astro</a:t>
            </a:r>
            <a:r>
              <a:rPr lang="de-DE" b="1" dirty="0">
                <a:solidFill>
                  <a:srgbClr val="00B050"/>
                </a:solidFill>
              </a:rPr>
              <a:t> Domain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942593E1-3238-332E-C78D-63E8201386BC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2E0CD5DB-9003-6127-E352-E38397A7A11F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9B7500FD-1759-34A3-4827-E7857EECB08C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22E51CED-9114-3318-AA65-72C518B26A0B}"/>
              </a:ext>
            </a:extLst>
          </p:cNvPr>
          <p:cNvSpPr txBox="1"/>
          <p:nvPr/>
        </p:nvSpPr>
        <p:spPr>
          <a:xfrm>
            <a:off x="2915341" y="2795648"/>
            <a:ext cx="1764513" cy="101566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50"/>
                </a:solidFill>
              </a:rPr>
              <a:t>Class </a:t>
            </a:r>
            <a:r>
              <a:rPr lang="de-DE" sz="1000" b="1" dirty="0" err="1">
                <a:solidFill>
                  <a:srgbClr val="00B050"/>
                </a:solidFill>
              </a:rPr>
              <a:t>AstroTime</a:t>
            </a:r>
            <a:endParaRPr lang="de-DE" sz="1000" b="1" dirty="0">
              <a:solidFill>
                <a:srgbClr val="00B050"/>
              </a:solidFill>
            </a:endParaRPr>
          </a:p>
          <a:p>
            <a:r>
              <a:rPr lang="de-DE" sz="1000" b="1" dirty="0">
                <a:solidFill>
                  <a:srgbClr val="00B05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TT; 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TDB;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Delta T;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}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B66BAF6F-D68C-CF25-F3F1-CA3F902FC5FC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A65EB4C3-13F4-3AD0-07DD-9514BAC3666F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8A198FC-36C6-4D29-F1E6-031B1745CA35}"/>
              </a:ext>
            </a:extLst>
          </p:cNvPr>
          <p:cNvCxnSpPr>
            <a:cxnSpLocks/>
          </p:cNvCxnSpPr>
          <p:nvPr/>
        </p:nvCxnSpPr>
        <p:spPr>
          <a:xfrm>
            <a:off x="6127693" y="2271173"/>
            <a:ext cx="0" cy="220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B2C58653-DF68-FBE6-6F67-CC0D74B1F751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49EE4A1-9FEB-9E02-31AB-52FDD469196D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543A5B5-E430-1159-B824-B6128C61808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369E5492-FC4D-9908-11E4-FD2A7DEEF67B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9618F0FB-A940-0E4B-EF2C-7633E7C323FB}"/>
              </a:ext>
            </a:extLst>
          </p:cNvPr>
          <p:cNvSpPr txBox="1"/>
          <p:nvPr/>
        </p:nvSpPr>
        <p:spPr>
          <a:xfrm>
            <a:off x="7665314" y="2549434"/>
            <a:ext cx="1764513" cy="1107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Class </a:t>
            </a:r>
            <a:r>
              <a:rPr lang="de-DE" sz="1100" b="1" dirty="0" err="1">
                <a:solidFill>
                  <a:srgbClr val="FF0000"/>
                </a:solidFill>
              </a:rPr>
              <a:t>iAstroTimeInterface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{</a:t>
            </a:r>
          </a:p>
          <a:p>
            <a:r>
              <a:rPr lang="de-DE" sz="1100" b="1" dirty="0" err="1">
                <a:solidFill>
                  <a:srgbClr val="FF0000"/>
                </a:solidFill>
              </a:rPr>
              <a:t>Get_UTC</a:t>
            </a:r>
            <a:r>
              <a:rPr lang="de-DE" sz="1100" b="1" dirty="0">
                <a:solidFill>
                  <a:srgbClr val="FF0000"/>
                </a:solidFill>
              </a:rPr>
              <a:t>(TT)</a:t>
            </a:r>
          </a:p>
          <a:p>
            <a:r>
              <a:rPr lang="de-DE" sz="1100" b="1" dirty="0" err="1">
                <a:solidFill>
                  <a:srgbClr val="FF0000"/>
                </a:solidFill>
              </a:rPr>
              <a:t>Get_TT</a:t>
            </a:r>
            <a:r>
              <a:rPr lang="de-DE" sz="1100" b="1" dirty="0">
                <a:solidFill>
                  <a:srgbClr val="FF0000"/>
                </a:solidFill>
              </a:rPr>
              <a:t>(UTC)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639FBBC-D3F3-1C9C-E220-41C0FC5290E1}"/>
              </a:ext>
            </a:extLst>
          </p:cNvPr>
          <p:cNvSpPr txBox="1"/>
          <p:nvPr/>
        </p:nvSpPr>
        <p:spPr>
          <a:xfrm>
            <a:off x="9922465" y="1153719"/>
            <a:ext cx="2072602" cy="116955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F0"/>
                </a:solidFill>
              </a:rPr>
              <a:t>Class </a:t>
            </a:r>
            <a:r>
              <a:rPr lang="de-DE" sz="1000" b="1" dirty="0" err="1">
                <a:solidFill>
                  <a:srgbClr val="00B0F0"/>
                </a:solidFill>
              </a:rPr>
              <a:t>UserTime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UTC; 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time shift;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</a:t>
            </a:r>
            <a:r>
              <a:rPr lang="de-DE" sz="1000" b="1" dirty="0" err="1">
                <a:solidFill>
                  <a:srgbClr val="00B0F0"/>
                </a:solidFill>
              </a:rPr>
              <a:t>DaylightSavings</a:t>
            </a:r>
            <a:r>
              <a:rPr lang="de-DE" sz="1000" b="1" dirty="0">
                <a:solidFill>
                  <a:srgbClr val="00B0F0"/>
                </a:solidFill>
              </a:rPr>
              <a:t>;</a:t>
            </a:r>
          </a:p>
          <a:p>
            <a:r>
              <a:rPr lang="de-DE" sz="1000" b="1" dirty="0" err="1">
                <a:solidFill>
                  <a:srgbClr val="00B0F0"/>
                </a:solidFill>
              </a:rPr>
              <a:t>JD_UTC_to_GregorianDate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0D24C27-0F47-9EB2-4C78-92504584A83A}"/>
              </a:ext>
            </a:extLst>
          </p:cNvPr>
          <p:cNvSpPr txBox="1"/>
          <p:nvPr/>
        </p:nvSpPr>
        <p:spPr>
          <a:xfrm rot="20598505">
            <a:off x="3136908" y="2948067"/>
            <a:ext cx="5521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highlight>
                  <a:srgbClr val="FFFF00"/>
                </a:highlight>
              </a:rPr>
              <a:t>Initial </a:t>
            </a:r>
            <a:r>
              <a:rPr lang="de-DE" sz="3600" dirty="0" err="1">
                <a:highlight>
                  <a:srgbClr val="FFFF00"/>
                </a:highlight>
              </a:rPr>
              <a:t>implementation</a:t>
            </a:r>
            <a:r>
              <a:rPr lang="de-DE" sz="3600" dirty="0">
                <a:highlight>
                  <a:srgbClr val="FFFF00"/>
                </a:highlight>
              </a:rPr>
              <a:t> </a:t>
            </a:r>
            <a:r>
              <a:rPr lang="de-DE" sz="3600" dirty="0" err="1">
                <a:highlight>
                  <a:srgbClr val="FFFF00"/>
                </a:highlight>
              </a:rPr>
              <a:t>idea</a:t>
            </a:r>
            <a:endParaRPr lang="de-DE" sz="3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835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DCF4-C64D-BF97-DF35-CA0F85DA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hteck 87">
            <a:extLst>
              <a:ext uri="{FF2B5EF4-FFF2-40B4-BE49-F238E27FC236}">
                <a16:creationId xmlns:a16="http://schemas.microsoft.com/office/drawing/2014/main" id="{AFABE324-3B2E-F711-A454-5EE0E8B68DC8}"/>
              </a:ext>
            </a:extLst>
          </p:cNvPr>
          <p:cNvSpPr/>
          <p:nvPr/>
        </p:nvSpPr>
        <p:spPr>
          <a:xfrm>
            <a:off x="2605549" y="2470374"/>
            <a:ext cx="6934692" cy="27712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FEDF901-937A-9676-1385-5AB08154BBDF}"/>
              </a:ext>
            </a:extLst>
          </p:cNvPr>
          <p:cNvSpPr/>
          <p:nvPr/>
        </p:nvSpPr>
        <p:spPr>
          <a:xfrm>
            <a:off x="4454012" y="381000"/>
            <a:ext cx="700056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50C35944-FA83-5B86-69D2-F2E9719AE052}"/>
              </a:ext>
            </a:extLst>
          </p:cNvPr>
          <p:cNvSpPr/>
          <p:nvPr/>
        </p:nvSpPr>
        <p:spPr>
          <a:xfrm rot="5400000">
            <a:off x="8054798" y="3156127"/>
            <a:ext cx="620655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19B1D07-EA8E-1A9E-4E22-E0B8F20D23DA}"/>
              </a:ext>
            </a:extLst>
          </p:cNvPr>
          <p:cNvSpPr/>
          <p:nvPr/>
        </p:nvSpPr>
        <p:spPr>
          <a:xfrm>
            <a:off x="5021006" y="174791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295AA2-5451-16AC-E828-3053FA4EB1DE}"/>
              </a:ext>
            </a:extLst>
          </p:cNvPr>
          <p:cNvSpPr txBox="1"/>
          <p:nvPr/>
        </p:nvSpPr>
        <p:spPr>
          <a:xfrm>
            <a:off x="5256690" y="1872838"/>
            <a:ext cx="164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Data Layer (Parser)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125DC3C-DEB2-A98A-3750-9A8E75AA31D6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060910" y="2009544"/>
            <a:ext cx="2960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46545F3-E7E3-1323-3B61-6AF5C1AABBD1}"/>
              </a:ext>
            </a:extLst>
          </p:cNvPr>
          <p:cNvCxnSpPr>
            <a:cxnSpLocks/>
          </p:cNvCxnSpPr>
          <p:nvPr/>
        </p:nvCxnSpPr>
        <p:spPr>
          <a:xfrm>
            <a:off x="5358290" y="1037304"/>
            <a:ext cx="0" cy="7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6D4F79F7-A4F0-18C8-691F-45A926C5CCDB}"/>
              </a:ext>
            </a:extLst>
          </p:cNvPr>
          <p:cNvSpPr txBox="1"/>
          <p:nvPr/>
        </p:nvSpPr>
        <p:spPr>
          <a:xfrm>
            <a:off x="4822726" y="511950"/>
            <a:ext cx="4750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 / CLI: Input Data – </a:t>
            </a:r>
            <a:r>
              <a:rPr lang="de-DE" sz="1400" i="1" dirty="0"/>
              <a:t>Time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, Observation Point, etc.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C94C8B1-B6EB-94C0-F329-78B73DDF2556}"/>
              </a:ext>
            </a:extLst>
          </p:cNvPr>
          <p:cNvSpPr/>
          <p:nvPr/>
        </p:nvSpPr>
        <p:spPr>
          <a:xfrm>
            <a:off x="5021006" y="2781454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7DF7AA5-A3C4-87B3-7754-35330E9423A5}"/>
              </a:ext>
            </a:extLst>
          </p:cNvPr>
          <p:cNvSpPr/>
          <p:nvPr/>
        </p:nvSpPr>
        <p:spPr>
          <a:xfrm>
            <a:off x="5021006" y="357746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669DB1B-61AC-631C-F766-2E27C786085A}"/>
              </a:ext>
            </a:extLst>
          </p:cNvPr>
          <p:cNvSpPr/>
          <p:nvPr/>
        </p:nvSpPr>
        <p:spPr>
          <a:xfrm>
            <a:off x="5013268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D82BA77-9EC6-5B03-EA1B-9FD57546DE61}"/>
              </a:ext>
            </a:extLst>
          </p:cNvPr>
          <p:cNvSpPr/>
          <p:nvPr/>
        </p:nvSpPr>
        <p:spPr>
          <a:xfrm>
            <a:off x="7449472" y="4606630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1B73274-2DE5-C02D-72E6-A6CB849921C0}"/>
              </a:ext>
            </a:extLst>
          </p:cNvPr>
          <p:cNvSpPr/>
          <p:nvPr/>
        </p:nvSpPr>
        <p:spPr>
          <a:xfrm>
            <a:off x="2690633" y="4608519"/>
            <a:ext cx="2010173" cy="5232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3EBD88E-5183-2422-1FF1-833E67202474}"/>
              </a:ext>
            </a:extLst>
          </p:cNvPr>
          <p:cNvSpPr txBox="1"/>
          <p:nvPr/>
        </p:nvSpPr>
        <p:spPr>
          <a:xfrm>
            <a:off x="3053716" y="4697889"/>
            <a:ext cx="1164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Report Layer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B2808113-29FD-BD33-9E37-58FABCC429EE}"/>
              </a:ext>
            </a:extLst>
          </p:cNvPr>
          <p:cNvCxnSpPr>
            <a:cxnSpLocks/>
          </p:cNvCxnSpPr>
          <p:nvPr/>
        </p:nvCxnSpPr>
        <p:spPr>
          <a:xfrm flipH="1">
            <a:off x="4332092" y="4342588"/>
            <a:ext cx="3" cy="264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490379A9-CF6E-4CAE-BE0A-F5DAFCF429B1}"/>
              </a:ext>
            </a:extLst>
          </p:cNvPr>
          <p:cNvCxnSpPr>
            <a:cxnSpLocks/>
          </p:cNvCxnSpPr>
          <p:nvPr/>
        </p:nvCxnSpPr>
        <p:spPr>
          <a:xfrm>
            <a:off x="7795240" y="4342588"/>
            <a:ext cx="0" cy="27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FF3CE82-28AC-DCA4-57A0-34C79444DFA0}"/>
              </a:ext>
            </a:extLst>
          </p:cNvPr>
          <p:cNvCxnSpPr/>
          <p:nvPr/>
        </p:nvCxnSpPr>
        <p:spPr>
          <a:xfrm>
            <a:off x="4332092" y="4342588"/>
            <a:ext cx="34631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087842C1-3728-52D8-1158-780FDCD951A9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3695720" y="5131778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20129FE6-97B4-9713-5FAF-2FF28480CE34}"/>
              </a:ext>
            </a:extLst>
          </p:cNvPr>
          <p:cNvSpPr/>
          <p:nvPr/>
        </p:nvSpPr>
        <p:spPr>
          <a:xfrm>
            <a:off x="3175636" y="5906917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160A4C1-B9D9-6696-20B2-6237FE5FB4E2}"/>
              </a:ext>
            </a:extLst>
          </p:cNvPr>
          <p:cNvSpPr/>
          <p:nvPr/>
        </p:nvSpPr>
        <p:spPr>
          <a:xfrm>
            <a:off x="3082205" y="599287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CB60D3EB-E858-4AC8-E695-DA321E27ACBD}"/>
              </a:ext>
            </a:extLst>
          </p:cNvPr>
          <p:cNvSpPr/>
          <p:nvPr/>
        </p:nvSpPr>
        <p:spPr>
          <a:xfrm>
            <a:off x="2988773" y="6082242"/>
            <a:ext cx="707922" cy="704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D298230-D38D-94C5-79A5-17AC636EA2A9}"/>
              </a:ext>
            </a:extLst>
          </p:cNvPr>
          <p:cNvCxnSpPr>
            <a:cxnSpLocks/>
            <a:stCxn id="25" idx="1"/>
            <a:endCxn id="30" idx="3"/>
          </p:cNvCxnSpPr>
          <p:nvPr/>
        </p:nvCxnSpPr>
        <p:spPr>
          <a:xfrm flipH="1">
            <a:off x="4700806" y="4868260"/>
            <a:ext cx="312462" cy="188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F585BAAB-A07B-9078-35E8-4E831D6747AA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023441" y="4868260"/>
            <a:ext cx="4260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7CAF8879-C627-7726-1B8A-841BDC56DA8A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454559" y="5129889"/>
            <a:ext cx="0" cy="66337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F8B6563C-E609-8C76-EDC4-0F0892604E4F}"/>
              </a:ext>
            </a:extLst>
          </p:cNvPr>
          <p:cNvSpPr/>
          <p:nvPr/>
        </p:nvSpPr>
        <p:spPr>
          <a:xfrm>
            <a:off x="7571392" y="5931254"/>
            <a:ext cx="3883188" cy="6563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E8C037-3D32-373F-5D61-471277C36688}"/>
              </a:ext>
            </a:extLst>
          </p:cNvPr>
          <p:cNvSpPr txBox="1"/>
          <p:nvPr/>
        </p:nvSpPr>
        <p:spPr>
          <a:xfrm>
            <a:off x="5388101" y="3685200"/>
            <a:ext cx="1019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Core Layer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86D2709-C2D8-2316-0F51-A5BAF66D1106}"/>
              </a:ext>
            </a:extLst>
          </p:cNvPr>
          <p:cNvSpPr txBox="1"/>
          <p:nvPr/>
        </p:nvSpPr>
        <p:spPr>
          <a:xfrm>
            <a:off x="5192627" y="2872418"/>
            <a:ext cx="1670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solidFill>
                  <a:schemeClr val="bg1">
                    <a:lumMod val="85000"/>
                  </a:schemeClr>
                </a:solidFill>
              </a:rPr>
              <a:t>Ephemerides</a:t>
            </a:r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 Layer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95B627D-9D09-6D4D-0899-896CB9BB177F}"/>
              </a:ext>
            </a:extLst>
          </p:cNvPr>
          <p:cNvSpPr txBox="1"/>
          <p:nvPr/>
        </p:nvSpPr>
        <p:spPr>
          <a:xfrm>
            <a:off x="5276676" y="4697889"/>
            <a:ext cx="1483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Simulation Layer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2B223C0-FD2F-3137-EEC2-98950D00D7A0}"/>
              </a:ext>
            </a:extLst>
          </p:cNvPr>
          <p:cNvCxnSpPr>
            <a:cxnSpLocks/>
            <a:stCxn id="3" idx="2"/>
            <a:endCxn id="23" idx="0"/>
          </p:cNvCxnSpPr>
          <p:nvPr/>
        </p:nvCxnSpPr>
        <p:spPr>
          <a:xfrm>
            <a:off x="6026093" y="2271173"/>
            <a:ext cx="0" cy="51028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3E0B474-9CA8-F6EF-FCE1-1EF8F5B7917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6093" y="3304713"/>
            <a:ext cx="0" cy="27274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50914A2B-D373-0A60-9644-A138A24942A0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18355" y="4100719"/>
            <a:ext cx="7738" cy="50591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A14217C5-8E25-705B-34A6-D6866705C10F}"/>
              </a:ext>
            </a:extLst>
          </p:cNvPr>
          <p:cNvSpPr txBox="1"/>
          <p:nvPr/>
        </p:nvSpPr>
        <p:spPr>
          <a:xfrm>
            <a:off x="7712880" y="4697889"/>
            <a:ext cx="1434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solidFill>
                  <a:schemeClr val="bg1">
                    <a:lumMod val="85000"/>
                  </a:schemeClr>
                </a:solidFill>
              </a:rPr>
              <a:t>Projection</a:t>
            </a:r>
            <a:r>
              <a:rPr lang="de-DE" sz="1400" dirty="0">
                <a:solidFill>
                  <a:schemeClr val="bg1">
                    <a:lumMod val="85000"/>
                  </a:schemeClr>
                </a:solidFill>
              </a:rPr>
              <a:t> Layer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83CDEED9-A407-1A22-79D0-B045FF2CFFA4}"/>
              </a:ext>
            </a:extLst>
          </p:cNvPr>
          <p:cNvSpPr txBox="1"/>
          <p:nvPr/>
        </p:nvSpPr>
        <p:spPr>
          <a:xfrm>
            <a:off x="7816696" y="6074740"/>
            <a:ext cx="3322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GUI: Output Data – </a:t>
            </a:r>
            <a:r>
              <a:rPr lang="de-DE" sz="1400" i="1" dirty="0"/>
              <a:t>Maps, </a:t>
            </a:r>
            <a:r>
              <a:rPr lang="de-DE" sz="1400" i="1" dirty="0" err="1"/>
              <a:t>Trajectories</a:t>
            </a:r>
            <a:r>
              <a:rPr lang="de-DE" sz="1400" dirty="0"/>
              <a:t>, …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07085B5A-83D8-755F-5C74-5954838CBEBF}"/>
              </a:ext>
            </a:extLst>
          </p:cNvPr>
          <p:cNvSpPr txBox="1"/>
          <p:nvPr/>
        </p:nvSpPr>
        <p:spPr>
          <a:xfrm>
            <a:off x="2881293" y="2448345"/>
            <a:ext cx="1544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B050"/>
                </a:solidFill>
              </a:rPr>
              <a:t>Astro</a:t>
            </a:r>
            <a:r>
              <a:rPr lang="de-DE" dirty="0">
                <a:solidFill>
                  <a:srgbClr val="00B050"/>
                </a:solidFill>
              </a:rPr>
              <a:t> Domain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55AA77F8-9B42-85FA-8A21-D68301315199}"/>
              </a:ext>
            </a:extLst>
          </p:cNvPr>
          <p:cNvSpPr txBox="1"/>
          <p:nvPr/>
        </p:nvSpPr>
        <p:spPr>
          <a:xfrm>
            <a:off x="388022" y="1392609"/>
            <a:ext cx="1774488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/>
              <a:t>External</a:t>
            </a:r>
          </a:p>
          <a:p>
            <a:r>
              <a:rPr lang="de-DE" sz="1200" dirty="0"/>
              <a:t>Data Sources: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BS-Catalog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VSOP </a:t>
            </a:r>
            <a:r>
              <a:rPr lang="de-DE" sz="1200" dirty="0" err="1"/>
              <a:t>data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Tycho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…</a:t>
            </a:r>
          </a:p>
        </p:txBody>
      </p:sp>
      <p:sp>
        <p:nvSpPr>
          <p:cNvPr id="81" name="Freihandform: Form 80">
            <a:extLst>
              <a:ext uri="{FF2B5EF4-FFF2-40B4-BE49-F238E27FC236}">
                <a16:creationId xmlns:a16="http://schemas.microsoft.com/office/drawing/2014/main" id="{E0E7ED5E-D485-192C-F9CE-988DA1672AE8}"/>
              </a:ext>
            </a:extLst>
          </p:cNvPr>
          <p:cNvSpPr/>
          <p:nvPr/>
        </p:nvSpPr>
        <p:spPr>
          <a:xfrm rot="13075697">
            <a:off x="1645105" y="803072"/>
            <a:ext cx="236372" cy="845574"/>
          </a:xfrm>
          <a:custGeom>
            <a:avLst/>
            <a:gdLst>
              <a:gd name="csX0" fmla="*/ 236372 w 236372"/>
              <a:gd name="csY0" fmla="*/ 0 h 845574"/>
              <a:gd name="csX1" fmla="*/ 398 w 236372"/>
              <a:gd name="csY1" fmla="*/ 501445 h 845574"/>
              <a:gd name="csX2" fmla="*/ 177379 w 236372"/>
              <a:gd name="csY2" fmla="*/ 688258 h 845574"/>
              <a:gd name="csX3" fmla="*/ 69224 w 236372"/>
              <a:gd name="csY3" fmla="*/ 845574 h 845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372" h="845574">
                <a:moveTo>
                  <a:pt x="236372" y="0"/>
                </a:moveTo>
                <a:cubicBezTo>
                  <a:pt x="123301" y="193367"/>
                  <a:pt x="10230" y="386735"/>
                  <a:pt x="398" y="501445"/>
                </a:cubicBezTo>
                <a:cubicBezTo>
                  <a:pt x="-9434" y="616155"/>
                  <a:pt x="165908" y="630903"/>
                  <a:pt x="177379" y="688258"/>
                </a:cubicBezTo>
                <a:cubicBezTo>
                  <a:pt x="188850" y="745613"/>
                  <a:pt x="129037" y="795593"/>
                  <a:pt x="69224" y="84557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C9F705D6-28E3-1B0C-DF74-00378C414811}"/>
              </a:ext>
            </a:extLst>
          </p:cNvPr>
          <p:cNvSpPr txBox="1"/>
          <p:nvPr/>
        </p:nvSpPr>
        <p:spPr>
          <a:xfrm>
            <a:off x="2075813" y="572370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Time </a:t>
            </a:r>
            <a:r>
              <a:rPr lang="de-DE" sz="1200" i="1" dirty="0" err="1"/>
              <a:t>domain</a:t>
            </a:r>
            <a:endParaRPr lang="de-DE" sz="1200" i="1" dirty="0"/>
          </a:p>
          <a:p>
            <a:r>
              <a:rPr lang="de-DE" sz="1200" i="1" dirty="0" err="1"/>
              <a:t>unclear</a:t>
            </a:r>
            <a:endParaRPr lang="de-DE" sz="1200" i="1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7739FC8F-0781-B2B7-A9DF-9730DC24FF06}"/>
              </a:ext>
            </a:extLst>
          </p:cNvPr>
          <p:cNvSpPr txBox="1"/>
          <p:nvPr/>
        </p:nvSpPr>
        <p:spPr>
          <a:xfrm>
            <a:off x="10797789" y="381000"/>
            <a:ext cx="1155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</a:rPr>
              <a:t>User Domain </a:t>
            </a:r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45B4B6A4-D138-F9B6-1125-DF848361629A}"/>
              </a:ext>
            </a:extLst>
          </p:cNvPr>
          <p:cNvSpPr txBox="1"/>
          <p:nvPr/>
        </p:nvSpPr>
        <p:spPr>
          <a:xfrm>
            <a:off x="10847992" y="5735203"/>
            <a:ext cx="62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68A368C4-25B2-E75C-3B0B-5C05FE854CB8}"/>
              </a:ext>
            </a:extLst>
          </p:cNvPr>
          <p:cNvSpPr txBox="1"/>
          <p:nvPr/>
        </p:nvSpPr>
        <p:spPr>
          <a:xfrm>
            <a:off x="3032649" y="6231625"/>
            <a:ext cx="620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UTC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544C93B3-9B19-DC89-7576-98DE6F69D833}"/>
              </a:ext>
            </a:extLst>
          </p:cNvPr>
          <p:cNvSpPr/>
          <p:nvPr/>
        </p:nvSpPr>
        <p:spPr>
          <a:xfrm>
            <a:off x="2269535" y="1452714"/>
            <a:ext cx="7524706" cy="4161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EAA05E-DB80-86E7-52C2-F020853E73A0}"/>
              </a:ext>
            </a:extLst>
          </p:cNvPr>
          <p:cNvSpPr txBox="1"/>
          <p:nvPr/>
        </p:nvSpPr>
        <p:spPr>
          <a:xfrm>
            <a:off x="7665314" y="2549434"/>
            <a:ext cx="1764513" cy="1107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Class </a:t>
            </a:r>
            <a:r>
              <a:rPr lang="de-DE" sz="1100" b="1" dirty="0" err="1">
                <a:solidFill>
                  <a:srgbClr val="FF0000"/>
                </a:solidFill>
              </a:rPr>
              <a:t>iAstroTimeInterface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{</a:t>
            </a:r>
          </a:p>
          <a:p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 err="1">
                <a:solidFill>
                  <a:srgbClr val="FF0000"/>
                </a:solidFill>
              </a:rPr>
              <a:t>Get_TT</a:t>
            </a:r>
            <a:r>
              <a:rPr lang="de-DE" sz="1100" b="1" dirty="0">
                <a:solidFill>
                  <a:srgbClr val="FF0000"/>
                </a:solidFill>
              </a:rPr>
              <a:t>(UTC)</a:t>
            </a:r>
          </a:p>
          <a:p>
            <a:r>
              <a:rPr lang="de-DE" sz="1100" b="1" dirty="0">
                <a:solidFill>
                  <a:srgbClr val="FF0000"/>
                </a:solidFill>
              </a:rPr>
              <a:t>}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82EFC5C-0073-9ABA-6620-E68DB1B76351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7031179" y="3043084"/>
            <a:ext cx="634135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B810339-9EE8-DDEF-796C-87CF1790336F}"/>
              </a:ext>
            </a:extLst>
          </p:cNvPr>
          <p:cNvCxnSpPr>
            <a:cxnSpLocks/>
          </p:cNvCxnSpPr>
          <p:nvPr/>
        </p:nvCxnSpPr>
        <p:spPr>
          <a:xfrm flipV="1">
            <a:off x="7031179" y="3577460"/>
            <a:ext cx="634135" cy="249066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B1BB581-58CA-B134-E58C-96628A36E295}"/>
              </a:ext>
            </a:extLst>
          </p:cNvPr>
          <p:cNvCxnSpPr>
            <a:cxnSpLocks/>
            <a:stCxn id="27" idx="0"/>
            <a:endCxn id="2" idx="2"/>
          </p:cNvCxnSpPr>
          <p:nvPr/>
        </p:nvCxnSpPr>
        <p:spPr>
          <a:xfrm flipV="1">
            <a:off x="8454559" y="3657430"/>
            <a:ext cx="93012" cy="94920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E65A6D5-34B7-CF89-405D-7E0CBB0EB0F2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6660760" y="3657430"/>
            <a:ext cx="1886811" cy="949199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32CE5112-57ED-ECF5-CD6C-01326CF9AF98}"/>
              </a:ext>
            </a:extLst>
          </p:cNvPr>
          <p:cNvSpPr txBox="1"/>
          <p:nvPr/>
        </p:nvSpPr>
        <p:spPr>
          <a:xfrm>
            <a:off x="10186156" y="2638741"/>
            <a:ext cx="1893907" cy="9387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FF0000"/>
                </a:solidFill>
              </a:rPr>
              <a:t>Class </a:t>
            </a:r>
            <a:r>
              <a:rPr lang="de-DE" sz="1100" b="1" dirty="0" err="1">
                <a:solidFill>
                  <a:srgbClr val="FF0000"/>
                </a:solidFill>
              </a:rPr>
              <a:t>iUserTimeInterface</a:t>
            </a:r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{</a:t>
            </a:r>
          </a:p>
          <a:p>
            <a:r>
              <a:rPr lang="de-DE" sz="1100" b="1" dirty="0" err="1">
                <a:solidFill>
                  <a:srgbClr val="FF0000"/>
                </a:solidFill>
              </a:rPr>
              <a:t>Get_JD_UTC</a:t>
            </a:r>
            <a:r>
              <a:rPr lang="de-DE" sz="1100" b="1" dirty="0">
                <a:solidFill>
                  <a:srgbClr val="FF0000"/>
                </a:solidFill>
              </a:rPr>
              <a:t>(JD_ TT)</a:t>
            </a:r>
          </a:p>
          <a:p>
            <a:endParaRPr lang="de-DE" sz="1100" b="1" dirty="0">
              <a:solidFill>
                <a:srgbClr val="FF0000"/>
              </a:solidFill>
            </a:endParaRPr>
          </a:p>
          <a:p>
            <a:r>
              <a:rPr lang="de-DE" sz="1100" b="1" dirty="0">
                <a:solidFill>
                  <a:srgbClr val="FF0000"/>
                </a:solidFill>
              </a:rPr>
              <a:t>}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F010412-9805-96C4-ADBB-2214A200E7A7}"/>
              </a:ext>
            </a:extLst>
          </p:cNvPr>
          <p:cNvCxnSpPr>
            <a:cxnSpLocks/>
            <a:stCxn id="2" idx="3"/>
            <a:endCxn id="22" idx="1"/>
          </p:cNvCxnSpPr>
          <p:nvPr/>
        </p:nvCxnSpPr>
        <p:spPr>
          <a:xfrm>
            <a:off x="9429827" y="3103432"/>
            <a:ext cx="756329" cy="4669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DC92E15A-8603-73BA-06DD-DC6508DFDBDA}"/>
              </a:ext>
            </a:extLst>
          </p:cNvPr>
          <p:cNvSpPr txBox="1"/>
          <p:nvPr/>
        </p:nvSpPr>
        <p:spPr>
          <a:xfrm>
            <a:off x="9922465" y="1153719"/>
            <a:ext cx="2072602" cy="116955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F0"/>
                </a:solidFill>
              </a:rPr>
              <a:t>Class </a:t>
            </a:r>
            <a:r>
              <a:rPr lang="de-DE" sz="1000" b="1" dirty="0" err="1">
                <a:solidFill>
                  <a:srgbClr val="00B0F0"/>
                </a:solidFill>
              </a:rPr>
              <a:t>UserTime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UTC; 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time shift;</a:t>
            </a:r>
          </a:p>
          <a:p>
            <a:r>
              <a:rPr lang="de-DE" sz="1000" b="1" dirty="0">
                <a:solidFill>
                  <a:srgbClr val="00B0F0"/>
                </a:solidFill>
              </a:rPr>
              <a:t>private double </a:t>
            </a:r>
            <a:r>
              <a:rPr lang="de-DE" sz="1000" b="1" dirty="0" err="1">
                <a:solidFill>
                  <a:srgbClr val="00B0F0"/>
                </a:solidFill>
              </a:rPr>
              <a:t>DaylightSavings</a:t>
            </a:r>
            <a:r>
              <a:rPr lang="de-DE" sz="1000" b="1" dirty="0">
                <a:solidFill>
                  <a:srgbClr val="00B0F0"/>
                </a:solidFill>
              </a:rPr>
              <a:t>;</a:t>
            </a:r>
          </a:p>
          <a:p>
            <a:r>
              <a:rPr lang="de-DE" sz="1000" b="1" dirty="0" err="1">
                <a:solidFill>
                  <a:srgbClr val="00B0F0"/>
                </a:solidFill>
              </a:rPr>
              <a:t>JD_UTC_to_GregorianDate</a:t>
            </a:r>
            <a:endParaRPr lang="de-DE" sz="1000" b="1" dirty="0">
              <a:solidFill>
                <a:srgbClr val="00B0F0"/>
              </a:solidFill>
            </a:endParaRPr>
          </a:p>
          <a:p>
            <a:r>
              <a:rPr lang="de-DE" sz="1000" b="1" dirty="0"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F4EA6CA-1790-906F-0A27-2CA41B4523F8}"/>
              </a:ext>
            </a:extLst>
          </p:cNvPr>
          <p:cNvSpPr txBox="1"/>
          <p:nvPr/>
        </p:nvSpPr>
        <p:spPr>
          <a:xfrm>
            <a:off x="2915341" y="2795648"/>
            <a:ext cx="1764513" cy="11695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00B050"/>
                </a:solidFill>
              </a:rPr>
              <a:t>Class </a:t>
            </a:r>
            <a:r>
              <a:rPr lang="de-DE" sz="1000" b="1" dirty="0" err="1">
                <a:solidFill>
                  <a:srgbClr val="00B050"/>
                </a:solidFill>
              </a:rPr>
              <a:t>AstroTime</a:t>
            </a:r>
            <a:endParaRPr lang="de-DE" sz="1000" b="1" dirty="0">
              <a:solidFill>
                <a:srgbClr val="00B050"/>
              </a:solidFill>
            </a:endParaRPr>
          </a:p>
          <a:p>
            <a:r>
              <a:rPr lang="de-DE" sz="1000" b="1" dirty="0">
                <a:solidFill>
                  <a:srgbClr val="00B050"/>
                </a:solidFill>
              </a:rPr>
              <a:t>{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TT; 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TDB;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private double Delta T;</a:t>
            </a:r>
          </a:p>
          <a:p>
            <a:r>
              <a:rPr lang="de-DE" sz="1000" b="1" dirty="0" err="1">
                <a:solidFill>
                  <a:srgbClr val="00B050"/>
                </a:solidFill>
              </a:rPr>
              <a:t>CalcDeltaT</a:t>
            </a:r>
            <a:r>
              <a:rPr lang="de-DE" sz="1000" b="1" dirty="0">
                <a:solidFill>
                  <a:srgbClr val="00B050"/>
                </a:solidFill>
              </a:rPr>
              <a:t>(</a:t>
            </a:r>
            <a:r>
              <a:rPr lang="de-DE" sz="1000" b="1" dirty="0">
                <a:solidFill>
                  <a:srgbClr val="00B050"/>
                </a:solidFill>
                <a:highlight>
                  <a:srgbClr val="FFFF00"/>
                </a:highlight>
              </a:rPr>
              <a:t>UTC</a:t>
            </a:r>
            <a:r>
              <a:rPr lang="de-DE" sz="1000" b="1" dirty="0">
                <a:solidFill>
                  <a:srgbClr val="00B050"/>
                </a:solidFill>
              </a:rPr>
              <a:t>)</a:t>
            </a:r>
          </a:p>
          <a:p>
            <a:r>
              <a:rPr lang="de-DE" sz="1000" b="1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B5CF98DB-7345-BB53-1A73-C8E481D7D446}"/>
              </a:ext>
            </a:extLst>
          </p:cNvPr>
          <p:cNvCxnSpPr>
            <a:cxnSpLocks/>
          </p:cNvCxnSpPr>
          <p:nvPr/>
        </p:nvCxnSpPr>
        <p:spPr>
          <a:xfrm>
            <a:off x="10958766" y="2271173"/>
            <a:ext cx="0" cy="367568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0DF3F64C-CF1D-EA1A-2703-D1BFF17E9382}"/>
              </a:ext>
            </a:extLst>
          </p:cNvPr>
          <p:cNvCxnSpPr>
            <a:cxnSpLocks/>
          </p:cNvCxnSpPr>
          <p:nvPr/>
        </p:nvCxnSpPr>
        <p:spPr>
          <a:xfrm>
            <a:off x="4700806" y="3429000"/>
            <a:ext cx="2964508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FC2FAA0E-7D27-080B-E98A-8C097F60D006}"/>
              </a:ext>
            </a:extLst>
          </p:cNvPr>
          <p:cNvCxnSpPr>
            <a:cxnSpLocks/>
          </p:cNvCxnSpPr>
          <p:nvPr/>
        </p:nvCxnSpPr>
        <p:spPr>
          <a:xfrm flipV="1">
            <a:off x="4546645" y="3676350"/>
            <a:ext cx="3374588" cy="94019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C057F76C-F409-154F-D7AC-41F87D27E01C}"/>
              </a:ext>
            </a:extLst>
          </p:cNvPr>
          <p:cNvSpPr txBox="1"/>
          <p:nvPr/>
        </p:nvSpPr>
        <p:spPr>
          <a:xfrm rot="20598505">
            <a:off x="3136908" y="2948067"/>
            <a:ext cx="5521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highlight>
                  <a:srgbClr val="FFFF00"/>
                </a:highlight>
              </a:rPr>
              <a:t>Initial </a:t>
            </a:r>
            <a:r>
              <a:rPr lang="de-DE" sz="3600" dirty="0" err="1">
                <a:highlight>
                  <a:srgbClr val="FFFF00"/>
                </a:highlight>
              </a:rPr>
              <a:t>implementation</a:t>
            </a:r>
            <a:r>
              <a:rPr lang="de-DE" sz="3600" dirty="0">
                <a:highlight>
                  <a:srgbClr val="FFFF00"/>
                </a:highlight>
              </a:rPr>
              <a:t> </a:t>
            </a:r>
            <a:r>
              <a:rPr lang="de-DE" sz="3600" dirty="0" err="1">
                <a:highlight>
                  <a:srgbClr val="FFFF00"/>
                </a:highlight>
              </a:rPr>
              <a:t>idea</a:t>
            </a:r>
            <a:endParaRPr lang="de-DE" sz="3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88905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PresentationFormat>Breitbild</PresentationFormat>
  <Paragraphs>259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</vt:lpstr>
      <vt:lpstr>Die  Zeit in der Astronometria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Backup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18</cp:revision>
  <dcterms:created xsi:type="dcterms:W3CDTF">2026-02-20T20:35:23Z</dcterms:created>
  <dcterms:modified xsi:type="dcterms:W3CDTF">2026-02-24T21:12:30Z</dcterms:modified>
</cp:coreProperties>
</file>