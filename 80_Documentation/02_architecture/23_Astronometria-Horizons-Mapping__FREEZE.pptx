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5" r:id="rId2"/>
    <p:sldId id="258" r:id="rId3"/>
    <p:sldId id="264" r:id="rId4"/>
    <p:sldId id="267" r:id="rId5"/>
    <p:sldId id="268" r:id="rId6"/>
    <p:sldId id="269" r:id="rId7"/>
    <p:sldId id="259" r:id="rId8"/>
    <p:sldId id="260" r:id="rId9"/>
    <p:sldId id="261" r:id="rId10"/>
    <p:sldId id="270" r:id="rId11"/>
    <p:sldId id="271" r:id="rId12"/>
    <p:sldId id="272" r:id="rId13"/>
    <p:sldId id="273" r:id="rId14"/>
    <p:sldId id="262" r:id="rId15"/>
    <p:sldId id="263" r:id="rId16"/>
    <p:sldId id="266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9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2F52C-D5CC-4D41-9093-3760F43DE449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E5603-F919-4ADD-B866-6FC490805C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9790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E5603-F919-4ADD-B866-6FC490805C6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2892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9BB121-4514-8F95-A778-BD853872B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2FF4E6-C76D-78C1-7C68-633060A5B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0AF8C0-C0BD-7B78-A259-FE8AAF50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BFB375-5208-5D7A-28BD-E288AC54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AED0D0-5C77-4F5C-B004-9681196EA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65ED2F-A4D3-60AB-8F73-16A1BA5A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251332-33EA-2BE1-6BC6-1A05AF73C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A07FD7-1467-124C-49E7-417BBF90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41ED05-AA32-F2E9-2BB7-BFB7EFEA5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539317-7695-2E83-CB8D-004581C8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75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A63430-60C8-53B5-C142-E75840CCB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5DFB29-E92A-CE37-A525-85DECF422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721D68-95A9-1A8F-4371-29271AF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B8DD61-8633-35AD-6DF2-4496932F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E28F94-7B03-8A17-3571-E4EB5D9C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61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4F5288-ACD9-9AB2-3F8D-B50C687B0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7561F9-8EE0-9180-19C7-7BE23BB1E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66A4C9-1B53-1888-7E22-B478FA563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135346-D101-7387-BADE-EB263522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7B8E5F-5E3F-797F-56A2-F9A68ED5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E1E95E-D174-DB65-4D0E-43796A2C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195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A2BD8-B5F4-957D-0683-F13BB76E3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985E67-D66A-29F6-4922-77EE586C4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D59F87-8246-E674-9780-A193D0284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936D34-BA5E-6179-6C77-BF0EF55D6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2930EFD-5ECA-E101-108F-3F39673DF2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75B1446-7BD6-785D-7FC4-8B7273E21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3D3BFB0-9BF5-E69A-E21A-118AFE1D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A2A5B00-C18A-7BEE-2D63-2B26AA07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540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571E3E-C2D9-3F8B-9DBD-AD1EE38A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BBFCDC1-E873-844B-EB00-64C0BF2B4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64ACD91-DF13-73FC-2681-84359E1E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FB5EEB-DEC1-DA01-2241-BFB57C1F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079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E499A4-CCD2-9F01-194E-772669B3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6E29C25-4D3C-6BCF-3661-4E9102D35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A5E5F5-CC03-3B2C-01CD-FC80510D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385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5D3A85-2A99-F712-74F2-A22FAFAB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D4079A-77BC-28D5-5649-6C3EC3CA9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7BA2DB-3734-0682-F2B2-0E43BC6CB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502ABD-40A2-4D46-2F1C-90B9EF63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AC53ED-4B29-936B-DD44-94F6411A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6DE733-A4BD-1390-C125-D22F2131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855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72DE28-CCAA-4114-4813-61F720091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BC0FA10-4799-1727-B036-851ADEA64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DE1BA3-57D9-3537-934F-7C22D669D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4D9A1B-B2E3-BE3C-B952-7446AFF9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55AF1C-B05A-BD6F-A41D-D2B9B1CF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52B335-CA1F-221F-1697-77639BC05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37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79B70-9C57-52C2-8D0C-C7D30195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FA9DC43-A0AA-D983-8A8A-EB3C0E138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0E3500-B255-0C82-5337-BD17E48EC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381228-588D-BDD2-95C6-B687EB22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A378CC-6526-F77D-4074-7061E41C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890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6E8809F-6F52-F597-8FBE-155E4D84A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80A7A2-24AB-78BB-3B23-5C2A32E78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06B0B2-FC41-B9AC-038B-E60526D42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8AB4F7-A01F-E510-D835-A0FDF77B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E20035-0599-18C5-34D2-648D9082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122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21FD0A1-94DF-54D0-1F97-CF417E184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3046CF-C730-432E-1BFF-43395DEF4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09D918-46FC-6A7E-F4D0-E41331DBF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360AD-E35D-404B-9B32-B59A45237973}" type="datetimeFigureOut">
              <a:rPr lang="de-DE" smtClean="0"/>
              <a:t>27.03.2026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676021-B73F-6AC0-EDAA-CDDF3591D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A6E08B-73C9-E449-67AF-F4E43E298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412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206E-BC48-5376-4C21-0161AC0DD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0B6975-B748-5C75-50BC-96A835BE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Basis: </a:t>
            </a:r>
            <a:br>
              <a:rPr lang="de-DE" dirty="0"/>
            </a:br>
            <a:r>
              <a:rPr lang="de-DE" dirty="0"/>
              <a:t>Mapping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Astronometria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Horizons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F8DDE0-C8E9-4563-50B3-0C230965A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(Measurement, Instrument Approach, Layer Approach)</a:t>
            </a:r>
          </a:p>
        </p:txBody>
      </p:sp>
    </p:spTree>
    <p:extLst>
      <p:ext uri="{BB962C8B-B14F-4D97-AF65-F5344CB8AC3E}">
        <p14:creationId xmlns:p14="http://schemas.microsoft.com/office/powerpoint/2010/main" val="1516929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498F5-6807-E66E-5CBD-835B7193C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hteck 306">
            <a:extLst>
              <a:ext uri="{FF2B5EF4-FFF2-40B4-BE49-F238E27FC236}">
                <a16:creationId xmlns:a16="http://schemas.microsoft.com/office/drawing/2014/main" id="{E9A67D94-987E-988A-A0DD-4452EFC642A5}"/>
              </a:ext>
            </a:extLst>
          </p:cNvPr>
          <p:cNvSpPr/>
          <p:nvPr/>
        </p:nvSpPr>
        <p:spPr>
          <a:xfrm>
            <a:off x="920051" y="713344"/>
            <a:ext cx="10216711" cy="2037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20324880-DC45-2E0D-1DD5-0E6EDBE3534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9098211" y="2198645"/>
            <a:ext cx="26748" cy="4249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AF787FAC-6189-0935-C9FF-AF9AF906AFEE}"/>
              </a:ext>
            </a:extLst>
          </p:cNvPr>
          <p:cNvCxnSpPr>
            <a:cxnSpLocks/>
            <a:stCxn id="43" idx="0"/>
          </p:cNvCxnSpPr>
          <p:nvPr/>
        </p:nvCxnSpPr>
        <p:spPr>
          <a:xfrm>
            <a:off x="6275982" y="2287180"/>
            <a:ext cx="0" cy="27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C039AFE3-FE76-0341-608B-C906158992EE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10216131" y="2801488"/>
            <a:ext cx="0" cy="3646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64D13A02-F9B3-7716-F8E8-D60DF352D851}"/>
              </a:ext>
            </a:extLst>
          </p:cNvPr>
          <p:cNvSpPr/>
          <p:nvPr/>
        </p:nvSpPr>
        <p:spPr>
          <a:xfrm>
            <a:off x="2435736" y="78289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VSOP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52C3686-ED13-03B5-0C61-4F1AB4FE02EC}"/>
              </a:ext>
            </a:extLst>
          </p:cNvPr>
          <p:cNvCxnSpPr>
            <a:cxnSpLocks/>
          </p:cNvCxnSpPr>
          <p:nvPr/>
        </p:nvCxnSpPr>
        <p:spPr>
          <a:xfrm>
            <a:off x="25052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8D15B86-C46F-C277-C92B-4779BE1C4105}"/>
              </a:ext>
            </a:extLst>
          </p:cNvPr>
          <p:cNvCxnSpPr>
            <a:cxnSpLocks/>
          </p:cNvCxnSpPr>
          <p:nvPr/>
        </p:nvCxnSpPr>
        <p:spPr>
          <a:xfrm>
            <a:off x="28100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9627AA9-E48E-FC3A-AE1D-CD7EC1BF2BA8}"/>
              </a:ext>
            </a:extLst>
          </p:cNvPr>
          <p:cNvCxnSpPr>
            <a:cxnSpLocks/>
          </p:cNvCxnSpPr>
          <p:nvPr/>
        </p:nvCxnSpPr>
        <p:spPr>
          <a:xfrm>
            <a:off x="31148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BDB3A407-0D0E-51C3-6BB1-F7CE0E8C5DF9}"/>
              </a:ext>
            </a:extLst>
          </p:cNvPr>
          <p:cNvSpPr txBox="1"/>
          <p:nvPr/>
        </p:nvSpPr>
        <p:spPr>
          <a:xfrm>
            <a:off x="2335993" y="21991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TX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B5FF12B-9D87-4A81-BBC4-7DDCB127FF5B}"/>
              </a:ext>
            </a:extLst>
          </p:cNvPr>
          <p:cNvSpPr txBox="1"/>
          <p:nvPr/>
        </p:nvSpPr>
        <p:spPr>
          <a:xfrm>
            <a:off x="2640793" y="219911"/>
            <a:ext cx="314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TY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A3D1E99-BE84-1717-8DA0-E0B5B4FEDC28}"/>
              </a:ext>
            </a:extLst>
          </p:cNvPr>
          <p:cNvSpPr txBox="1"/>
          <p:nvPr/>
        </p:nvSpPr>
        <p:spPr>
          <a:xfrm>
            <a:off x="2945593" y="219911"/>
            <a:ext cx="3113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TZ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1419319-7954-597F-3CB4-3C4C551089C9}"/>
              </a:ext>
            </a:extLst>
          </p:cNvPr>
          <p:cNvSpPr/>
          <p:nvPr/>
        </p:nvSpPr>
        <p:spPr>
          <a:xfrm>
            <a:off x="3591307" y="130994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HE2GE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8FB3EC7-09FC-44BC-EA4F-B9C9170AA128}"/>
              </a:ext>
            </a:extLst>
          </p:cNvPr>
          <p:cNvSpPr/>
          <p:nvPr/>
        </p:nvSpPr>
        <p:spPr>
          <a:xfrm>
            <a:off x="4746878" y="180524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GE2GA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550581C-3702-E056-2AA5-A06A6D38BFC9}"/>
              </a:ext>
            </a:extLst>
          </p:cNvPr>
          <p:cNvSpPr/>
          <p:nvPr/>
        </p:nvSpPr>
        <p:spPr>
          <a:xfrm>
            <a:off x="9842598" y="2432156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Topo </a:t>
            </a:r>
            <a:r>
              <a:rPr lang="de-DE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Projection</a:t>
            </a:r>
            <a:endParaRPr lang="de-DE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876885E2-0228-8D39-FB4A-AF645FAAED27}"/>
              </a:ext>
            </a:extLst>
          </p:cNvPr>
          <p:cNvCxnSpPr>
            <a:stCxn id="5" idx="3"/>
            <a:endCxn id="15" idx="0"/>
          </p:cNvCxnSpPr>
          <p:nvPr/>
        </p:nvCxnSpPr>
        <p:spPr>
          <a:xfrm>
            <a:off x="3182801" y="967560"/>
            <a:ext cx="782039" cy="342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159BB387-3596-49DB-3180-9F5C72BC918E}"/>
              </a:ext>
            </a:extLst>
          </p:cNvPr>
          <p:cNvCxnSpPr>
            <a:cxnSpLocks/>
            <a:stCxn id="15" idx="3"/>
            <a:endCxn id="16" idx="0"/>
          </p:cNvCxnSpPr>
          <p:nvPr/>
        </p:nvCxnSpPr>
        <p:spPr>
          <a:xfrm>
            <a:off x="4338372" y="1494610"/>
            <a:ext cx="782039" cy="310634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EF07CC73-B623-6180-699D-01F7B801A38E}"/>
              </a:ext>
            </a:extLst>
          </p:cNvPr>
          <p:cNvSpPr txBox="1"/>
          <p:nvPr/>
        </p:nvSpPr>
        <p:spPr>
          <a:xfrm>
            <a:off x="3257887" y="975529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87B6F37-B082-CF8E-E872-DCCC56388373}"/>
              </a:ext>
            </a:extLst>
          </p:cNvPr>
          <p:cNvSpPr txBox="1"/>
          <p:nvPr/>
        </p:nvSpPr>
        <p:spPr>
          <a:xfrm>
            <a:off x="4353437" y="1475353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7E59800-0756-6DBC-2132-72B05BC0ABB8}"/>
              </a:ext>
            </a:extLst>
          </p:cNvPr>
          <p:cNvSpPr txBox="1"/>
          <p:nvPr/>
        </p:nvSpPr>
        <p:spPr>
          <a:xfrm>
            <a:off x="5417314" y="2049418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572FD2E-562A-373D-F317-8CD6ED9F7CFE}"/>
              </a:ext>
            </a:extLst>
          </p:cNvPr>
          <p:cNvSpPr txBox="1"/>
          <p:nvPr/>
        </p:nvSpPr>
        <p:spPr>
          <a:xfrm>
            <a:off x="5690852" y="2918566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(AZ, ALT)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TP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EB0EA23-065B-7002-558B-E89DBDB1CBD7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964840" y="1679276"/>
            <a:ext cx="0" cy="3378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4267749C-3D5D-2754-C4B5-93AB548F495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809269" y="1152226"/>
            <a:ext cx="0" cy="390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6B5EF73E-E643-19F7-866D-8941E33B55B9}"/>
              </a:ext>
            </a:extLst>
          </p:cNvPr>
          <p:cNvSpPr txBox="1"/>
          <p:nvPr/>
        </p:nvSpPr>
        <p:spPr>
          <a:xfrm>
            <a:off x="2126069" y="2840084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E4AF997E-9EBB-52D9-D1FE-5E4C0DDC5C93}"/>
              </a:ext>
            </a:extLst>
          </p:cNvPr>
          <p:cNvSpPr txBox="1"/>
          <p:nvPr/>
        </p:nvSpPr>
        <p:spPr>
          <a:xfrm>
            <a:off x="3238633" y="2840085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C85553CD-10ED-A2C8-6563-F2B52E8AA469}"/>
              </a:ext>
            </a:extLst>
          </p:cNvPr>
          <p:cNvSpPr txBox="1"/>
          <p:nvPr/>
        </p:nvSpPr>
        <p:spPr>
          <a:xfrm>
            <a:off x="4110439" y="2943852"/>
            <a:ext cx="1391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Spherical</a:t>
            </a:r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B59BCC12-B040-3752-0296-69A30D2E8850}"/>
              </a:ext>
            </a:extLst>
          </p:cNvPr>
          <p:cNvCxnSpPr>
            <a:cxnSpLocks/>
          </p:cNvCxnSpPr>
          <p:nvPr/>
        </p:nvCxnSpPr>
        <p:spPr>
          <a:xfrm>
            <a:off x="920051" y="2832899"/>
            <a:ext cx="10919359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A1B50F1E-1023-723D-D881-C1585A4E3CE6}"/>
              </a:ext>
            </a:extLst>
          </p:cNvPr>
          <p:cNvCxnSpPr>
            <a:cxnSpLocks/>
          </p:cNvCxnSpPr>
          <p:nvPr/>
        </p:nvCxnSpPr>
        <p:spPr>
          <a:xfrm>
            <a:off x="1024648" y="3671099"/>
            <a:ext cx="10112114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14975B85-943B-CD21-B67B-311AFD4FB99F}"/>
              </a:ext>
            </a:extLst>
          </p:cNvPr>
          <p:cNvCxnSpPr>
            <a:cxnSpLocks/>
          </p:cNvCxnSpPr>
          <p:nvPr/>
        </p:nvCxnSpPr>
        <p:spPr>
          <a:xfrm>
            <a:off x="1024648" y="4404524"/>
            <a:ext cx="10462502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4F6DF923-DE4F-6503-4CA3-B38A1AB3302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120411" y="2174576"/>
            <a:ext cx="0" cy="2883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6F61E636-D2CA-E9BA-A980-AC5266C4681C}"/>
              </a:ext>
            </a:extLst>
          </p:cNvPr>
          <p:cNvSpPr/>
          <p:nvPr/>
        </p:nvSpPr>
        <p:spPr>
          <a:xfrm>
            <a:off x="1978685" y="3142779"/>
            <a:ext cx="91580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LightTime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6C5FEFE1-F3F0-7E23-EB4E-0A574A027C7D}"/>
              </a:ext>
            </a:extLst>
          </p:cNvPr>
          <p:cNvSpPr/>
          <p:nvPr/>
        </p:nvSpPr>
        <p:spPr>
          <a:xfrm>
            <a:off x="1950883" y="3867801"/>
            <a:ext cx="91580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Aberration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5A60FA2E-A8F4-2A64-04ED-669F2C3D636D}"/>
              </a:ext>
            </a:extLst>
          </p:cNvPr>
          <p:cNvSpPr txBox="1"/>
          <p:nvPr/>
        </p:nvSpPr>
        <p:spPr>
          <a:xfrm>
            <a:off x="1038814" y="3064155"/>
            <a:ext cx="947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L1</a:t>
            </a:r>
          </a:p>
          <a:p>
            <a:r>
              <a:rPr lang="de-DE" dirty="0">
                <a:solidFill>
                  <a:schemeClr val="accent6"/>
                </a:solidFill>
              </a:rPr>
              <a:t>Physics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55A9B365-72BD-1824-0CD2-74B362243E9D}"/>
              </a:ext>
            </a:extLst>
          </p:cNvPr>
          <p:cNvSpPr txBox="1"/>
          <p:nvPr/>
        </p:nvSpPr>
        <p:spPr>
          <a:xfrm>
            <a:off x="1054461" y="3832025"/>
            <a:ext cx="947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L2</a:t>
            </a:r>
          </a:p>
          <a:p>
            <a:r>
              <a:rPr lang="de-DE" dirty="0">
                <a:solidFill>
                  <a:schemeClr val="accent6"/>
                </a:solidFill>
              </a:rPr>
              <a:t>Physics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D87908D0-0746-61AD-B994-3BEB71FA0D3B}"/>
              </a:ext>
            </a:extLst>
          </p:cNvPr>
          <p:cNvSpPr txBox="1"/>
          <p:nvPr/>
        </p:nvSpPr>
        <p:spPr>
          <a:xfrm>
            <a:off x="2374195" y="2186514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AF65909A-BA63-F0A7-1873-2969AB6BC75C}"/>
              </a:ext>
            </a:extLst>
          </p:cNvPr>
          <p:cNvSpPr txBox="1"/>
          <p:nvPr/>
        </p:nvSpPr>
        <p:spPr>
          <a:xfrm>
            <a:off x="3569965" y="2196870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0248DEA1-5397-F2F9-6904-1DA6EE62014B}"/>
              </a:ext>
            </a:extLst>
          </p:cNvPr>
          <p:cNvSpPr txBox="1"/>
          <p:nvPr/>
        </p:nvSpPr>
        <p:spPr>
          <a:xfrm>
            <a:off x="4288515" y="279193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C000"/>
                </a:solidFill>
              </a:rPr>
              <a:t>OBSERVER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23E21F88-EC3A-3E2A-A8C7-42AE1C2A246D}"/>
              </a:ext>
            </a:extLst>
          </p:cNvPr>
          <p:cNvSpPr txBox="1"/>
          <p:nvPr/>
        </p:nvSpPr>
        <p:spPr>
          <a:xfrm>
            <a:off x="3311311" y="219911"/>
            <a:ext cx="2258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PHYS. MEASUREMENT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EPHEM-TYPE = { VECTORS}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INSTRUMENT DIMENSION</a:t>
            </a:r>
          </a:p>
        </p:txBody>
      </p: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6C3EA3C9-50C2-2BBC-B403-3F830EC993FD}"/>
              </a:ext>
            </a:extLst>
          </p:cNvPr>
          <p:cNvCxnSpPr>
            <a:cxnSpLocks/>
          </p:cNvCxnSpPr>
          <p:nvPr/>
        </p:nvCxnSpPr>
        <p:spPr>
          <a:xfrm>
            <a:off x="3420931" y="582069"/>
            <a:ext cx="17366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feld 114">
            <a:extLst>
              <a:ext uri="{FF2B5EF4-FFF2-40B4-BE49-F238E27FC236}">
                <a16:creationId xmlns:a16="http://schemas.microsoft.com/office/drawing/2014/main" id="{E512F3F0-A9F2-3388-A2DD-0A6883ABE877}"/>
              </a:ext>
            </a:extLst>
          </p:cNvPr>
          <p:cNvSpPr txBox="1"/>
          <p:nvPr/>
        </p:nvSpPr>
        <p:spPr>
          <a:xfrm rot="16200000">
            <a:off x="-579776" y="2956433"/>
            <a:ext cx="21980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CORRECTION DIMENTION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= { NONE, LT, LT+S}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LEVEL DIMENSION</a:t>
            </a: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6AB95DB2-E41D-85AC-1E08-5741935C5DDC}"/>
              </a:ext>
            </a:extLst>
          </p:cNvPr>
          <p:cNvCxnSpPr>
            <a:cxnSpLocks/>
          </p:cNvCxnSpPr>
          <p:nvPr/>
        </p:nvCxnSpPr>
        <p:spPr>
          <a:xfrm>
            <a:off x="676278" y="2219281"/>
            <a:ext cx="0" cy="2838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B82DAE51-69B0-7529-1CEF-15A17D1C56B8}"/>
              </a:ext>
            </a:extLst>
          </p:cNvPr>
          <p:cNvGrpSpPr/>
          <p:nvPr/>
        </p:nvGrpSpPr>
        <p:grpSpPr>
          <a:xfrm>
            <a:off x="2555765" y="2392265"/>
            <a:ext cx="308098" cy="369332"/>
            <a:chOff x="7877175" y="1086127"/>
            <a:chExt cx="308098" cy="369332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EB67FA4F-AF61-9744-3FFF-36083CF8B384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4DA071F9-ABF8-10A0-4CCE-40B60A92C773}"/>
                </a:ext>
              </a:extLst>
            </p:cNvPr>
            <p:cNvSpPr txBox="1"/>
            <p:nvPr/>
          </p:nvSpPr>
          <p:spPr>
            <a:xfrm>
              <a:off x="7877175" y="108612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A8FD6A8F-45FC-8695-24A4-F5415588A031}"/>
              </a:ext>
            </a:extLst>
          </p:cNvPr>
          <p:cNvGrpSpPr/>
          <p:nvPr/>
        </p:nvGrpSpPr>
        <p:grpSpPr>
          <a:xfrm>
            <a:off x="3648928" y="2401200"/>
            <a:ext cx="308098" cy="369332"/>
            <a:chOff x="7877175" y="1094810"/>
            <a:chExt cx="308098" cy="369332"/>
          </a:xfrm>
        </p:grpSpPr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BB7322BE-68F7-5EFA-F042-9CCA5FA9317E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32A63A4C-FB57-49D9-9FE4-12A616FE2DD4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CB8E0EE4-414A-6779-E26C-B6E36FDC82C7}"/>
              </a:ext>
            </a:extLst>
          </p:cNvPr>
          <p:cNvGrpSpPr/>
          <p:nvPr/>
        </p:nvGrpSpPr>
        <p:grpSpPr>
          <a:xfrm>
            <a:off x="2510816" y="3547274"/>
            <a:ext cx="308098" cy="369332"/>
            <a:chOff x="7877175" y="1094810"/>
            <a:chExt cx="308098" cy="369332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78BAB792-D20D-AF53-261F-CC67654C4C78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20C1D5C9-848E-8B06-9AB1-776FB36B171D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grpSp>
        <p:nvGrpSpPr>
          <p:cNvPr id="162" name="Gruppieren 161">
            <a:extLst>
              <a:ext uri="{FF2B5EF4-FFF2-40B4-BE49-F238E27FC236}">
                <a16:creationId xmlns:a16="http://schemas.microsoft.com/office/drawing/2014/main" id="{19621AA1-92CD-8CCF-C46D-523289E70857}"/>
              </a:ext>
            </a:extLst>
          </p:cNvPr>
          <p:cNvGrpSpPr/>
          <p:nvPr/>
        </p:nvGrpSpPr>
        <p:grpSpPr>
          <a:xfrm>
            <a:off x="3610627" y="3518193"/>
            <a:ext cx="308098" cy="369332"/>
            <a:chOff x="7877175" y="1094810"/>
            <a:chExt cx="308098" cy="369332"/>
          </a:xfrm>
        </p:grpSpPr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B8DCC23C-AF95-09A6-A4C5-7644D1C25815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Textfeld 163">
              <a:extLst>
                <a:ext uri="{FF2B5EF4-FFF2-40B4-BE49-F238E27FC236}">
                  <a16:creationId xmlns:a16="http://schemas.microsoft.com/office/drawing/2014/main" id="{30F9288A-849F-3438-4A83-C59E921AF6D2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173" name="Gruppieren 172">
            <a:extLst>
              <a:ext uri="{FF2B5EF4-FFF2-40B4-BE49-F238E27FC236}">
                <a16:creationId xmlns:a16="http://schemas.microsoft.com/office/drawing/2014/main" id="{1E7EE234-A967-DB05-A992-E8D984C7F250}"/>
              </a:ext>
            </a:extLst>
          </p:cNvPr>
          <p:cNvGrpSpPr/>
          <p:nvPr/>
        </p:nvGrpSpPr>
        <p:grpSpPr>
          <a:xfrm>
            <a:off x="2513995" y="4282776"/>
            <a:ext cx="308098" cy="369332"/>
            <a:chOff x="7877175" y="1094810"/>
            <a:chExt cx="308098" cy="369332"/>
          </a:xfrm>
        </p:grpSpPr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E18AD599-F736-1602-75BD-A87A3E1C4421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Textfeld 174">
              <a:extLst>
                <a:ext uri="{FF2B5EF4-FFF2-40B4-BE49-F238E27FC236}">
                  <a16:creationId xmlns:a16="http://schemas.microsoft.com/office/drawing/2014/main" id="{E8A10C44-E2AF-3943-7C5E-F35DC3A88013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grpSp>
        <p:nvGrpSpPr>
          <p:cNvPr id="176" name="Gruppieren 175">
            <a:extLst>
              <a:ext uri="{FF2B5EF4-FFF2-40B4-BE49-F238E27FC236}">
                <a16:creationId xmlns:a16="http://schemas.microsoft.com/office/drawing/2014/main" id="{57146E01-3612-ED70-54FE-4E514759E82F}"/>
              </a:ext>
            </a:extLst>
          </p:cNvPr>
          <p:cNvGrpSpPr/>
          <p:nvPr/>
        </p:nvGrpSpPr>
        <p:grpSpPr>
          <a:xfrm>
            <a:off x="3548912" y="4245636"/>
            <a:ext cx="431528" cy="369332"/>
            <a:chOff x="7821297" y="1094810"/>
            <a:chExt cx="431528" cy="369332"/>
          </a:xfrm>
        </p:grpSpPr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41125253-39B4-F3FD-5960-F0A879559E27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Textfeld 177">
              <a:extLst>
                <a:ext uri="{FF2B5EF4-FFF2-40B4-BE49-F238E27FC236}">
                  <a16:creationId xmlns:a16="http://schemas.microsoft.com/office/drawing/2014/main" id="{91BF2200-BA49-CFA1-72A8-088B0F43DB92}"/>
                </a:ext>
              </a:extLst>
            </p:cNvPr>
            <p:cNvSpPr txBox="1"/>
            <p:nvPr/>
          </p:nvSpPr>
          <p:spPr>
            <a:xfrm>
              <a:off x="7821297" y="1094810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sp>
        <p:nvSpPr>
          <p:cNvPr id="202" name="Textfeld 201">
            <a:extLst>
              <a:ext uri="{FF2B5EF4-FFF2-40B4-BE49-F238E27FC236}">
                <a16:creationId xmlns:a16="http://schemas.microsoft.com/office/drawing/2014/main" id="{F2E3E2BA-A581-7D7A-4380-A4029571993C}"/>
              </a:ext>
            </a:extLst>
          </p:cNvPr>
          <p:cNvSpPr txBox="1"/>
          <p:nvPr/>
        </p:nvSpPr>
        <p:spPr>
          <a:xfrm>
            <a:off x="1006646" y="2097819"/>
            <a:ext cx="1175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L0</a:t>
            </a:r>
          </a:p>
          <a:p>
            <a:r>
              <a:rPr lang="de-DE" dirty="0">
                <a:solidFill>
                  <a:schemeClr val="accent6"/>
                </a:solidFill>
              </a:rPr>
              <a:t>Geometry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07EB7692-025F-7A5A-FAEF-15D6FFCCC5D9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493943" y="1989910"/>
            <a:ext cx="6544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D30BF442-12C4-71D9-FEEF-F3E1EC282657}"/>
              </a:ext>
            </a:extLst>
          </p:cNvPr>
          <p:cNvSpPr/>
          <p:nvPr/>
        </p:nvSpPr>
        <p:spPr>
          <a:xfrm>
            <a:off x="6141585" y="1827538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6E3A98B-8B2F-9F7C-AE35-550CF3F00F19}"/>
              </a:ext>
            </a:extLst>
          </p:cNvPr>
          <p:cNvSpPr/>
          <p:nvPr/>
        </p:nvSpPr>
        <p:spPr>
          <a:xfrm>
            <a:off x="7425202" y="1828596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3747F14-0F43-1084-AF11-339B034D41E0}"/>
              </a:ext>
            </a:extLst>
          </p:cNvPr>
          <p:cNvSpPr/>
          <p:nvPr/>
        </p:nvSpPr>
        <p:spPr>
          <a:xfrm>
            <a:off x="8708819" y="1829313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GA+Prec+Nut+Obl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EE41A5D-A9E1-B486-A10D-A9D301313B13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6973864" y="2012204"/>
            <a:ext cx="451338" cy="105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9AC8A25B-F6C0-320D-0CCC-A09B991AF3FB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8257481" y="2013262"/>
            <a:ext cx="451338" cy="71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1EAEF351-B2A6-D3F9-0B14-E82222B24E46}"/>
              </a:ext>
            </a:extLst>
          </p:cNvPr>
          <p:cNvSpPr txBox="1"/>
          <p:nvPr/>
        </p:nvSpPr>
        <p:spPr>
          <a:xfrm>
            <a:off x="7328344" y="1096970"/>
            <a:ext cx="59503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FRAME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2C00FCCC-30EB-2A54-83B3-4ED9192EDB51}"/>
              </a:ext>
            </a:extLst>
          </p:cNvPr>
          <p:cNvCxnSpPr/>
          <p:nvPr/>
        </p:nvCxnSpPr>
        <p:spPr>
          <a:xfrm>
            <a:off x="6054711" y="1358823"/>
            <a:ext cx="34618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51B4F63A-26D4-4A03-B935-D9689F8C1CF3}"/>
              </a:ext>
            </a:extLst>
          </p:cNvPr>
          <p:cNvSpPr/>
          <p:nvPr/>
        </p:nvSpPr>
        <p:spPr>
          <a:xfrm>
            <a:off x="5902449" y="2287180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accent5"/>
                </a:solidFill>
              </a:rPr>
              <a:t>Topo </a:t>
            </a:r>
            <a:r>
              <a:rPr lang="de-DE" sz="1000" dirty="0" err="1">
                <a:solidFill>
                  <a:schemeClr val="accent5"/>
                </a:solidFill>
              </a:rPr>
              <a:t>Projection</a:t>
            </a:r>
            <a:endParaRPr lang="de-DE" sz="1000" dirty="0">
              <a:solidFill>
                <a:schemeClr val="accent5"/>
              </a:solidFill>
            </a:endParaRPr>
          </a:p>
        </p:txBody>
      </p: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5FDAD847-8A0F-3FD3-36EB-57C7B6636FD2}"/>
              </a:ext>
            </a:extLst>
          </p:cNvPr>
          <p:cNvCxnSpPr>
            <a:cxnSpLocks/>
            <a:stCxn id="16" idx="2"/>
            <a:endCxn id="43" idx="1"/>
          </p:cNvCxnSpPr>
          <p:nvPr/>
        </p:nvCxnSpPr>
        <p:spPr>
          <a:xfrm rot="16200000" flipH="1">
            <a:off x="5362795" y="1932192"/>
            <a:ext cx="297270" cy="7820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Verbinder: gewinkelt 54">
            <a:extLst>
              <a:ext uri="{FF2B5EF4-FFF2-40B4-BE49-F238E27FC236}">
                <a16:creationId xmlns:a16="http://schemas.microsoft.com/office/drawing/2014/main" id="{3ED67B49-A64E-2849-B54D-775C4CC735E9}"/>
              </a:ext>
            </a:extLst>
          </p:cNvPr>
          <p:cNvCxnSpPr>
            <a:stCxn id="18" idx="3"/>
            <a:endCxn id="17" idx="0"/>
          </p:cNvCxnSpPr>
          <p:nvPr/>
        </p:nvCxnSpPr>
        <p:spPr>
          <a:xfrm>
            <a:off x="9541098" y="2013979"/>
            <a:ext cx="675033" cy="41817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A62F2F24-E414-F13A-0BF2-D6B275E70FD8}"/>
              </a:ext>
            </a:extLst>
          </p:cNvPr>
          <p:cNvSpPr txBox="1"/>
          <p:nvPr/>
        </p:nvSpPr>
        <p:spPr>
          <a:xfrm>
            <a:off x="7574639" y="6480309"/>
            <a:ext cx="2188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 </a:t>
            </a:r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 (RA,DEC)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0A8C94CA-9487-2AF9-9AA1-F214CB09B89E}"/>
              </a:ext>
            </a:extLst>
          </p:cNvPr>
          <p:cNvSpPr txBox="1"/>
          <p:nvPr/>
        </p:nvSpPr>
        <p:spPr>
          <a:xfrm>
            <a:off x="9653423" y="6473891"/>
            <a:ext cx="2185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 </a:t>
            </a:r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 (AZ, ALT)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67E49208-2FE1-FAFE-A680-99E9DB6E7E12}"/>
              </a:ext>
            </a:extLst>
          </p:cNvPr>
          <p:cNvSpPr txBox="1"/>
          <p:nvPr/>
        </p:nvSpPr>
        <p:spPr>
          <a:xfrm>
            <a:off x="8157882" y="5721307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C7A17113-47D1-D4C5-8C15-4921256A85A8}"/>
              </a:ext>
            </a:extLst>
          </p:cNvPr>
          <p:cNvSpPr txBox="1"/>
          <p:nvPr/>
        </p:nvSpPr>
        <p:spPr>
          <a:xfrm>
            <a:off x="10346725" y="5550584"/>
            <a:ext cx="12795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CENTER=coord@399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SITE_COORD=‚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lat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elevation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‘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COORD_TYPE=GEODETIC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QUANTITIES=AZ; ALT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E3F70CBD-C6DF-B521-140F-4DEF3DFDB1D0}"/>
              </a:ext>
            </a:extLst>
          </p:cNvPr>
          <p:cNvCxnSpPr>
            <a:cxnSpLocks/>
          </p:cNvCxnSpPr>
          <p:nvPr/>
        </p:nvCxnSpPr>
        <p:spPr>
          <a:xfrm>
            <a:off x="4158966" y="943185"/>
            <a:ext cx="535764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8">
            <a:extLst>
              <a:ext uri="{FF2B5EF4-FFF2-40B4-BE49-F238E27FC236}">
                <a16:creationId xmlns:a16="http://schemas.microsoft.com/office/drawing/2014/main" id="{5E612A3D-9623-B5C3-A78E-170D9006DBDE}"/>
              </a:ext>
            </a:extLst>
          </p:cNvPr>
          <p:cNvSpPr txBox="1"/>
          <p:nvPr/>
        </p:nvSpPr>
        <p:spPr>
          <a:xfrm>
            <a:off x="212921" y="5559334"/>
            <a:ext cx="30687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u="sng" dirty="0"/>
              <a:t>Legend:</a:t>
            </a:r>
          </a:p>
          <a:p>
            <a:r>
              <a:rPr lang="de-DE" sz="1200" dirty="0">
                <a:solidFill>
                  <a:schemeClr val="accent6"/>
                </a:solidFill>
              </a:rPr>
              <a:t>Grün: </a:t>
            </a:r>
            <a:r>
              <a:rPr lang="de-DE" sz="1200" dirty="0" err="1">
                <a:solidFill>
                  <a:schemeClr val="accent6"/>
                </a:solidFill>
              </a:rPr>
              <a:t>Correction</a:t>
            </a:r>
            <a:r>
              <a:rPr lang="de-DE" sz="1200" dirty="0">
                <a:solidFill>
                  <a:schemeClr val="accent6"/>
                </a:solidFill>
              </a:rPr>
              <a:t> Dimension</a:t>
            </a:r>
          </a:p>
          <a:p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Blue: Frame Dimension</a:t>
            </a:r>
          </a:p>
          <a:p>
            <a:r>
              <a:rPr lang="de-DE" sz="1200" dirty="0">
                <a:solidFill>
                  <a:srgbClr val="FF0000"/>
                </a:solidFill>
              </a:rPr>
              <a:t>Rot: </a:t>
            </a:r>
            <a:r>
              <a:rPr lang="de-DE" sz="1200" dirty="0" err="1">
                <a:solidFill>
                  <a:srgbClr val="FF0000"/>
                </a:solidFill>
              </a:rPr>
              <a:t>physical</a:t>
            </a:r>
            <a:r>
              <a:rPr lang="de-DE" sz="1200" dirty="0">
                <a:solidFill>
                  <a:srgbClr val="FF0000"/>
                </a:solidFill>
              </a:rPr>
              <a:t> Horizons Measurement Points</a:t>
            </a:r>
          </a:p>
          <a:p>
            <a:r>
              <a:rPr lang="de-DE" sz="1200" dirty="0">
                <a:solidFill>
                  <a:srgbClr val="FFC000"/>
                </a:solidFill>
              </a:rPr>
              <a:t>Gelb: </a:t>
            </a:r>
            <a:r>
              <a:rPr lang="de-DE" sz="1200" dirty="0" err="1">
                <a:solidFill>
                  <a:srgbClr val="FFC000"/>
                </a:solidFill>
              </a:rPr>
              <a:t>derived</a:t>
            </a:r>
            <a:r>
              <a:rPr lang="de-DE" sz="1200" dirty="0">
                <a:solidFill>
                  <a:srgbClr val="FFC000"/>
                </a:solidFill>
              </a:rPr>
              <a:t> Horizons Measurement Points</a:t>
            </a:r>
          </a:p>
          <a:p>
            <a:r>
              <a:rPr lang="de-DE" sz="1200" dirty="0">
                <a:solidFill>
                  <a:schemeClr val="accent5"/>
                </a:solidFill>
              </a:rPr>
              <a:t>Lila: UI Outputs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FEF63178-C16F-5FB8-C76C-63A416638A5C}"/>
              </a:ext>
            </a:extLst>
          </p:cNvPr>
          <p:cNvSpPr txBox="1"/>
          <p:nvPr/>
        </p:nvSpPr>
        <p:spPr>
          <a:xfrm>
            <a:off x="10223635" y="1387291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1007D5CE-1B8E-D538-07AD-C5C73C99B740}"/>
              </a:ext>
            </a:extLst>
          </p:cNvPr>
          <p:cNvSpPr txBox="1"/>
          <p:nvPr/>
        </p:nvSpPr>
        <p:spPr>
          <a:xfrm>
            <a:off x="10632171" y="2396133"/>
            <a:ext cx="1279517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CENTER=coord@399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SITE_COORD=‚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lat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elevation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‘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COORD_TYPE=GEODETIC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3B9D8CAC-3C2C-668A-FCDA-CC7442B73B0B}"/>
              </a:ext>
            </a:extLst>
          </p:cNvPr>
          <p:cNvSpPr txBox="1"/>
          <p:nvPr/>
        </p:nvSpPr>
        <p:spPr>
          <a:xfrm>
            <a:off x="1690447" y="1810136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rgbClr val="FF0000"/>
                </a:solidFill>
              </a:rPr>
              <a:t>VECTOR_CORR=NONE</a:t>
            </a:r>
          </a:p>
          <a:p>
            <a:r>
              <a:rPr lang="de-DE" sz="600" dirty="0">
                <a:solidFill>
                  <a:srgbClr val="FF0000"/>
                </a:solidFill>
              </a:rPr>
              <a:t>500@10</a:t>
            </a:r>
          </a:p>
          <a:p>
            <a:r>
              <a:rPr lang="de-DE" sz="600" dirty="0">
                <a:solidFill>
                  <a:srgbClr val="FF0000"/>
                </a:solidFill>
              </a:rPr>
              <a:t>EPHEM-TYPE=VECTORS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A1E5024-155B-2530-F6C4-E199BC751588}"/>
              </a:ext>
            </a:extLst>
          </p:cNvPr>
          <p:cNvSpPr txBox="1"/>
          <p:nvPr/>
        </p:nvSpPr>
        <p:spPr>
          <a:xfrm>
            <a:off x="3086573" y="1811372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500@399</a:t>
            </a:r>
          </a:p>
          <a:p>
            <a:r>
              <a:rPr lang="de-DE" dirty="0"/>
              <a:t>EPHEM-TYPE=VECTORS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99F4102A-2E89-D344-619D-FE62758E1B71}"/>
              </a:ext>
            </a:extLst>
          </p:cNvPr>
          <p:cNvSpPr txBox="1"/>
          <p:nvPr/>
        </p:nvSpPr>
        <p:spPr>
          <a:xfrm>
            <a:off x="4281299" y="2268045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>
                <a:solidFill>
                  <a:srgbClr val="FFC000"/>
                </a:solidFill>
              </a:rPr>
              <a:t>VECTOR_CORR=NONE</a:t>
            </a:r>
          </a:p>
          <a:p>
            <a:r>
              <a:rPr lang="de-DE" dirty="0">
                <a:solidFill>
                  <a:srgbClr val="FFC000"/>
                </a:solidFill>
              </a:rPr>
              <a:t>EPHEM-TYPE=OBSERVER</a:t>
            </a:r>
          </a:p>
          <a:p>
            <a:r>
              <a:rPr lang="de-DE" dirty="0" err="1">
                <a:solidFill>
                  <a:srgbClr val="FFC000"/>
                </a:solidFill>
              </a:rPr>
              <a:t>REF_System</a:t>
            </a:r>
            <a:r>
              <a:rPr lang="de-DE" dirty="0">
                <a:solidFill>
                  <a:srgbClr val="FFC000"/>
                </a:solidFill>
              </a:rPr>
              <a:t>=ICRF</a:t>
            </a:r>
          </a:p>
          <a:p>
            <a:r>
              <a:rPr lang="de-DE" dirty="0">
                <a:solidFill>
                  <a:srgbClr val="FFC000"/>
                </a:solidFill>
              </a:rPr>
              <a:t>REF_PLANE=FRAME</a:t>
            </a:r>
          </a:p>
          <a:p>
            <a:r>
              <a:rPr lang="de-DE" dirty="0">
                <a:solidFill>
                  <a:srgbClr val="FFC000"/>
                </a:solidFill>
              </a:rPr>
              <a:t>QUANTITIES=1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D1BCBFF6-23D4-E64A-AF67-240A7ECFF0B7}"/>
              </a:ext>
            </a:extLst>
          </p:cNvPr>
          <p:cNvSpPr txBox="1"/>
          <p:nvPr/>
        </p:nvSpPr>
        <p:spPr>
          <a:xfrm>
            <a:off x="6850224" y="2430301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>
                <a:solidFill>
                  <a:schemeClr val="accent5"/>
                </a:solidFill>
              </a:rPr>
              <a:t>VECTOR_CORR=NONE</a:t>
            </a:r>
          </a:p>
          <a:p>
            <a:r>
              <a:rPr lang="de-DE" dirty="0">
                <a:solidFill>
                  <a:schemeClr val="accent5"/>
                </a:solidFill>
              </a:rPr>
              <a:t>EPHEM-TYPE=OBSERVER</a:t>
            </a:r>
          </a:p>
          <a:p>
            <a:r>
              <a:rPr lang="de-DE" dirty="0" err="1">
                <a:solidFill>
                  <a:schemeClr val="accent5"/>
                </a:solidFill>
              </a:rPr>
              <a:t>REF_System</a:t>
            </a:r>
            <a:r>
              <a:rPr lang="de-DE" dirty="0">
                <a:solidFill>
                  <a:schemeClr val="accent5"/>
                </a:solidFill>
              </a:rPr>
              <a:t>=ICRF</a:t>
            </a:r>
          </a:p>
          <a:p>
            <a:r>
              <a:rPr lang="de-DE" dirty="0">
                <a:solidFill>
                  <a:schemeClr val="accent5"/>
                </a:solidFill>
              </a:rPr>
              <a:t>REF_PLANE=FRAME</a:t>
            </a:r>
          </a:p>
          <a:p>
            <a:r>
              <a:rPr lang="de-DE" dirty="0">
                <a:solidFill>
                  <a:schemeClr val="accent5"/>
                </a:solidFill>
              </a:rPr>
              <a:t>QUANTITIES=AZ;ALT</a:t>
            </a:r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1C3B5B59-2455-F59B-3B50-248AA2D14828}"/>
              </a:ext>
            </a:extLst>
          </p:cNvPr>
          <p:cNvSpPr txBox="1"/>
          <p:nvPr/>
        </p:nvSpPr>
        <p:spPr>
          <a:xfrm>
            <a:off x="5754717" y="2628040"/>
            <a:ext cx="8947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/>
                </a:solidFill>
              </a:rPr>
              <a:t>OBSERVER+</a:t>
            </a:r>
          </a:p>
        </p:txBody>
      </p:sp>
      <p:cxnSp>
        <p:nvCxnSpPr>
          <p:cNvPr id="234" name="Gerade Verbindung mit Pfeil 233">
            <a:extLst>
              <a:ext uri="{FF2B5EF4-FFF2-40B4-BE49-F238E27FC236}">
                <a16:creationId xmlns:a16="http://schemas.microsoft.com/office/drawing/2014/main" id="{240B81D6-3995-DE79-9B3A-3684D830F12A}"/>
              </a:ext>
            </a:extLst>
          </p:cNvPr>
          <p:cNvCxnSpPr>
            <a:cxnSpLocks/>
          </p:cNvCxnSpPr>
          <p:nvPr/>
        </p:nvCxnSpPr>
        <p:spPr>
          <a:xfrm flipV="1">
            <a:off x="5259565" y="580119"/>
            <a:ext cx="2505215" cy="70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feld 239">
            <a:extLst>
              <a:ext uri="{FF2B5EF4-FFF2-40B4-BE49-F238E27FC236}">
                <a16:creationId xmlns:a16="http://schemas.microsoft.com/office/drawing/2014/main" id="{73DE6E10-948F-8D0E-53EC-2BB4DB9771F3}"/>
              </a:ext>
            </a:extLst>
          </p:cNvPr>
          <p:cNvSpPr txBox="1"/>
          <p:nvPr/>
        </p:nvSpPr>
        <p:spPr>
          <a:xfrm>
            <a:off x="5420044" y="219911"/>
            <a:ext cx="24272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C000"/>
                </a:solidFill>
              </a:rPr>
              <a:t>DERIVED MEASUREMENT DIMENISION</a:t>
            </a:r>
          </a:p>
          <a:p>
            <a:r>
              <a:rPr lang="de-DE" sz="1000" b="1" dirty="0">
                <a:solidFill>
                  <a:srgbClr val="FFC000"/>
                </a:solidFill>
              </a:rPr>
              <a:t>EPHEM-TYPE = { OBSERVER}</a:t>
            </a:r>
          </a:p>
          <a:p>
            <a:endParaRPr lang="de-DE" sz="1000" b="1" dirty="0">
              <a:solidFill>
                <a:srgbClr val="FFC000"/>
              </a:solidFill>
            </a:endParaRPr>
          </a:p>
        </p:txBody>
      </p:sp>
      <p:grpSp>
        <p:nvGrpSpPr>
          <p:cNvPr id="246" name="Gruppieren 245">
            <a:extLst>
              <a:ext uri="{FF2B5EF4-FFF2-40B4-BE49-F238E27FC236}">
                <a16:creationId xmlns:a16="http://schemas.microsoft.com/office/drawing/2014/main" id="{AC6B986C-6B47-A748-62E3-E381889BF826}"/>
              </a:ext>
            </a:extLst>
          </p:cNvPr>
          <p:cNvGrpSpPr/>
          <p:nvPr/>
        </p:nvGrpSpPr>
        <p:grpSpPr>
          <a:xfrm>
            <a:off x="9790916" y="1644479"/>
            <a:ext cx="480147" cy="385178"/>
            <a:chOff x="6864273" y="4714937"/>
            <a:chExt cx="621045" cy="514285"/>
          </a:xfrm>
        </p:grpSpPr>
        <p:sp>
          <p:nvSpPr>
            <p:cNvPr id="244" name="Gleichschenkliges Dreieck 243">
              <a:extLst>
                <a:ext uri="{FF2B5EF4-FFF2-40B4-BE49-F238E27FC236}">
                  <a16:creationId xmlns:a16="http://schemas.microsoft.com/office/drawing/2014/main" id="{37CDBD93-ECDB-FCA7-023E-49B82837DF66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45" name="Textfeld 244">
              <a:extLst>
                <a:ext uri="{FF2B5EF4-FFF2-40B4-BE49-F238E27FC236}">
                  <a16:creationId xmlns:a16="http://schemas.microsoft.com/office/drawing/2014/main" id="{AE33FBB2-813C-BDEB-6ED2-482DDC563FA4}"/>
                </a:ext>
              </a:extLst>
            </p:cNvPr>
            <p:cNvSpPr txBox="1"/>
            <p:nvPr/>
          </p:nvSpPr>
          <p:spPr>
            <a:xfrm>
              <a:off x="6904745" y="4835822"/>
              <a:ext cx="431528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15</a:t>
              </a:r>
            </a:p>
          </p:txBody>
        </p:sp>
      </p:grp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73354F37-9FFF-7EAA-0848-1D93C74218D6}"/>
              </a:ext>
            </a:extLst>
          </p:cNvPr>
          <p:cNvGrpSpPr/>
          <p:nvPr/>
        </p:nvGrpSpPr>
        <p:grpSpPr>
          <a:xfrm>
            <a:off x="9745041" y="2800181"/>
            <a:ext cx="480147" cy="459870"/>
            <a:chOff x="6864273" y="4714937"/>
            <a:chExt cx="621045" cy="614013"/>
          </a:xfrm>
        </p:grpSpPr>
        <p:sp>
          <p:nvSpPr>
            <p:cNvPr id="248" name="Gleichschenkliges Dreieck 247">
              <a:extLst>
                <a:ext uri="{FF2B5EF4-FFF2-40B4-BE49-F238E27FC236}">
                  <a16:creationId xmlns:a16="http://schemas.microsoft.com/office/drawing/2014/main" id="{426C32D3-13A7-A891-065A-27EF9FCC3392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49" name="Textfeld 248">
              <a:extLst>
                <a:ext uri="{FF2B5EF4-FFF2-40B4-BE49-F238E27FC236}">
                  <a16:creationId xmlns:a16="http://schemas.microsoft.com/office/drawing/2014/main" id="{3FA9411B-939A-58B0-8A52-EF6437707D9E}"/>
                </a:ext>
              </a:extLst>
            </p:cNvPr>
            <p:cNvSpPr txBox="1"/>
            <p:nvPr/>
          </p:nvSpPr>
          <p:spPr>
            <a:xfrm>
              <a:off x="6904745" y="483582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16</a:t>
              </a:r>
            </a:p>
          </p:txBody>
        </p:sp>
      </p:grpSp>
      <p:grpSp>
        <p:nvGrpSpPr>
          <p:cNvPr id="250" name="Gruppieren 249">
            <a:extLst>
              <a:ext uri="{FF2B5EF4-FFF2-40B4-BE49-F238E27FC236}">
                <a16:creationId xmlns:a16="http://schemas.microsoft.com/office/drawing/2014/main" id="{0235019C-0DAA-1C64-8D14-CD5688BC82D8}"/>
              </a:ext>
            </a:extLst>
          </p:cNvPr>
          <p:cNvGrpSpPr/>
          <p:nvPr/>
        </p:nvGrpSpPr>
        <p:grpSpPr>
          <a:xfrm>
            <a:off x="9031851" y="5719267"/>
            <a:ext cx="480147" cy="459870"/>
            <a:chOff x="6864273" y="4714937"/>
            <a:chExt cx="621045" cy="614013"/>
          </a:xfrm>
        </p:grpSpPr>
        <p:sp>
          <p:nvSpPr>
            <p:cNvPr id="251" name="Gleichschenkliges Dreieck 250">
              <a:extLst>
                <a:ext uri="{FF2B5EF4-FFF2-40B4-BE49-F238E27FC236}">
                  <a16:creationId xmlns:a16="http://schemas.microsoft.com/office/drawing/2014/main" id="{D8B78CF2-2F6A-24C3-A9CF-6BB8E1FAED38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52" name="Textfeld 251">
              <a:extLst>
                <a:ext uri="{FF2B5EF4-FFF2-40B4-BE49-F238E27FC236}">
                  <a16:creationId xmlns:a16="http://schemas.microsoft.com/office/drawing/2014/main" id="{36175BF5-5DA4-D132-612A-0A204DE07984}"/>
                </a:ext>
              </a:extLst>
            </p:cNvPr>
            <p:cNvSpPr txBox="1"/>
            <p:nvPr/>
          </p:nvSpPr>
          <p:spPr>
            <a:xfrm>
              <a:off x="6904745" y="4835822"/>
              <a:ext cx="558158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13</a:t>
              </a:r>
            </a:p>
          </p:txBody>
        </p:sp>
      </p:grpSp>
      <p:grpSp>
        <p:nvGrpSpPr>
          <p:cNvPr id="253" name="Gruppieren 252">
            <a:extLst>
              <a:ext uri="{FF2B5EF4-FFF2-40B4-BE49-F238E27FC236}">
                <a16:creationId xmlns:a16="http://schemas.microsoft.com/office/drawing/2014/main" id="{F9F9E20F-531A-30D7-CDFB-21AE9A2893BB}"/>
              </a:ext>
            </a:extLst>
          </p:cNvPr>
          <p:cNvGrpSpPr/>
          <p:nvPr/>
        </p:nvGrpSpPr>
        <p:grpSpPr>
          <a:xfrm>
            <a:off x="9842598" y="5678950"/>
            <a:ext cx="480147" cy="459870"/>
            <a:chOff x="6864273" y="4714937"/>
            <a:chExt cx="621045" cy="614013"/>
          </a:xfrm>
        </p:grpSpPr>
        <p:sp>
          <p:nvSpPr>
            <p:cNvPr id="254" name="Gleichschenkliges Dreieck 253">
              <a:extLst>
                <a:ext uri="{FF2B5EF4-FFF2-40B4-BE49-F238E27FC236}">
                  <a16:creationId xmlns:a16="http://schemas.microsoft.com/office/drawing/2014/main" id="{CCAE0FB5-091F-76E7-E5A9-1B57E5350F19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55" name="Textfeld 254">
              <a:extLst>
                <a:ext uri="{FF2B5EF4-FFF2-40B4-BE49-F238E27FC236}">
                  <a16:creationId xmlns:a16="http://schemas.microsoft.com/office/drawing/2014/main" id="{0DE60046-DFEC-BE6E-895F-03F238FA167D}"/>
                </a:ext>
              </a:extLst>
            </p:cNvPr>
            <p:cNvSpPr txBox="1"/>
            <p:nvPr/>
          </p:nvSpPr>
          <p:spPr>
            <a:xfrm>
              <a:off x="6904745" y="483582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14</a:t>
              </a:r>
            </a:p>
          </p:txBody>
        </p:sp>
      </p:grpSp>
      <p:grpSp>
        <p:nvGrpSpPr>
          <p:cNvPr id="256" name="Gruppieren 255">
            <a:extLst>
              <a:ext uri="{FF2B5EF4-FFF2-40B4-BE49-F238E27FC236}">
                <a16:creationId xmlns:a16="http://schemas.microsoft.com/office/drawing/2014/main" id="{2E01CD82-9687-09E0-DD7F-C701655E7E8C}"/>
              </a:ext>
            </a:extLst>
          </p:cNvPr>
          <p:cNvGrpSpPr/>
          <p:nvPr/>
        </p:nvGrpSpPr>
        <p:grpSpPr>
          <a:xfrm>
            <a:off x="5317160" y="2726550"/>
            <a:ext cx="490918" cy="1920042"/>
            <a:chOff x="7688005" y="1055895"/>
            <a:chExt cx="490918" cy="1920042"/>
          </a:xfrm>
        </p:grpSpPr>
        <p:sp>
          <p:nvSpPr>
            <p:cNvPr id="257" name="Ellipse 256">
              <a:extLst>
                <a:ext uri="{FF2B5EF4-FFF2-40B4-BE49-F238E27FC236}">
                  <a16:creationId xmlns:a16="http://schemas.microsoft.com/office/drawing/2014/main" id="{C3560295-217A-B4D7-129F-08E2CF7D1AD0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8" name="Textfeld 257">
              <a:extLst>
                <a:ext uri="{FF2B5EF4-FFF2-40B4-BE49-F238E27FC236}">
                  <a16:creationId xmlns:a16="http://schemas.microsoft.com/office/drawing/2014/main" id="{B2E50E32-CB55-EB3A-03B9-27BCBC3D9B06}"/>
                </a:ext>
              </a:extLst>
            </p:cNvPr>
            <p:cNvSpPr txBox="1"/>
            <p:nvPr/>
          </p:nvSpPr>
          <p:spPr>
            <a:xfrm>
              <a:off x="7704711" y="1055895"/>
              <a:ext cx="308098" cy="369332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</a:rPr>
                <a:t>3</a:t>
              </a:r>
            </a:p>
          </p:txBody>
        </p:sp>
        <p:sp>
          <p:nvSpPr>
            <p:cNvPr id="259" name="Textfeld 258">
              <a:extLst>
                <a:ext uri="{FF2B5EF4-FFF2-40B4-BE49-F238E27FC236}">
                  <a16:creationId xmlns:a16="http://schemas.microsoft.com/office/drawing/2014/main" id="{5835A641-4EFF-1931-D03F-F5227DED87CE}"/>
                </a:ext>
              </a:extLst>
            </p:cNvPr>
            <p:cNvSpPr txBox="1"/>
            <p:nvPr/>
          </p:nvSpPr>
          <p:spPr>
            <a:xfrm>
              <a:off x="7713578" y="1842615"/>
              <a:ext cx="308098" cy="369332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</a:rPr>
                <a:t>7</a:t>
              </a:r>
            </a:p>
          </p:txBody>
        </p:sp>
        <p:sp>
          <p:nvSpPr>
            <p:cNvPr id="260" name="Textfeld 259">
              <a:extLst>
                <a:ext uri="{FF2B5EF4-FFF2-40B4-BE49-F238E27FC236}">
                  <a16:creationId xmlns:a16="http://schemas.microsoft.com/office/drawing/2014/main" id="{DC4CC033-F4D3-60B2-9831-F658EE8A7FD0}"/>
                </a:ext>
              </a:extLst>
            </p:cNvPr>
            <p:cNvSpPr txBox="1"/>
            <p:nvPr/>
          </p:nvSpPr>
          <p:spPr>
            <a:xfrm>
              <a:off x="7688005" y="2606605"/>
              <a:ext cx="431528" cy="369332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</a:rPr>
                <a:t>11</a:t>
              </a:r>
            </a:p>
          </p:txBody>
        </p:sp>
      </p:grpSp>
      <p:grpSp>
        <p:nvGrpSpPr>
          <p:cNvPr id="261" name="Gruppieren 260">
            <a:extLst>
              <a:ext uri="{FF2B5EF4-FFF2-40B4-BE49-F238E27FC236}">
                <a16:creationId xmlns:a16="http://schemas.microsoft.com/office/drawing/2014/main" id="{6174C4C5-6954-70CD-A82A-1A7CA5BD2602}"/>
              </a:ext>
            </a:extLst>
          </p:cNvPr>
          <p:cNvGrpSpPr/>
          <p:nvPr/>
        </p:nvGrpSpPr>
        <p:grpSpPr>
          <a:xfrm>
            <a:off x="6416839" y="2732706"/>
            <a:ext cx="480147" cy="402007"/>
            <a:chOff x="6864273" y="4714937"/>
            <a:chExt cx="621045" cy="536755"/>
          </a:xfrm>
        </p:grpSpPr>
        <p:sp>
          <p:nvSpPr>
            <p:cNvPr id="262" name="Gleichschenkliges Dreieck 261">
              <a:extLst>
                <a:ext uri="{FF2B5EF4-FFF2-40B4-BE49-F238E27FC236}">
                  <a16:creationId xmlns:a16="http://schemas.microsoft.com/office/drawing/2014/main" id="{E78048B9-7622-DC6C-3300-76E9D1AA83FC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3" name="Textfeld 262">
              <a:extLst>
                <a:ext uri="{FF2B5EF4-FFF2-40B4-BE49-F238E27FC236}">
                  <a16:creationId xmlns:a16="http://schemas.microsoft.com/office/drawing/2014/main" id="{AE61E07E-7BAD-E93B-1D74-5767427EF1C7}"/>
                </a:ext>
              </a:extLst>
            </p:cNvPr>
            <p:cNvSpPr txBox="1"/>
            <p:nvPr/>
          </p:nvSpPr>
          <p:spPr>
            <a:xfrm>
              <a:off x="6975168" y="4758564"/>
              <a:ext cx="39850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4</a:t>
              </a:r>
            </a:p>
          </p:txBody>
        </p:sp>
      </p:grpSp>
      <p:grpSp>
        <p:nvGrpSpPr>
          <p:cNvPr id="264" name="Gruppieren 263">
            <a:extLst>
              <a:ext uri="{FF2B5EF4-FFF2-40B4-BE49-F238E27FC236}">
                <a16:creationId xmlns:a16="http://schemas.microsoft.com/office/drawing/2014/main" id="{D035290E-36B7-05D5-3498-DFF892856C50}"/>
              </a:ext>
            </a:extLst>
          </p:cNvPr>
          <p:cNvGrpSpPr/>
          <p:nvPr/>
        </p:nvGrpSpPr>
        <p:grpSpPr>
          <a:xfrm>
            <a:off x="6401520" y="3499316"/>
            <a:ext cx="480147" cy="402007"/>
            <a:chOff x="6864273" y="4714937"/>
            <a:chExt cx="621045" cy="536755"/>
          </a:xfrm>
        </p:grpSpPr>
        <p:sp>
          <p:nvSpPr>
            <p:cNvPr id="265" name="Gleichschenkliges Dreieck 264">
              <a:extLst>
                <a:ext uri="{FF2B5EF4-FFF2-40B4-BE49-F238E27FC236}">
                  <a16:creationId xmlns:a16="http://schemas.microsoft.com/office/drawing/2014/main" id="{7B875121-FC47-1D19-8136-C462F36EC52A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6" name="Textfeld 265">
              <a:extLst>
                <a:ext uri="{FF2B5EF4-FFF2-40B4-BE49-F238E27FC236}">
                  <a16:creationId xmlns:a16="http://schemas.microsoft.com/office/drawing/2014/main" id="{424C5154-4F84-2ACA-063E-7FC199BD8FD1}"/>
                </a:ext>
              </a:extLst>
            </p:cNvPr>
            <p:cNvSpPr txBox="1"/>
            <p:nvPr/>
          </p:nvSpPr>
          <p:spPr>
            <a:xfrm>
              <a:off x="6975168" y="4758564"/>
              <a:ext cx="39850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8</a:t>
              </a:r>
            </a:p>
          </p:txBody>
        </p:sp>
      </p:grpSp>
      <p:grpSp>
        <p:nvGrpSpPr>
          <p:cNvPr id="267" name="Gruppieren 266">
            <a:extLst>
              <a:ext uri="{FF2B5EF4-FFF2-40B4-BE49-F238E27FC236}">
                <a16:creationId xmlns:a16="http://schemas.microsoft.com/office/drawing/2014/main" id="{8195080B-6A9E-25C8-6368-A2FFF93C1E0F}"/>
              </a:ext>
            </a:extLst>
          </p:cNvPr>
          <p:cNvGrpSpPr/>
          <p:nvPr/>
        </p:nvGrpSpPr>
        <p:grpSpPr>
          <a:xfrm>
            <a:off x="6413538" y="4302000"/>
            <a:ext cx="480147" cy="476527"/>
            <a:chOff x="6864273" y="4714937"/>
            <a:chExt cx="621045" cy="636253"/>
          </a:xfrm>
        </p:grpSpPr>
        <p:sp>
          <p:nvSpPr>
            <p:cNvPr id="268" name="Gleichschenkliges Dreieck 267">
              <a:extLst>
                <a:ext uri="{FF2B5EF4-FFF2-40B4-BE49-F238E27FC236}">
                  <a16:creationId xmlns:a16="http://schemas.microsoft.com/office/drawing/2014/main" id="{CD2FC6C4-8D1F-89A2-DA41-206086742FC2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9" name="Textfeld 268">
              <a:extLst>
                <a:ext uri="{FF2B5EF4-FFF2-40B4-BE49-F238E27FC236}">
                  <a16:creationId xmlns:a16="http://schemas.microsoft.com/office/drawing/2014/main" id="{801B4621-84CB-1A9E-BA3D-6C6E1E08DC62}"/>
                </a:ext>
              </a:extLst>
            </p:cNvPr>
            <p:cNvSpPr txBox="1"/>
            <p:nvPr/>
          </p:nvSpPr>
          <p:spPr>
            <a:xfrm>
              <a:off x="6885465" y="485806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12</a:t>
              </a:r>
            </a:p>
          </p:txBody>
        </p:sp>
      </p:grpSp>
      <p:sp>
        <p:nvSpPr>
          <p:cNvPr id="270" name="Textfeld 269">
            <a:extLst>
              <a:ext uri="{FF2B5EF4-FFF2-40B4-BE49-F238E27FC236}">
                <a16:creationId xmlns:a16="http://schemas.microsoft.com/office/drawing/2014/main" id="{229AF488-29EB-691B-11F9-4CEED6B9DFCC}"/>
              </a:ext>
            </a:extLst>
          </p:cNvPr>
          <p:cNvSpPr txBox="1"/>
          <p:nvPr/>
        </p:nvSpPr>
        <p:spPr>
          <a:xfrm>
            <a:off x="7866794" y="211807"/>
            <a:ext cx="26484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/>
                </a:solidFill>
              </a:rPr>
              <a:t>DERIVED MEASUREMENT DIMENISION</a:t>
            </a:r>
          </a:p>
          <a:p>
            <a:r>
              <a:rPr lang="de-DE" sz="1000" b="1" dirty="0">
                <a:solidFill>
                  <a:schemeClr val="accent5"/>
                </a:solidFill>
              </a:rPr>
              <a:t>EPHEM-TYPE = { OBSERVER} + QUANTITIES</a:t>
            </a:r>
          </a:p>
          <a:p>
            <a:endParaRPr lang="de-DE" sz="1000" b="1" dirty="0">
              <a:solidFill>
                <a:schemeClr val="accent5"/>
              </a:solidFill>
            </a:endParaRPr>
          </a:p>
        </p:txBody>
      </p:sp>
      <p:cxnSp>
        <p:nvCxnSpPr>
          <p:cNvPr id="272" name="Gerade Verbindung mit Pfeil 271">
            <a:extLst>
              <a:ext uri="{FF2B5EF4-FFF2-40B4-BE49-F238E27FC236}">
                <a16:creationId xmlns:a16="http://schemas.microsoft.com/office/drawing/2014/main" id="{CB1451C5-BF7B-4A10-8BB3-7003832F5F4B}"/>
              </a:ext>
            </a:extLst>
          </p:cNvPr>
          <p:cNvCxnSpPr>
            <a:cxnSpLocks/>
          </p:cNvCxnSpPr>
          <p:nvPr/>
        </p:nvCxnSpPr>
        <p:spPr>
          <a:xfrm>
            <a:off x="7764780" y="591804"/>
            <a:ext cx="2867490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EF069BA1-1E82-ECDE-AFA6-4A425776BBCF}"/>
              </a:ext>
            </a:extLst>
          </p:cNvPr>
          <p:cNvCxnSpPr>
            <a:cxnSpLocks/>
          </p:cNvCxnSpPr>
          <p:nvPr/>
        </p:nvCxnSpPr>
        <p:spPr>
          <a:xfrm>
            <a:off x="267486" y="5562361"/>
            <a:ext cx="562928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Rechteck 279">
            <a:extLst>
              <a:ext uri="{FF2B5EF4-FFF2-40B4-BE49-F238E27FC236}">
                <a16:creationId xmlns:a16="http://schemas.microsoft.com/office/drawing/2014/main" id="{D2F1748B-24F0-5B15-1600-E7BFB7C29D52}"/>
              </a:ext>
            </a:extLst>
          </p:cNvPr>
          <p:cNvSpPr/>
          <p:nvPr/>
        </p:nvSpPr>
        <p:spPr>
          <a:xfrm>
            <a:off x="1933133" y="5078699"/>
            <a:ext cx="92036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Not Horizons;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Later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Relativity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Parallax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Refraction</a:t>
            </a:r>
            <a:endParaRPr lang="de-DE" sz="12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7" name="Textfeld 286">
            <a:extLst>
              <a:ext uri="{FF2B5EF4-FFF2-40B4-BE49-F238E27FC236}">
                <a16:creationId xmlns:a16="http://schemas.microsoft.com/office/drawing/2014/main" id="{B4D8A679-0708-00D4-BF4F-543A7AFCDBCB}"/>
              </a:ext>
            </a:extLst>
          </p:cNvPr>
          <p:cNvSpPr txBox="1"/>
          <p:nvPr/>
        </p:nvSpPr>
        <p:spPr>
          <a:xfrm>
            <a:off x="3598850" y="5668639"/>
            <a:ext cx="184537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Boxes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Astronometria</a:t>
            </a:r>
            <a:r>
              <a:rPr lang="de-DE" sz="1200" dirty="0"/>
              <a:t> </a:t>
            </a:r>
          </a:p>
          <a:p>
            <a:r>
              <a:rPr lang="de-DE" sz="1200" dirty="0" err="1"/>
              <a:t>Algo</a:t>
            </a:r>
            <a:r>
              <a:rPr lang="de-DE" sz="1200" dirty="0"/>
              <a:t> </a:t>
            </a:r>
            <a:r>
              <a:rPr lang="de-DE" sz="1200" dirty="0" err="1"/>
              <a:t>parts</a:t>
            </a:r>
            <a:endParaRPr lang="de-DE" sz="1200" dirty="0"/>
          </a:p>
        </p:txBody>
      </p:sp>
      <p:sp>
        <p:nvSpPr>
          <p:cNvPr id="288" name="Textfeld 287">
            <a:extLst>
              <a:ext uri="{FF2B5EF4-FFF2-40B4-BE49-F238E27FC236}">
                <a16:creationId xmlns:a16="http://schemas.microsoft.com/office/drawing/2014/main" id="{F17287F8-2584-96AC-33AF-D1DB33788A92}"/>
              </a:ext>
            </a:extLst>
          </p:cNvPr>
          <p:cNvSpPr txBox="1"/>
          <p:nvPr/>
        </p:nvSpPr>
        <p:spPr>
          <a:xfrm>
            <a:off x="3595789" y="6243059"/>
            <a:ext cx="21808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Numbers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any</a:t>
            </a:r>
            <a:r>
              <a:rPr lang="de-DE" sz="1200" dirty="0"/>
              <a:t> </a:t>
            </a:r>
            <a:r>
              <a:rPr lang="de-DE" sz="1200" dirty="0" err="1"/>
              <a:t>kind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</a:p>
          <a:p>
            <a:r>
              <a:rPr lang="de-DE" sz="1200" dirty="0"/>
              <a:t>Horizons Measurement Points</a:t>
            </a:r>
          </a:p>
        </p:txBody>
      </p:sp>
      <p:sp>
        <p:nvSpPr>
          <p:cNvPr id="290" name="Rechteck 289">
            <a:extLst>
              <a:ext uri="{FF2B5EF4-FFF2-40B4-BE49-F238E27FC236}">
                <a16:creationId xmlns:a16="http://schemas.microsoft.com/office/drawing/2014/main" id="{D93CBAF3-9AC3-AB5C-499D-3790104367BD}"/>
              </a:ext>
            </a:extLst>
          </p:cNvPr>
          <p:cNvSpPr/>
          <p:nvPr/>
        </p:nvSpPr>
        <p:spPr>
          <a:xfrm>
            <a:off x="6114098" y="6275305"/>
            <a:ext cx="198587" cy="1985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1" name="Gleichschenkliges Dreieck 290">
            <a:extLst>
              <a:ext uri="{FF2B5EF4-FFF2-40B4-BE49-F238E27FC236}">
                <a16:creationId xmlns:a16="http://schemas.microsoft.com/office/drawing/2014/main" id="{D179B9A9-6B2F-81CE-E72B-5A0E0DAA4DA4}"/>
              </a:ext>
            </a:extLst>
          </p:cNvPr>
          <p:cNvSpPr/>
          <p:nvPr/>
        </p:nvSpPr>
        <p:spPr>
          <a:xfrm>
            <a:off x="6448425" y="6293270"/>
            <a:ext cx="220118" cy="189757"/>
          </a:xfrm>
          <a:prstGeom prst="triangl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92" name="Gruppieren 291">
            <a:extLst>
              <a:ext uri="{FF2B5EF4-FFF2-40B4-BE49-F238E27FC236}">
                <a16:creationId xmlns:a16="http://schemas.microsoft.com/office/drawing/2014/main" id="{8422D2DE-5825-71D9-6560-A340B12D7DED}"/>
              </a:ext>
            </a:extLst>
          </p:cNvPr>
          <p:cNvGrpSpPr/>
          <p:nvPr/>
        </p:nvGrpSpPr>
        <p:grpSpPr>
          <a:xfrm>
            <a:off x="5762467" y="6249683"/>
            <a:ext cx="219233" cy="276995"/>
            <a:chOff x="7877175" y="1094810"/>
            <a:chExt cx="301748" cy="369332"/>
          </a:xfrm>
        </p:grpSpPr>
        <p:sp>
          <p:nvSpPr>
            <p:cNvPr id="293" name="Ellipse 292">
              <a:extLst>
                <a:ext uri="{FF2B5EF4-FFF2-40B4-BE49-F238E27FC236}">
                  <a16:creationId xmlns:a16="http://schemas.microsoft.com/office/drawing/2014/main" id="{486B2506-C537-6AEE-4694-8E21F7D653DF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4" name="Textfeld 293">
              <a:extLst>
                <a:ext uri="{FF2B5EF4-FFF2-40B4-BE49-F238E27FC236}">
                  <a16:creationId xmlns:a16="http://schemas.microsoft.com/office/drawing/2014/main" id="{AB499FFA-B312-5072-5072-242A0F226786}"/>
                </a:ext>
              </a:extLst>
            </p:cNvPr>
            <p:cNvSpPr txBox="1"/>
            <p:nvPr/>
          </p:nvSpPr>
          <p:spPr>
            <a:xfrm>
              <a:off x="7877175" y="109481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de-DE" dirty="0">
                <a:solidFill>
                  <a:srgbClr val="FF0000"/>
                </a:solidFill>
              </a:endParaRPr>
            </a:p>
          </p:txBody>
        </p:sp>
      </p:grpSp>
      <p:sp>
        <p:nvSpPr>
          <p:cNvPr id="295" name="Gleichschenkliges Dreieck 294">
            <a:extLst>
              <a:ext uri="{FF2B5EF4-FFF2-40B4-BE49-F238E27FC236}">
                <a16:creationId xmlns:a16="http://schemas.microsoft.com/office/drawing/2014/main" id="{301535C2-8EC9-49C2-E28E-DE621E12786D}"/>
              </a:ext>
            </a:extLst>
          </p:cNvPr>
          <p:cNvSpPr/>
          <p:nvPr/>
        </p:nvSpPr>
        <p:spPr>
          <a:xfrm>
            <a:off x="9653423" y="10341540"/>
            <a:ext cx="220118" cy="189757"/>
          </a:xfrm>
          <a:prstGeom prst="triangl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6" name="Textfeld 295">
            <a:extLst>
              <a:ext uri="{FF2B5EF4-FFF2-40B4-BE49-F238E27FC236}">
                <a16:creationId xmlns:a16="http://schemas.microsoft.com/office/drawing/2014/main" id="{4BC8B12C-949B-3956-3806-B0DE22C52FD9}"/>
              </a:ext>
            </a:extLst>
          </p:cNvPr>
          <p:cNvSpPr txBox="1"/>
          <p:nvPr/>
        </p:nvSpPr>
        <p:spPr>
          <a:xfrm rot="18888506">
            <a:off x="255446" y="505518"/>
            <a:ext cx="1329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highlight>
                  <a:srgbClr val="FFFF00"/>
                </a:highlight>
              </a:rPr>
              <a:t>FREEZE</a:t>
            </a:r>
          </a:p>
          <a:p>
            <a:pPr algn="ctr"/>
            <a:r>
              <a:rPr lang="de-DE" dirty="0">
                <a:highlight>
                  <a:srgbClr val="FFFF00"/>
                </a:highlight>
              </a:rPr>
              <a:t>2026-03-27</a:t>
            </a:r>
          </a:p>
        </p:txBody>
      </p:sp>
    </p:spTree>
    <p:extLst>
      <p:ext uri="{BB962C8B-B14F-4D97-AF65-F5344CB8AC3E}">
        <p14:creationId xmlns:p14="http://schemas.microsoft.com/office/powerpoint/2010/main" val="3777564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FA438-44BA-DB0B-5421-21C0F959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Chapter 1: </a:t>
            </a:r>
            <a:br>
              <a:rPr lang="de-DE" dirty="0"/>
            </a:br>
            <a:r>
              <a:rPr lang="de-DE" dirty="0"/>
              <a:t>Instrument </a:t>
            </a:r>
            <a:r>
              <a:rPr lang="de-DE" dirty="0" err="1"/>
              <a:t>Specification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7F104D-5C56-B3AA-9C7D-3D8493279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(M1 Freeze)</a:t>
            </a:r>
          </a:p>
        </p:txBody>
      </p:sp>
    </p:spTree>
    <p:extLst>
      <p:ext uri="{BB962C8B-B14F-4D97-AF65-F5344CB8AC3E}">
        <p14:creationId xmlns:p14="http://schemas.microsoft.com/office/powerpoint/2010/main" val="70670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7376A4-D3B2-C466-748A-104A8009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 Idea and Instrument Scheme (M1)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E946889-44D1-E677-CD6B-B36B9B72922C}"/>
              </a:ext>
            </a:extLst>
          </p:cNvPr>
          <p:cNvSpPr txBox="1"/>
          <p:nvPr/>
        </p:nvSpPr>
        <p:spPr>
          <a:xfrm>
            <a:off x="444909" y="2005781"/>
            <a:ext cx="4805517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/>
              <a:t>An </a:t>
            </a:r>
            <a:r>
              <a:rPr lang="de-DE" b="1" dirty="0" err="1"/>
              <a:t>instrument</a:t>
            </a:r>
            <a:r>
              <a:rPr lang="de-DE" b="1" dirty="0"/>
              <a:t> </a:t>
            </a:r>
            <a:r>
              <a:rPr lang="de-DE" b="1" dirty="0" err="1"/>
              <a:t>describes</a:t>
            </a:r>
            <a:r>
              <a:rPr lang="de-DE" b="1" dirty="0"/>
              <a:t> a </a:t>
            </a:r>
            <a:r>
              <a:rPr lang="de-DE" b="1" dirty="0" err="1"/>
              <a:t>measurement</a:t>
            </a:r>
            <a:r>
              <a:rPr lang="de-DE" b="1" dirty="0"/>
              <a:t> </a:t>
            </a:r>
            <a:r>
              <a:rPr lang="de-DE" b="1" dirty="0" err="1"/>
              <a:t>completely</a:t>
            </a:r>
            <a:endParaRPr lang="de-DE" b="1" dirty="0"/>
          </a:p>
          <a:p>
            <a:endParaRPr lang="de-DE" dirty="0"/>
          </a:p>
          <a:p>
            <a:r>
              <a:rPr lang="de-DE" dirty="0"/>
              <a:t>Instrument =</a:t>
            </a:r>
          </a:p>
          <a:p>
            <a:r>
              <a:rPr lang="de-DE" dirty="0"/>
              <a:t>    Frame</a:t>
            </a:r>
          </a:p>
          <a:p>
            <a:r>
              <a:rPr lang="de-DE" dirty="0"/>
              <a:t>  + </a:t>
            </a:r>
            <a:r>
              <a:rPr lang="de-DE" dirty="0" err="1"/>
              <a:t>Corrections</a:t>
            </a:r>
            <a:endParaRPr lang="de-DE" dirty="0"/>
          </a:p>
          <a:p>
            <a:r>
              <a:rPr lang="de-DE" dirty="0"/>
              <a:t>  + </a:t>
            </a:r>
            <a:r>
              <a:rPr lang="de-DE" dirty="0" err="1"/>
              <a:t>MeasurementType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45E31E0-9E14-40C7-F529-020497FFDC25}"/>
              </a:ext>
            </a:extLst>
          </p:cNvPr>
          <p:cNvSpPr txBox="1"/>
          <p:nvPr/>
        </p:nvSpPr>
        <p:spPr>
          <a:xfrm>
            <a:off x="5742038" y="2005781"/>
            <a:ext cx="6096000" cy="4524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 err="1"/>
              <a:t>Generic</a:t>
            </a:r>
            <a:r>
              <a:rPr lang="de-DE" b="1" dirty="0"/>
              <a:t> Instrument Definition</a:t>
            </a:r>
          </a:p>
          <a:p>
            <a:endParaRPr lang="de-DE" dirty="0"/>
          </a:p>
          <a:p>
            <a:r>
              <a:rPr lang="de-DE" dirty="0"/>
              <a:t>{</a:t>
            </a:r>
          </a:p>
          <a:p>
            <a:r>
              <a:rPr lang="de-DE" dirty="0"/>
              <a:t>  "Frame": {</a:t>
            </a:r>
          </a:p>
          <a:p>
            <a:r>
              <a:rPr lang="de-DE" dirty="0"/>
              <a:t>    "Origin": "</a:t>
            </a:r>
            <a:r>
              <a:rPr lang="de-DE" dirty="0" err="1"/>
              <a:t>Heliocentric</a:t>
            </a:r>
            <a:r>
              <a:rPr lang="de-DE" dirty="0"/>
              <a:t> | </a:t>
            </a:r>
            <a:r>
              <a:rPr lang="de-DE" dirty="0" err="1"/>
              <a:t>Geocentric</a:t>
            </a:r>
            <a:r>
              <a:rPr lang="de-DE" dirty="0"/>
              <a:t> | </a:t>
            </a:r>
            <a:r>
              <a:rPr lang="de-DE" dirty="0" err="1"/>
              <a:t>Topocentric</a:t>
            </a:r>
            <a:r>
              <a:rPr lang="de-DE" dirty="0"/>
              <a:t>",</a:t>
            </a:r>
          </a:p>
          <a:p>
            <a:r>
              <a:rPr lang="de-DE" dirty="0"/>
              <a:t>    "Orientation": "</a:t>
            </a:r>
            <a:r>
              <a:rPr lang="de-DE" dirty="0" err="1"/>
              <a:t>Ecliptic</a:t>
            </a:r>
            <a:r>
              <a:rPr lang="de-DE" dirty="0"/>
              <a:t> | </a:t>
            </a:r>
            <a:r>
              <a:rPr lang="de-DE" dirty="0" err="1"/>
              <a:t>Equatorial</a:t>
            </a:r>
            <a:r>
              <a:rPr lang="de-DE" dirty="0"/>
              <a:t>",</a:t>
            </a:r>
          </a:p>
          <a:p>
            <a:r>
              <a:rPr lang="de-DE" dirty="0"/>
              <a:t>    "</a:t>
            </a:r>
            <a:r>
              <a:rPr lang="de-DE" dirty="0" err="1"/>
              <a:t>Epoch</a:t>
            </a:r>
            <a:r>
              <a:rPr lang="de-DE" dirty="0"/>
              <a:t>": "J2000 | </a:t>
            </a:r>
            <a:r>
              <a:rPr lang="de-DE" dirty="0" err="1"/>
              <a:t>OfDate</a:t>
            </a:r>
            <a:r>
              <a:rPr lang="de-DE" dirty="0"/>
              <a:t>"</a:t>
            </a:r>
          </a:p>
          <a:p>
            <a:r>
              <a:rPr lang="de-DE" dirty="0"/>
              <a:t>  },</a:t>
            </a:r>
          </a:p>
          <a:p>
            <a:r>
              <a:rPr lang="de-DE" dirty="0"/>
              <a:t>  "</a:t>
            </a:r>
            <a:r>
              <a:rPr lang="de-DE" dirty="0" err="1"/>
              <a:t>Corrections</a:t>
            </a:r>
            <a:r>
              <a:rPr lang="de-DE" dirty="0"/>
              <a:t>": {</a:t>
            </a:r>
          </a:p>
          <a:p>
            <a:r>
              <a:rPr lang="de-DE" dirty="0"/>
              <a:t>    "</a:t>
            </a:r>
            <a:r>
              <a:rPr lang="de-DE" dirty="0" err="1"/>
              <a:t>LightTime</a:t>
            </a:r>
            <a:r>
              <a:rPr lang="de-DE" dirty="0"/>
              <a:t>": </a:t>
            </a:r>
            <a:r>
              <a:rPr lang="de-DE" dirty="0" err="1"/>
              <a:t>false</a:t>
            </a:r>
            <a:r>
              <a:rPr lang="de-DE" dirty="0"/>
              <a:t>,</a:t>
            </a:r>
          </a:p>
          <a:p>
            <a:r>
              <a:rPr lang="de-DE" dirty="0"/>
              <a:t>    "Aberration": </a:t>
            </a:r>
            <a:r>
              <a:rPr lang="de-DE" dirty="0" err="1"/>
              <a:t>false</a:t>
            </a:r>
            <a:endParaRPr lang="de-DE" dirty="0"/>
          </a:p>
          <a:p>
            <a:r>
              <a:rPr lang="de-DE" dirty="0"/>
              <a:t>  },</a:t>
            </a:r>
          </a:p>
          <a:p>
            <a:r>
              <a:rPr lang="de-DE" dirty="0"/>
              <a:t>  "Measurement": {</a:t>
            </a:r>
          </a:p>
          <a:p>
            <a:r>
              <a:rPr lang="de-DE" dirty="0"/>
              <a:t>    "Type": "</a:t>
            </a:r>
            <a:r>
              <a:rPr lang="de-DE" dirty="0" err="1"/>
              <a:t>Cartesian</a:t>
            </a:r>
            <a:r>
              <a:rPr lang="de-DE" dirty="0"/>
              <a:t> | </a:t>
            </a:r>
            <a:r>
              <a:rPr lang="de-DE" dirty="0" err="1"/>
              <a:t>Spherical_RADEC</a:t>
            </a:r>
            <a:r>
              <a:rPr lang="de-DE" dirty="0"/>
              <a:t> | </a:t>
            </a:r>
            <a:r>
              <a:rPr lang="de-DE" dirty="0" err="1"/>
              <a:t>Horizontal_AZALT</a:t>
            </a:r>
            <a:r>
              <a:rPr lang="de-DE" dirty="0"/>
              <a:t>"</a:t>
            </a:r>
          </a:p>
          <a:p>
            <a:r>
              <a:rPr lang="de-DE" dirty="0"/>
              <a:t>  }</a:t>
            </a:r>
          </a:p>
          <a:p>
            <a:r>
              <a:rPr lang="de-D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0716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0F3281-D3F4-989F-706E-61B79C0FE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Mapping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diagram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E3E797C-0A68-04D9-FA59-A2E5A402B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8373"/>
            <a:ext cx="4343776" cy="1760373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40F0ADA-B7F6-A8B0-1542-AE425CF066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73"/>
          <a:stretch>
            <a:fillRect/>
          </a:stretch>
        </p:blipFill>
        <p:spPr>
          <a:xfrm>
            <a:off x="838200" y="4105506"/>
            <a:ext cx="4343776" cy="1714649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C19316F-EB6E-A99B-7948-7C3B0A3CE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794" y="1988374"/>
            <a:ext cx="4553249" cy="176037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695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6B8613-3E45-1872-B999-13FE686DF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Chapter 2: </a:t>
            </a:r>
            <a:br>
              <a:rPr lang="de-DE" dirty="0"/>
            </a:br>
            <a:r>
              <a:rPr lang="de-DE" dirty="0" err="1"/>
              <a:t>Concrete</a:t>
            </a:r>
            <a:r>
              <a:rPr lang="de-DE" dirty="0"/>
              <a:t> Instruments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45464D-F6F1-73C4-D4A0-1C2B6B5F9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Most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measurement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initial </a:t>
            </a:r>
            <a:r>
              <a:rPr lang="de-DE" dirty="0" err="1"/>
              <a:t>diagram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4296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9F86B3-B338-1838-216A-63AE9DFD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Point 1 and 2 (VECTORS, L0)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BFAED19-EF38-8D04-43AD-BC1C2BAB7DE3}"/>
              </a:ext>
            </a:extLst>
          </p:cNvPr>
          <p:cNvSpPr txBox="1"/>
          <p:nvPr/>
        </p:nvSpPr>
        <p:spPr>
          <a:xfrm>
            <a:off x="696686" y="1955470"/>
            <a:ext cx="5065485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dirty="0"/>
              <a:t>{</a:t>
            </a:r>
          </a:p>
          <a:p>
            <a:r>
              <a:rPr lang="de-DE" dirty="0"/>
              <a:t>  "Frame": {</a:t>
            </a:r>
          </a:p>
          <a:p>
            <a:r>
              <a:rPr lang="de-DE" dirty="0"/>
              <a:t>    "Origin": "</a:t>
            </a:r>
            <a:r>
              <a:rPr lang="de-DE" dirty="0" err="1"/>
              <a:t>Heliocentric</a:t>
            </a:r>
            <a:r>
              <a:rPr lang="de-DE" dirty="0"/>
              <a:t>",</a:t>
            </a:r>
          </a:p>
          <a:p>
            <a:r>
              <a:rPr lang="de-DE" dirty="0"/>
              <a:t>    "Orientation": "</a:t>
            </a:r>
            <a:r>
              <a:rPr lang="de-DE" dirty="0" err="1"/>
              <a:t>Ecliptic</a:t>
            </a:r>
            <a:r>
              <a:rPr lang="de-DE" dirty="0"/>
              <a:t>",</a:t>
            </a:r>
          </a:p>
          <a:p>
            <a:r>
              <a:rPr lang="de-DE" dirty="0"/>
              <a:t>    "</a:t>
            </a:r>
            <a:r>
              <a:rPr lang="de-DE" dirty="0" err="1"/>
              <a:t>Epoch</a:t>
            </a:r>
            <a:r>
              <a:rPr lang="de-DE" dirty="0"/>
              <a:t>": "J2000"</a:t>
            </a:r>
          </a:p>
          <a:p>
            <a:r>
              <a:rPr lang="de-DE" dirty="0"/>
              <a:t>  },</a:t>
            </a:r>
          </a:p>
          <a:p>
            <a:r>
              <a:rPr lang="de-DE" dirty="0"/>
              <a:t>  "</a:t>
            </a:r>
            <a:r>
              <a:rPr lang="de-DE" dirty="0" err="1"/>
              <a:t>Corrections</a:t>
            </a:r>
            <a:r>
              <a:rPr lang="de-DE" dirty="0"/>
              <a:t>": {</a:t>
            </a:r>
          </a:p>
          <a:p>
            <a:r>
              <a:rPr lang="de-DE" dirty="0"/>
              <a:t>    "</a:t>
            </a:r>
            <a:r>
              <a:rPr lang="de-DE" dirty="0" err="1"/>
              <a:t>LightTime</a:t>
            </a:r>
            <a:r>
              <a:rPr lang="de-DE" dirty="0"/>
              <a:t>": </a:t>
            </a:r>
            <a:r>
              <a:rPr lang="de-DE" dirty="0" err="1"/>
              <a:t>false</a:t>
            </a:r>
            <a:r>
              <a:rPr lang="de-DE" dirty="0"/>
              <a:t>,</a:t>
            </a:r>
          </a:p>
          <a:p>
            <a:r>
              <a:rPr lang="de-DE" dirty="0"/>
              <a:t>    "Aberration": </a:t>
            </a:r>
            <a:r>
              <a:rPr lang="de-DE" dirty="0" err="1"/>
              <a:t>false</a:t>
            </a:r>
            <a:endParaRPr lang="de-DE" dirty="0"/>
          </a:p>
          <a:p>
            <a:r>
              <a:rPr lang="de-DE" dirty="0"/>
              <a:t>  },</a:t>
            </a:r>
          </a:p>
          <a:p>
            <a:r>
              <a:rPr lang="de-DE" dirty="0"/>
              <a:t>  "Measurement": {</a:t>
            </a:r>
          </a:p>
          <a:p>
            <a:r>
              <a:rPr lang="de-DE" dirty="0"/>
              <a:t>    "Type": "</a:t>
            </a:r>
            <a:r>
              <a:rPr lang="de-DE" dirty="0" err="1"/>
              <a:t>Cartesian</a:t>
            </a:r>
            <a:r>
              <a:rPr lang="de-DE" dirty="0"/>
              <a:t>"</a:t>
            </a:r>
          </a:p>
          <a:p>
            <a:r>
              <a:rPr lang="de-DE" dirty="0"/>
              <a:t>  }</a:t>
            </a:r>
          </a:p>
          <a:p>
            <a:r>
              <a:rPr lang="de-DE" dirty="0"/>
              <a:t>}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402DE94-DA7F-6117-A758-8572EAE99CC2}"/>
              </a:ext>
            </a:extLst>
          </p:cNvPr>
          <p:cNvSpPr txBox="1"/>
          <p:nvPr/>
        </p:nvSpPr>
        <p:spPr>
          <a:xfrm>
            <a:off x="6705601" y="1955470"/>
            <a:ext cx="4493342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Point1: Horizons Request</a:t>
            </a:r>
          </a:p>
          <a:p>
            <a:r>
              <a:rPr lang="de-DE" dirty="0"/>
              <a:t>EPHEM_TYPE=VECTORS</a:t>
            </a:r>
          </a:p>
          <a:p>
            <a:r>
              <a:rPr lang="de-DE" dirty="0"/>
              <a:t>CENTER=500@10</a:t>
            </a:r>
          </a:p>
          <a:p>
            <a:r>
              <a:rPr lang="de-DE" dirty="0"/>
              <a:t>REF_PLANE=ECLIPTIC</a:t>
            </a:r>
          </a:p>
          <a:p>
            <a:r>
              <a:rPr lang="de-DE" dirty="0"/>
              <a:t>REF_SYSTEM=ICRF</a:t>
            </a:r>
          </a:p>
          <a:p>
            <a:r>
              <a:rPr lang="de-DE" dirty="0"/>
              <a:t>VECTOR_CORR=NONE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0AE1B34-00AB-6DDA-D3D9-B0A6E78D1A06}"/>
              </a:ext>
            </a:extLst>
          </p:cNvPr>
          <p:cNvSpPr txBox="1"/>
          <p:nvPr/>
        </p:nvSpPr>
        <p:spPr>
          <a:xfrm>
            <a:off x="6705601" y="4171462"/>
            <a:ext cx="4493342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Point2: Horizons Request</a:t>
            </a:r>
          </a:p>
          <a:p>
            <a:r>
              <a:rPr lang="de-DE" dirty="0"/>
              <a:t>EPHEM_TYPE=VECTORS</a:t>
            </a:r>
          </a:p>
          <a:p>
            <a:r>
              <a:rPr lang="de-DE" dirty="0"/>
              <a:t>CENTER=500@399</a:t>
            </a:r>
          </a:p>
          <a:p>
            <a:r>
              <a:rPr lang="de-DE" dirty="0"/>
              <a:t>REF_PLANE=ECLIPTIC</a:t>
            </a:r>
          </a:p>
          <a:p>
            <a:r>
              <a:rPr lang="de-DE" dirty="0"/>
              <a:t>REF_SYSTEM=ICRF</a:t>
            </a:r>
          </a:p>
          <a:p>
            <a:r>
              <a:rPr lang="de-DE" dirty="0"/>
              <a:t>VECTOR_CORR=NONE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2DB1B05-A30C-D46A-2D3E-CABD6A1A889F}"/>
              </a:ext>
            </a:extLst>
          </p:cNvPr>
          <p:cNvSpPr txBox="1"/>
          <p:nvPr/>
        </p:nvSpPr>
        <p:spPr>
          <a:xfrm>
            <a:off x="696686" y="6308209"/>
            <a:ext cx="4640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highlight>
                  <a:srgbClr val="FFFF00"/>
                </a:highlight>
              </a:rPr>
              <a:t>Validates</a:t>
            </a:r>
            <a:r>
              <a:rPr lang="de-DE" dirty="0">
                <a:highlight>
                  <a:srgbClr val="FFFF00"/>
                </a:highlight>
              </a:rPr>
              <a:t>: </a:t>
            </a:r>
            <a:r>
              <a:rPr lang="de-DE" dirty="0" err="1">
                <a:highlight>
                  <a:srgbClr val="FFFF00"/>
                </a:highlight>
              </a:rPr>
              <a:t>origin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transform</a:t>
            </a:r>
            <a:r>
              <a:rPr lang="de-DE" dirty="0">
                <a:highlight>
                  <a:srgbClr val="FFFF00"/>
                </a:highlight>
              </a:rPr>
              <a:t>, Earth </a:t>
            </a:r>
            <a:r>
              <a:rPr lang="de-DE" dirty="0" err="1">
                <a:highlight>
                  <a:srgbClr val="FFFF00"/>
                </a:highlight>
              </a:rPr>
              <a:t>Subtraction</a:t>
            </a:r>
            <a:endParaRPr lang="de-D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36102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DCDAB-77D9-0F1D-E6BB-5E713B0D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0798B0-5A4F-C20C-7011-D6EABE76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Punkt 3 (RA/DEC)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E783443-3423-0C64-8EB1-E3E42CDEA931}"/>
              </a:ext>
            </a:extLst>
          </p:cNvPr>
          <p:cNvSpPr txBox="1"/>
          <p:nvPr/>
        </p:nvSpPr>
        <p:spPr>
          <a:xfrm>
            <a:off x="696686" y="1955470"/>
            <a:ext cx="5065485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dirty="0"/>
              <a:t>{</a:t>
            </a:r>
          </a:p>
          <a:p>
            <a:r>
              <a:rPr lang="de-DE" dirty="0"/>
              <a:t>  "Frame": {</a:t>
            </a:r>
          </a:p>
          <a:p>
            <a:r>
              <a:rPr lang="de-DE" dirty="0"/>
              <a:t>    "Origin": "</a:t>
            </a:r>
            <a:r>
              <a:rPr lang="de-DE" dirty="0" err="1"/>
              <a:t>Geocentric</a:t>
            </a:r>
            <a:r>
              <a:rPr lang="de-DE" dirty="0"/>
              <a:t>",</a:t>
            </a:r>
          </a:p>
          <a:p>
            <a:r>
              <a:rPr lang="de-DE" dirty="0"/>
              <a:t>    "Orientation": "</a:t>
            </a:r>
            <a:r>
              <a:rPr lang="de-DE" dirty="0" err="1"/>
              <a:t>Equatorial</a:t>
            </a:r>
            <a:r>
              <a:rPr lang="de-DE" dirty="0"/>
              <a:t>",</a:t>
            </a:r>
          </a:p>
          <a:p>
            <a:r>
              <a:rPr lang="de-DE" dirty="0"/>
              <a:t>    "</a:t>
            </a:r>
            <a:r>
              <a:rPr lang="de-DE" dirty="0" err="1"/>
              <a:t>Epoch</a:t>
            </a:r>
            <a:r>
              <a:rPr lang="de-DE" dirty="0"/>
              <a:t>": "</a:t>
            </a:r>
            <a:r>
              <a:rPr lang="de-DE" dirty="0" err="1"/>
              <a:t>OfDate</a:t>
            </a:r>
            <a:r>
              <a:rPr lang="de-DE" dirty="0"/>
              <a:t>"</a:t>
            </a:r>
          </a:p>
          <a:p>
            <a:r>
              <a:rPr lang="de-DE" dirty="0"/>
              <a:t>  },</a:t>
            </a:r>
          </a:p>
          <a:p>
            <a:r>
              <a:rPr lang="de-DE" dirty="0"/>
              <a:t>  "</a:t>
            </a:r>
            <a:r>
              <a:rPr lang="de-DE" dirty="0" err="1"/>
              <a:t>Corrections</a:t>
            </a:r>
            <a:r>
              <a:rPr lang="de-DE" dirty="0"/>
              <a:t>": {</a:t>
            </a:r>
          </a:p>
          <a:p>
            <a:r>
              <a:rPr lang="de-DE" dirty="0"/>
              <a:t>    "</a:t>
            </a:r>
            <a:r>
              <a:rPr lang="de-DE" dirty="0" err="1"/>
              <a:t>LightTime</a:t>
            </a:r>
            <a:r>
              <a:rPr lang="de-DE" dirty="0"/>
              <a:t>": </a:t>
            </a:r>
            <a:r>
              <a:rPr lang="de-DE" dirty="0" err="1"/>
              <a:t>false</a:t>
            </a:r>
            <a:r>
              <a:rPr lang="de-DE" dirty="0"/>
              <a:t>,</a:t>
            </a:r>
          </a:p>
          <a:p>
            <a:r>
              <a:rPr lang="de-DE" dirty="0"/>
              <a:t>    "Aberration": </a:t>
            </a:r>
            <a:r>
              <a:rPr lang="de-DE" dirty="0" err="1"/>
              <a:t>false</a:t>
            </a:r>
            <a:endParaRPr lang="de-DE" dirty="0"/>
          </a:p>
          <a:p>
            <a:r>
              <a:rPr lang="de-DE" dirty="0"/>
              <a:t>  },</a:t>
            </a:r>
          </a:p>
          <a:p>
            <a:r>
              <a:rPr lang="de-DE" dirty="0"/>
              <a:t>  "Measurement": {</a:t>
            </a:r>
          </a:p>
          <a:p>
            <a:r>
              <a:rPr lang="de-DE" dirty="0"/>
              <a:t>    "Type": "</a:t>
            </a:r>
            <a:r>
              <a:rPr lang="de-DE" dirty="0" err="1"/>
              <a:t>Spherical_RADEC</a:t>
            </a:r>
            <a:r>
              <a:rPr lang="de-DE" dirty="0"/>
              <a:t>"</a:t>
            </a:r>
          </a:p>
          <a:p>
            <a:r>
              <a:rPr lang="de-DE" dirty="0"/>
              <a:t>  }</a:t>
            </a:r>
          </a:p>
          <a:p>
            <a:r>
              <a:rPr lang="de-DE" dirty="0"/>
              <a:t>}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E2000EB-86B7-CA71-1DF0-5875ACCC2935}"/>
              </a:ext>
            </a:extLst>
          </p:cNvPr>
          <p:cNvSpPr txBox="1"/>
          <p:nvPr/>
        </p:nvSpPr>
        <p:spPr>
          <a:xfrm>
            <a:off x="696686" y="6308209"/>
            <a:ext cx="909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highlight>
                  <a:srgbClr val="FFFF00"/>
                </a:highlight>
              </a:rPr>
              <a:t>Validates</a:t>
            </a:r>
            <a:r>
              <a:rPr lang="de-DE" dirty="0">
                <a:highlight>
                  <a:srgbClr val="FFFF00"/>
                </a:highlight>
              </a:rPr>
              <a:t>: </a:t>
            </a:r>
            <a:r>
              <a:rPr lang="de-DE" dirty="0" err="1">
                <a:highlight>
                  <a:srgbClr val="FFFF00"/>
                </a:highlight>
              </a:rPr>
              <a:t>complete</a:t>
            </a:r>
            <a:r>
              <a:rPr lang="de-DE" dirty="0">
                <a:highlight>
                  <a:srgbClr val="FFFF00"/>
                </a:highlight>
              </a:rPr>
              <a:t> Frame Pipeline </a:t>
            </a:r>
            <a:r>
              <a:rPr lang="de-DE" dirty="0">
                <a:highlight>
                  <a:srgbClr val="FFFF00"/>
                </a:highlight>
                <a:sym typeface="Wingdings" panose="05000000000000000000" pitchFamily="2" charset="2"/>
              </a:rPr>
              <a:t> VSOP -&gt; HE -&gt; GE -&gt; GA -&gt; RA/DEC in J2000/ </a:t>
            </a:r>
            <a:r>
              <a:rPr lang="de-DE" dirty="0" err="1">
                <a:highlight>
                  <a:srgbClr val="FFFF00"/>
                </a:highlight>
                <a:sym typeface="Wingdings" panose="05000000000000000000" pitchFamily="2" charset="2"/>
              </a:rPr>
              <a:t>of</a:t>
            </a:r>
            <a:r>
              <a:rPr lang="de-DE" dirty="0">
                <a:highlight>
                  <a:srgbClr val="FFFF00"/>
                </a:highlight>
                <a:sym typeface="Wingdings" panose="05000000000000000000" pitchFamily="2" charset="2"/>
              </a:rPr>
              <a:t> date</a:t>
            </a:r>
            <a:endParaRPr lang="de-DE" dirty="0">
              <a:highlight>
                <a:srgbClr val="FFFF00"/>
              </a:highlight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B59F639-A980-F365-1E65-779B7554070A}"/>
              </a:ext>
            </a:extLst>
          </p:cNvPr>
          <p:cNvSpPr txBox="1"/>
          <p:nvPr/>
        </p:nvSpPr>
        <p:spPr>
          <a:xfrm>
            <a:off x="6705601" y="1955470"/>
            <a:ext cx="449334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Point3: Horizons Request</a:t>
            </a:r>
          </a:p>
          <a:p>
            <a:r>
              <a:rPr lang="de-DE" dirty="0"/>
              <a:t>EPHEM_TYPE=OBSERVER</a:t>
            </a:r>
          </a:p>
          <a:p>
            <a:r>
              <a:rPr lang="de-DE" dirty="0"/>
              <a:t>CENTER=500@399</a:t>
            </a:r>
          </a:p>
          <a:p>
            <a:r>
              <a:rPr lang="de-DE" dirty="0"/>
              <a:t>REF_PLANE=FRAME</a:t>
            </a:r>
          </a:p>
          <a:p>
            <a:r>
              <a:rPr lang="de-DE" dirty="0"/>
              <a:t>REF_SYSTEM=ICRF</a:t>
            </a:r>
          </a:p>
          <a:p>
            <a:r>
              <a:rPr lang="de-DE" dirty="0"/>
              <a:t>QUANTITIES=1   (RA,DEC)</a:t>
            </a:r>
          </a:p>
          <a:p>
            <a:r>
              <a:rPr lang="de-DE" dirty="0"/>
              <a:t>VECTOR_CORR=NONE</a:t>
            </a:r>
          </a:p>
        </p:txBody>
      </p:sp>
    </p:spTree>
    <p:extLst>
      <p:ext uri="{BB962C8B-B14F-4D97-AF65-F5344CB8AC3E}">
        <p14:creationId xmlns:p14="http://schemas.microsoft.com/office/powerpoint/2010/main" val="326732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827AA-BFEF-662E-78B1-8756DBFA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CFFA97-A88A-E58A-9937-0EB1427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Point 4 (AZ/ALT, </a:t>
            </a:r>
            <a:r>
              <a:rPr lang="de-DE" dirty="0" err="1"/>
              <a:t>Topocentric</a:t>
            </a:r>
            <a:r>
              <a:rPr lang="de-DE" dirty="0"/>
              <a:t>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99E0E61-ECBE-84B7-D5BE-3A0DB9B98DFC}"/>
              </a:ext>
            </a:extLst>
          </p:cNvPr>
          <p:cNvSpPr txBox="1"/>
          <p:nvPr/>
        </p:nvSpPr>
        <p:spPr>
          <a:xfrm>
            <a:off x="696686" y="1955470"/>
            <a:ext cx="5065485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dirty="0"/>
              <a:t>{</a:t>
            </a:r>
          </a:p>
          <a:p>
            <a:r>
              <a:rPr lang="de-DE" dirty="0"/>
              <a:t>  "Frame": {</a:t>
            </a:r>
          </a:p>
          <a:p>
            <a:r>
              <a:rPr lang="de-DE" dirty="0"/>
              <a:t>    "Origin": "</a:t>
            </a:r>
            <a:r>
              <a:rPr lang="de-DE" dirty="0" err="1"/>
              <a:t>Topocentric</a:t>
            </a:r>
            <a:r>
              <a:rPr lang="de-DE" dirty="0"/>
              <a:t>",</a:t>
            </a:r>
          </a:p>
          <a:p>
            <a:r>
              <a:rPr lang="de-DE" dirty="0"/>
              <a:t>    "Orientation": "Horizontal",</a:t>
            </a:r>
          </a:p>
          <a:p>
            <a:r>
              <a:rPr lang="de-DE" dirty="0"/>
              <a:t>    "</a:t>
            </a:r>
            <a:r>
              <a:rPr lang="de-DE" dirty="0" err="1"/>
              <a:t>Epoch</a:t>
            </a:r>
            <a:r>
              <a:rPr lang="de-DE" dirty="0"/>
              <a:t>": "</a:t>
            </a:r>
            <a:r>
              <a:rPr lang="de-DE" dirty="0" err="1"/>
              <a:t>OfDate</a:t>
            </a:r>
            <a:r>
              <a:rPr lang="de-DE" dirty="0"/>
              <a:t>"</a:t>
            </a:r>
          </a:p>
          <a:p>
            <a:r>
              <a:rPr lang="de-DE" dirty="0"/>
              <a:t>  },</a:t>
            </a:r>
          </a:p>
          <a:p>
            <a:r>
              <a:rPr lang="de-DE" dirty="0"/>
              <a:t>  "</a:t>
            </a:r>
            <a:r>
              <a:rPr lang="de-DE" dirty="0" err="1"/>
              <a:t>Corrections</a:t>
            </a:r>
            <a:r>
              <a:rPr lang="de-DE" dirty="0"/>
              <a:t>": {</a:t>
            </a:r>
          </a:p>
          <a:p>
            <a:r>
              <a:rPr lang="de-DE" dirty="0"/>
              <a:t>    "</a:t>
            </a:r>
            <a:r>
              <a:rPr lang="de-DE" dirty="0" err="1"/>
              <a:t>LightTime</a:t>
            </a:r>
            <a:r>
              <a:rPr lang="de-DE" dirty="0"/>
              <a:t>": </a:t>
            </a:r>
            <a:r>
              <a:rPr lang="de-DE" dirty="0" err="1"/>
              <a:t>false</a:t>
            </a:r>
            <a:r>
              <a:rPr lang="de-DE" dirty="0"/>
              <a:t>,</a:t>
            </a:r>
          </a:p>
          <a:p>
            <a:r>
              <a:rPr lang="de-DE" dirty="0"/>
              <a:t>    "Aberration": </a:t>
            </a:r>
            <a:r>
              <a:rPr lang="de-DE" dirty="0" err="1"/>
              <a:t>false</a:t>
            </a:r>
            <a:endParaRPr lang="de-DE" dirty="0"/>
          </a:p>
          <a:p>
            <a:r>
              <a:rPr lang="de-DE" dirty="0"/>
              <a:t>  },</a:t>
            </a:r>
          </a:p>
          <a:p>
            <a:r>
              <a:rPr lang="de-DE" dirty="0"/>
              <a:t>  "Measurement": {</a:t>
            </a:r>
          </a:p>
          <a:p>
            <a:r>
              <a:rPr lang="de-DE" dirty="0"/>
              <a:t>    "Type": "</a:t>
            </a:r>
            <a:r>
              <a:rPr lang="de-DE" dirty="0" err="1"/>
              <a:t>Horizontal_AZALT</a:t>
            </a:r>
            <a:r>
              <a:rPr lang="de-DE" dirty="0"/>
              <a:t>"</a:t>
            </a:r>
          </a:p>
          <a:p>
            <a:r>
              <a:rPr lang="de-DE" dirty="0"/>
              <a:t>  }</a:t>
            </a:r>
          </a:p>
          <a:p>
            <a:r>
              <a:rPr lang="de-DE" dirty="0"/>
              <a:t>}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D8F6766-A5CB-5C4A-E05A-D645EECDCA97}"/>
              </a:ext>
            </a:extLst>
          </p:cNvPr>
          <p:cNvSpPr txBox="1"/>
          <p:nvPr/>
        </p:nvSpPr>
        <p:spPr>
          <a:xfrm>
            <a:off x="6705601" y="1955470"/>
            <a:ext cx="4493342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Punkt4: Horizons Request</a:t>
            </a:r>
          </a:p>
          <a:p>
            <a:r>
              <a:rPr lang="de-DE" dirty="0"/>
              <a:t>EPHEM_TYPE=OBSERVER</a:t>
            </a:r>
          </a:p>
          <a:p>
            <a:r>
              <a:rPr lang="de-DE" dirty="0"/>
              <a:t>CENTER=coord@399</a:t>
            </a:r>
          </a:p>
          <a:p>
            <a:r>
              <a:rPr lang="de-DE" dirty="0"/>
              <a:t>SITE_COORD=</a:t>
            </a:r>
            <a:r>
              <a:rPr lang="de-DE" dirty="0" err="1"/>
              <a:t>lat,lon,elev</a:t>
            </a:r>
            <a:endParaRPr lang="de-DE" dirty="0"/>
          </a:p>
          <a:p>
            <a:r>
              <a:rPr lang="de-DE" dirty="0"/>
              <a:t>COORD_TYPE=GEODETIC</a:t>
            </a:r>
          </a:p>
          <a:p>
            <a:r>
              <a:rPr lang="de-DE" dirty="0"/>
              <a:t>REF_PLANE=FRAME</a:t>
            </a:r>
          </a:p>
          <a:p>
            <a:r>
              <a:rPr lang="de-DE" dirty="0"/>
              <a:t>REF_SYSTEM=ICRF</a:t>
            </a:r>
          </a:p>
          <a:p>
            <a:r>
              <a:rPr lang="de-DE" dirty="0"/>
              <a:t>QUANTITIES=AZ;ALT</a:t>
            </a:r>
          </a:p>
          <a:p>
            <a:r>
              <a:rPr lang="de-DE" dirty="0"/>
              <a:t>VECTOR_CORR=NONE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39F63DD-BCE2-C826-73B8-75B938F2872C}"/>
              </a:ext>
            </a:extLst>
          </p:cNvPr>
          <p:cNvSpPr txBox="1"/>
          <p:nvPr/>
        </p:nvSpPr>
        <p:spPr>
          <a:xfrm>
            <a:off x="696686" y="6308209"/>
            <a:ext cx="573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highlight>
                  <a:srgbClr val="FFFF00"/>
                </a:highlight>
              </a:rPr>
              <a:t>Validates</a:t>
            </a:r>
            <a:r>
              <a:rPr lang="de-DE" dirty="0">
                <a:highlight>
                  <a:srgbClr val="FFFF00"/>
                </a:highlight>
              </a:rPr>
              <a:t>: Topo </a:t>
            </a:r>
            <a:r>
              <a:rPr lang="de-DE" dirty="0" err="1">
                <a:highlight>
                  <a:srgbClr val="FFFF00"/>
                </a:highlight>
              </a:rPr>
              <a:t>Projectsoin</a:t>
            </a:r>
            <a:r>
              <a:rPr lang="de-DE" dirty="0">
                <a:highlight>
                  <a:srgbClr val="FFFF00"/>
                </a:highlight>
              </a:rPr>
              <a:t>, </a:t>
            </a:r>
            <a:r>
              <a:rPr lang="de-DE" dirty="0" err="1">
                <a:highlight>
                  <a:srgbClr val="FFFF00"/>
                </a:highlight>
              </a:rPr>
              <a:t>complete</a:t>
            </a:r>
            <a:r>
              <a:rPr lang="de-DE" dirty="0">
                <a:highlight>
                  <a:srgbClr val="FFFF00"/>
                </a:highlight>
              </a:rPr>
              <a:t> Observer </a:t>
            </a:r>
            <a:r>
              <a:rPr lang="de-DE" dirty="0" err="1">
                <a:highlight>
                  <a:srgbClr val="FFFF00"/>
                </a:highlight>
              </a:rPr>
              <a:t>pipeline</a:t>
            </a:r>
            <a:endParaRPr lang="de-D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01290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BBD6FA-1586-8C94-6EAC-C4C0AB4C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Points 5, 6 – same </a:t>
            </a:r>
            <a:r>
              <a:rPr lang="de-DE" dirty="0" err="1"/>
              <a:t>measurement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L0 but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9CB17FF-FD9E-85C1-8DA0-C9A76814990F}"/>
              </a:ext>
            </a:extLst>
          </p:cNvPr>
          <p:cNvSpPr txBox="1"/>
          <p:nvPr/>
        </p:nvSpPr>
        <p:spPr>
          <a:xfrm>
            <a:off x="6705601" y="1955470"/>
            <a:ext cx="4493342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Points 5, 6: Horizons Request</a:t>
            </a:r>
          </a:p>
          <a:p>
            <a:r>
              <a:rPr lang="de-DE" dirty="0"/>
              <a:t>EPHEM_TYPE=VECTORS</a:t>
            </a:r>
          </a:p>
          <a:p>
            <a:r>
              <a:rPr lang="de-DE" dirty="0"/>
              <a:t>CENTER=500@399</a:t>
            </a:r>
          </a:p>
          <a:p>
            <a:r>
              <a:rPr lang="de-DE" dirty="0"/>
              <a:t>VECTOR_CORR=LT</a:t>
            </a:r>
          </a:p>
          <a:p>
            <a:r>
              <a:rPr lang="de-DE" dirty="0"/>
              <a:t>REF_PLANE=ECLIPTIC</a:t>
            </a:r>
          </a:p>
          <a:p>
            <a:r>
              <a:rPr lang="de-DE" dirty="0"/>
              <a:t>REF_SYSTEM=ICRF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AB35B1-E7B9-0E3C-A536-B5BC59449C78}"/>
              </a:ext>
            </a:extLst>
          </p:cNvPr>
          <p:cNvSpPr txBox="1"/>
          <p:nvPr/>
        </p:nvSpPr>
        <p:spPr>
          <a:xfrm>
            <a:off x="696686" y="6308209"/>
            <a:ext cx="386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highlight>
                  <a:srgbClr val="FFFF00"/>
                </a:highlight>
              </a:rPr>
              <a:t>Validates</a:t>
            </a:r>
            <a:r>
              <a:rPr lang="de-DE" dirty="0">
                <a:highlight>
                  <a:srgbClr val="FFFF00"/>
                </a:highlight>
              </a:rPr>
              <a:t>: Light Time Implementation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FC0E72A-7EE4-BC45-00AC-F3398BE732F9}"/>
              </a:ext>
            </a:extLst>
          </p:cNvPr>
          <p:cNvSpPr txBox="1"/>
          <p:nvPr/>
        </p:nvSpPr>
        <p:spPr>
          <a:xfrm>
            <a:off x="696686" y="1955470"/>
            <a:ext cx="5065485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dirty="0"/>
              <a:t>{</a:t>
            </a:r>
          </a:p>
          <a:p>
            <a:r>
              <a:rPr lang="de-DE" dirty="0"/>
              <a:t>  "Frame": {</a:t>
            </a:r>
          </a:p>
          <a:p>
            <a:r>
              <a:rPr lang="de-DE" dirty="0"/>
              <a:t>    "Origin": "</a:t>
            </a:r>
            <a:r>
              <a:rPr lang="de-DE" dirty="0" err="1"/>
              <a:t>Heliocentric</a:t>
            </a:r>
            <a:r>
              <a:rPr lang="de-DE" dirty="0"/>
              <a:t>",</a:t>
            </a:r>
          </a:p>
          <a:p>
            <a:r>
              <a:rPr lang="de-DE" dirty="0"/>
              <a:t>    "Orientation": "</a:t>
            </a:r>
            <a:r>
              <a:rPr lang="de-DE" dirty="0" err="1"/>
              <a:t>Eclitic</a:t>
            </a:r>
            <a:r>
              <a:rPr lang="de-DE" dirty="0"/>
              <a:t>",</a:t>
            </a:r>
          </a:p>
          <a:p>
            <a:r>
              <a:rPr lang="de-DE" dirty="0"/>
              <a:t>    "</a:t>
            </a:r>
            <a:r>
              <a:rPr lang="de-DE" dirty="0" err="1"/>
              <a:t>Epoch</a:t>
            </a:r>
            <a:r>
              <a:rPr lang="de-DE" dirty="0"/>
              <a:t>": "J2000"</a:t>
            </a:r>
          </a:p>
          <a:p>
            <a:r>
              <a:rPr lang="de-DE" dirty="0"/>
              <a:t>  },</a:t>
            </a:r>
          </a:p>
          <a:p>
            <a:r>
              <a:rPr lang="de-DE" dirty="0"/>
              <a:t>  "</a:t>
            </a:r>
            <a:r>
              <a:rPr lang="de-DE" dirty="0" err="1"/>
              <a:t>Corrections</a:t>
            </a:r>
            <a:r>
              <a:rPr lang="de-DE" dirty="0"/>
              <a:t>": {</a:t>
            </a:r>
          </a:p>
          <a:p>
            <a:r>
              <a:rPr lang="de-DE" dirty="0"/>
              <a:t>    "</a:t>
            </a:r>
            <a:r>
              <a:rPr lang="de-DE" dirty="0" err="1"/>
              <a:t>LightTime</a:t>
            </a:r>
            <a:r>
              <a:rPr lang="de-DE" dirty="0"/>
              <a:t>": </a:t>
            </a:r>
            <a:r>
              <a:rPr lang="de-DE" dirty="0" err="1"/>
              <a:t>true</a:t>
            </a:r>
            <a:r>
              <a:rPr lang="de-DE" dirty="0"/>
              <a:t>,</a:t>
            </a:r>
          </a:p>
          <a:p>
            <a:r>
              <a:rPr lang="de-DE" dirty="0"/>
              <a:t>    "Aberration": </a:t>
            </a:r>
            <a:r>
              <a:rPr lang="de-DE" dirty="0" err="1"/>
              <a:t>false</a:t>
            </a:r>
            <a:endParaRPr lang="de-DE" dirty="0"/>
          </a:p>
          <a:p>
            <a:r>
              <a:rPr lang="de-DE" dirty="0"/>
              <a:t>  },</a:t>
            </a:r>
          </a:p>
          <a:p>
            <a:r>
              <a:rPr lang="de-DE" dirty="0"/>
              <a:t>  "Measurement": {</a:t>
            </a:r>
          </a:p>
          <a:p>
            <a:r>
              <a:rPr lang="de-DE" dirty="0"/>
              <a:t>    "Type": "</a:t>
            </a:r>
            <a:r>
              <a:rPr lang="de-DE" dirty="0" err="1"/>
              <a:t>Cartesian</a:t>
            </a:r>
            <a:r>
              <a:rPr lang="de-DE" dirty="0"/>
              <a:t>"</a:t>
            </a:r>
          </a:p>
          <a:p>
            <a:r>
              <a:rPr lang="de-DE" dirty="0"/>
              <a:t>  }</a:t>
            </a:r>
          </a:p>
          <a:p>
            <a:r>
              <a:rPr lang="de-D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37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7FF17-0940-3D3D-772C-4391CD651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4C5924-171B-EEBF-085F-E43557B77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Point 7 – same </a:t>
            </a:r>
            <a:r>
              <a:rPr lang="de-DE" dirty="0" err="1"/>
              <a:t>measurement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L0 but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AD13F56-5F85-7B2D-7501-57F101C84689}"/>
              </a:ext>
            </a:extLst>
          </p:cNvPr>
          <p:cNvSpPr txBox="1"/>
          <p:nvPr/>
        </p:nvSpPr>
        <p:spPr>
          <a:xfrm>
            <a:off x="6705601" y="1955470"/>
            <a:ext cx="449334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Point 7: Horizons Request</a:t>
            </a:r>
          </a:p>
          <a:p>
            <a:r>
              <a:rPr lang="de-DE" dirty="0"/>
              <a:t>EPHEM_TYPE=VECTORS</a:t>
            </a:r>
          </a:p>
          <a:p>
            <a:r>
              <a:rPr lang="de-DE" dirty="0"/>
              <a:t>CENTER=500@399</a:t>
            </a:r>
          </a:p>
          <a:p>
            <a:r>
              <a:rPr lang="de-DE" dirty="0"/>
              <a:t>REF_PLANE=FRAME</a:t>
            </a:r>
          </a:p>
          <a:p>
            <a:r>
              <a:rPr lang="de-DE" dirty="0"/>
              <a:t>REF_SYSTEM=ICRF</a:t>
            </a:r>
          </a:p>
          <a:p>
            <a:r>
              <a:rPr lang="de-DE" dirty="0"/>
              <a:t>QUANTITIES=1   (RA,DEC)</a:t>
            </a:r>
          </a:p>
          <a:p>
            <a:r>
              <a:rPr lang="de-DE" dirty="0"/>
              <a:t>VECTOR_CORR=LT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E88C7C9-F24C-7D29-DF2E-CAE48444A82C}"/>
              </a:ext>
            </a:extLst>
          </p:cNvPr>
          <p:cNvSpPr txBox="1"/>
          <p:nvPr/>
        </p:nvSpPr>
        <p:spPr>
          <a:xfrm>
            <a:off x="696686" y="6308209"/>
            <a:ext cx="386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highlight>
                  <a:srgbClr val="FFFF00"/>
                </a:highlight>
              </a:rPr>
              <a:t>Validates</a:t>
            </a:r>
            <a:r>
              <a:rPr lang="de-DE" dirty="0">
                <a:highlight>
                  <a:srgbClr val="FFFF00"/>
                </a:highlight>
              </a:rPr>
              <a:t>: Light Time Implementation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7E3549C-FDB4-F773-96E0-F849106D2A69}"/>
              </a:ext>
            </a:extLst>
          </p:cNvPr>
          <p:cNvSpPr txBox="1"/>
          <p:nvPr/>
        </p:nvSpPr>
        <p:spPr>
          <a:xfrm>
            <a:off x="696686" y="1955470"/>
            <a:ext cx="5074849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dirty="0"/>
              <a:t>{</a:t>
            </a:r>
          </a:p>
          <a:p>
            <a:r>
              <a:rPr lang="de-DE" dirty="0"/>
              <a:t>  "Frame": {</a:t>
            </a:r>
          </a:p>
          <a:p>
            <a:r>
              <a:rPr lang="de-DE" dirty="0"/>
              <a:t>    "Origin": "</a:t>
            </a:r>
            <a:r>
              <a:rPr lang="de-DE" dirty="0" err="1"/>
              <a:t>Geocentric</a:t>
            </a:r>
            <a:r>
              <a:rPr lang="de-DE" dirty="0"/>
              <a:t>",</a:t>
            </a:r>
          </a:p>
          <a:p>
            <a:r>
              <a:rPr lang="de-DE" dirty="0"/>
              <a:t>    "Orientation": "</a:t>
            </a:r>
            <a:r>
              <a:rPr lang="de-DE" dirty="0" err="1"/>
              <a:t>Equatorial</a:t>
            </a:r>
            <a:r>
              <a:rPr lang="de-DE" dirty="0"/>
              <a:t>",</a:t>
            </a:r>
          </a:p>
          <a:p>
            <a:r>
              <a:rPr lang="de-DE" dirty="0"/>
              <a:t>    "</a:t>
            </a:r>
            <a:r>
              <a:rPr lang="de-DE" dirty="0" err="1"/>
              <a:t>Epoch</a:t>
            </a:r>
            <a:r>
              <a:rPr lang="de-DE" dirty="0"/>
              <a:t>": "</a:t>
            </a:r>
            <a:r>
              <a:rPr lang="de-DE" dirty="0" err="1"/>
              <a:t>OfDate</a:t>
            </a:r>
            <a:r>
              <a:rPr lang="de-DE" dirty="0"/>
              <a:t>"</a:t>
            </a:r>
          </a:p>
          <a:p>
            <a:r>
              <a:rPr lang="de-DE" dirty="0"/>
              <a:t>  },</a:t>
            </a:r>
          </a:p>
          <a:p>
            <a:r>
              <a:rPr lang="de-DE" dirty="0"/>
              <a:t>  "</a:t>
            </a:r>
            <a:r>
              <a:rPr lang="de-DE" dirty="0" err="1"/>
              <a:t>Corrections</a:t>
            </a:r>
            <a:r>
              <a:rPr lang="de-DE" dirty="0"/>
              <a:t>": {</a:t>
            </a:r>
          </a:p>
          <a:p>
            <a:r>
              <a:rPr lang="de-DE" dirty="0"/>
              <a:t>    "</a:t>
            </a:r>
            <a:r>
              <a:rPr lang="de-DE" dirty="0" err="1"/>
              <a:t>LightTime</a:t>
            </a:r>
            <a:r>
              <a:rPr lang="de-DE" dirty="0"/>
              <a:t>": </a:t>
            </a:r>
            <a:r>
              <a:rPr lang="de-DE" dirty="0" err="1"/>
              <a:t>true</a:t>
            </a:r>
            <a:r>
              <a:rPr lang="de-DE" dirty="0"/>
              <a:t>,</a:t>
            </a:r>
          </a:p>
          <a:p>
            <a:r>
              <a:rPr lang="de-DE" dirty="0"/>
              <a:t>    "Aberration": </a:t>
            </a:r>
            <a:r>
              <a:rPr lang="de-DE" dirty="0" err="1"/>
              <a:t>false</a:t>
            </a:r>
            <a:endParaRPr lang="de-DE" dirty="0"/>
          </a:p>
          <a:p>
            <a:r>
              <a:rPr lang="de-DE" dirty="0"/>
              <a:t>  },</a:t>
            </a:r>
          </a:p>
          <a:p>
            <a:r>
              <a:rPr lang="de-DE" dirty="0"/>
              <a:t>  "Measurement": {</a:t>
            </a:r>
          </a:p>
          <a:p>
            <a:r>
              <a:rPr lang="de-DE" dirty="0"/>
              <a:t>    "Type": "</a:t>
            </a:r>
            <a:r>
              <a:rPr lang="de-DE" dirty="0" err="1"/>
              <a:t>Spherical_RADEC</a:t>
            </a:r>
            <a:r>
              <a:rPr lang="de-DE" dirty="0"/>
              <a:t>"</a:t>
            </a:r>
          </a:p>
          <a:p>
            <a:r>
              <a:rPr lang="de-DE" dirty="0"/>
              <a:t>  }</a:t>
            </a:r>
          </a:p>
          <a:p>
            <a:r>
              <a:rPr lang="de-D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1885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82E18-550D-9F64-96BB-047B3AE39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1DD985-D26B-A62A-23CC-3A1849BD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Points 9, 10 – same </a:t>
            </a:r>
            <a:r>
              <a:rPr lang="de-DE" dirty="0" err="1"/>
              <a:t>measurement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L0 but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779C2EF-4C1D-5B96-987A-00CFA5207A31}"/>
              </a:ext>
            </a:extLst>
          </p:cNvPr>
          <p:cNvSpPr txBox="1"/>
          <p:nvPr/>
        </p:nvSpPr>
        <p:spPr>
          <a:xfrm>
            <a:off x="6705601" y="1955470"/>
            <a:ext cx="4493342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Points 5, 6: Horizons Request</a:t>
            </a:r>
          </a:p>
          <a:p>
            <a:r>
              <a:rPr lang="de-DE" dirty="0"/>
              <a:t>EPHEM_TYPE=VECTORS</a:t>
            </a:r>
          </a:p>
          <a:p>
            <a:r>
              <a:rPr lang="de-DE" dirty="0"/>
              <a:t>CENTER=500@399</a:t>
            </a:r>
          </a:p>
          <a:p>
            <a:r>
              <a:rPr lang="de-DE" dirty="0"/>
              <a:t>VECTOR_CORR=LT+S</a:t>
            </a:r>
          </a:p>
          <a:p>
            <a:r>
              <a:rPr lang="de-DE" dirty="0"/>
              <a:t>REF_PLANE=ECLIPTIC</a:t>
            </a:r>
          </a:p>
          <a:p>
            <a:r>
              <a:rPr lang="de-DE" dirty="0"/>
              <a:t>REF_SYSTEM=ICRF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E3C1561-9527-6F07-65DA-166315F4F8C0}"/>
              </a:ext>
            </a:extLst>
          </p:cNvPr>
          <p:cNvSpPr txBox="1"/>
          <p:nvPr/>
        </p:nvSpPr>
        <p:spPr>
          <a:xfrm>
            <a:off x="696686" y="6308209"/>
            <a:ext cx="386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highlight>
                  <a:srgbClr val="FFFF00"/>
                </a:highlight>
              </a:rPr>
              <a:t>Validates</a:t>
            </a:r>
            <a:r>
              <a:rPr lang="de-DE" dirty="0">
                <a:highlight>
                  <a:srgbClr val="FFFF00"/>
                </a:highlight>
              </a:rPr>
              <a:t>: Light Time Implementation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5B08801-3A25-69B5-759F-B425969D08A5}"/>
              </a:ext>
            </a:extLst>
          </p:cNvPr>
          <p:cNvSpPr txBox="1"/>
          <p:nvPr/>
        </p:nvSpPr>
        <p:spPr>
          <a:xfrm>
            <a:off x="696686" y="1955470"/>
            <a:ext cx="5065485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dirty="0"/>
              <a:t>{</a:t>
            </a:r>
          </a:p>
          <a:p>
            <a:r>
              <a:rPr lang="de-DE" dirty="0"/>
              <a:t>  "Frame": {</a:t>
            </a:r>
          </a:p>
          <a:p>
            <a:r>
              <a:rPr lang="de-DE" dirty="0"/>
              <a:t>    "Origin": "</a:t>
            </a:r>
            <a:r>
              <a:rPr lang="de-DE" dirty="0" err="1"/>
              <a:t>Heliocentric</a:t>
            </a:r>
            <a:r>
              <a:rPr lang="de-DE" dirty="0"/>
              <a:t>",</a:t>
            </a:r>
          </a:p>
          <a:p>
            <a:r>
              <a:rPr lang="de-DE" dirty="0"/>
              <a:t>    "Orientation": "</a:t>
            </a:r>
            <a:r>
              <a:rPr lang="de-DE" dirty="0" err="1"/>
              <a:t>Eclitic</a:t>
            </a:r>
            <a:r>
              <a:rPr lang="de-DE" dirty="0"/>
              <a:t>",</a:t>
            </a:r>
          </a:p>
          <a:p>
            <a:r>
              <a:rPr lang="de-DE" dirty="0"/>
              <a:t>    "</a:t>
            </a:r>
            <a:r>
              <a:rPr lang="de-DE" dirty="0" err="1"/>
              <a:t>Epoch</a:t>
            </a:r>
            <a:r>
              <a:rPr lang="de-DE" dirty="0"/>
              <a:t>": "J2000"</a:t>
            </a:r>
          </a:p>
          <a:p>
            <a:r>
              <a:rPr lang="de-DE" dirty="0"/>
              <a:t>  },</a:t>
            </a:r>
          </a:p>
          <a:p>
            <a:r>
              <a:rPr lang="de-DE" dirty="0"/>
              <a:t>  "</a:t>
            </a:r>
            <a:r>
              <a:rPr lang="de-DE" dirty="0" err="1"/>
              <a:t>Corrections</a:t>
            </a:r>
            <a:r>
              <a:rPr lang="de-DE" dirty="0"/>
              <a:t>": {</a:t>
            </a:r>
          </a:p>
          <a:p>
            <a:r>
              <a:rPr lang="de-DE" dirty="0"/>
              <a:t>    "</a:t>
            </a:r>
            <a:r>
              <a:rPr lang="de-DE" dirty="0" err="1"/>
              <a:t>LightTime</a:t>
            </a:r>
            <a:r>
              <a:rPr lang="de-DE" dirty="0"/>
              <a:t>": </a:t>
            </a:r>
            <a:r>
              <a:rPr lang="de-DE" dirty="0" err="1"/>
              <a:t>true</a:t>
            </a:r>
            <a:r>
              <a:rPr lang="de-DE" dirty="0"/>
              <a:t>,</a:t>
            </a:r>
          </a:p>
          <a:p>
            <a:r>
              <a:rPr lang="de-DE" dirty="0"/>
              <a:t>    "Aberration": </a:t>
            </a:r>
            <a:r>
              <a:rPr lang="de-DE" dirty="0" err="1"/>
              <a:t>true</a:t>
            </a:r>
            <a:endParaRPr lang="de-DE" dirty="0"/>
          </a:p>
          <a:p>
            <a:r>
              <a:rPr lang="de-DE" dirty="0"/>
              <a:t>  },</a:t>
            </a:r>
          </a:p>
          <a:p>
            <a:r>
              <a:rPr lang="de-DE" dirty="0"/>
              <a:t>  "Measurement": {</a:t>
            </a:r>
          </a:p>
          <a:p>
            <a:r>
              <a:rPr lang="de-DE" dirty="0"/>
              <a:t>    "Type": "</a:t>
            </a:r>
            <a:r>
              <a:rPr lang="de-DE" dirty="0" err="1"/>
              <a:t>Cartesian</a:t>
            </a:r>
            <a:r>
              <a:rPr lang="de-DE" dirty="0"/>
              <a:t>"</a:t>
            </a:r>
          </a:p>
          <a:p>
            <a:r>
              <a:rPr lang="de-DE" dirty="0"/>
              <a:t>  }</a:t>
            </a:r>
          </a:p>
          <a:p>
            <a:r>
              <a:rPr lang="de-D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1847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1C151-C50B-782B-E5F6-7BA591B8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7B526B-CA00-F81C-D7CB-DA3113E2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Point 11 – same </a:t>
            </a:r>
            <a:r>
              <a:rPr lang="de-DE" dirty="0" err="1"/>
              <a:t>measurement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L0 but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7039C86-6DC7-F102-D9E0-65D668CDC8EC}"/>
              </a:ext>
            </a:extLst>
          </p:cNvPr>
          <p:cNvSpPr txBox="1"/>
          <p:nvPr/>
        </p:nvSpPr>
        <p:spPr>
          <a:xfrm>
            <a:off x="6705601" y="1955470"/>
            <a:ext cx="449334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Point 11: Horizons Request</a:t>
            </a:r>
          </a:p>
          <a:p>
            <a:r>
              <a:rPr lang="de-DE" dirty="0"/>
              <a:t>EPHEM_TYPE=VECTORS</a:t>
            </a:r>
          </a:p>
          <a:p>
            <a:r>
              <a:rPr lang="de-DE" dirty="0"/>
              <a:t>CENTER=500@399</a:t>
            </a:r>
          </a:p>
          <a:p>
            <a:r>
              <a:rPr lang="de-DE" dirty="0"/>
              <a:t>REF_PLANE=FRAME</a:t>
            </a:r>
          </a:p>
          <a:p>
            <a:r>
              <a:rPr lang="de-DE" dirty="0"/>
              <a:t>REF_SYSTEM=ICRF</a:t>
            </a:r>
          </a:p>
          <a:p>
            <a:r>
              <a:rPr lang="de-DE" dirty="0"/>
              <a:t>QUANTITIES=1   (RA,DEC)</a:t>
            </a:r>
          </a:p>
          <a:p>
            <a:r>
              <a:rPr lang="de-DE" dirty="0"/>
              <a:t>VECTOR_CORR=LT+S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21B4F7B-8587-12DD-9644-D56101100AC5}"/>
              </a:ext>
            </a:extLst>
          </p:cNvPr>
          <p:cNvSpPr txBox="1"/>
          <p:nvPr/>
        </p:nvSpPr>
        <p:spPr>
          <a:xfrm>
            <a:off x="696686" y="6308209"/>
            <a:ext cx="386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highlight>
                  <a:srgbClr val="FFFF00"/>
                </a:highlight>
              </a:rPr>
              <a:t>Validates</a:t>
            </a:r>
            <a:r>
              <a:rPr lang="de-DE" dirty="0">
                <a:highlight>
                  <a:srgbClr val="FFFF00"/>
                </a:highlight>
              </a:rPr>
              <a:t>: Light Time Implementation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6573819-E157-3FE8-79C4-E4ACEB294CC8}"/>
              </a:ext>
            </a:extLst>
          </p:cNvPr>
          <p:cNvSpPr txBox="1"/>
          <p:nvPr/>
        </p:nvSpPr>
        <p:spPr>
          <a:xfrm>
            <a:off x="696686" y="1955470"/>
            <a:ext cx="5074849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dirty="0"/>
              <a:t>{</a:t>
            </a:r>
          </a:p>
          <a:p>
            <a:r>
              <a:rPr lang="de-DE" dirty="0"/>
              <a:t>  "Frame": {</a:t>
            </a:r>
          </a:p>
          <a:p>
            <a:r>
              <a:rPr lang="de-DE" dirty="0"/>
              <a:t>    "Origin": "</a:t>
            </a:r>
            <a:r>
              <a:rPr lang="de-DE" dirty="0" err="1"/>
              <a:t>Geocentric</a:t>
            </a:r>
            <a:r>
              <a:rPr lang="de-DE" dirty="0"/>
              <a:t>",</a:t>
            </a:r>
          </a:p>
          <a:p>
            <a:r>
              <a:rPr lang="de-DE" dirty="0"/>
              <a:t>    "Orientation": "</a:t>
            </a:r>
            <a:r>
              <a:rPr lang="de-DE" dirty="0" err="1"/>
              <a:t>Equatorial</a:t>
            </a:r>
            <a:r>
              <a:rPr lang="de-DE" dirty="0"/>
              <a:t>",</a:t>
            </a:r>
          </a:p>
          <a:p>
            <a:r>
              <a:rPr lang="de-DE" dirty="0"/>
              <a:t>    "</a:t>
            </a:r>
            <a:r>
              <a:rPr lang="de-DE" dirty="0" err="1"/>
              <a:t>Epoch</a:t>
            </a:r>
            <a:r>
              <a:rPr lang="de-DE" dirty="0"/>
              <a:t>": "</a:t>
            </a:r>
            <a:r>
              <a:rPr lang="de-DE" dirty="0" err="1"/>
              <a:t>OfDate</a:t>
            </a:r>
            <a:r>
              <a:rPr lang="de-DE" dirty="0"/>
              <a:t>"</a:t>
            </a:r>
          </a:p>
          <a:p>
            <a:r>
              <a:rPr lang="de-DE" dirty="0"/>
              <a:t>  },</a:t>
            </a:r>
          </a:p>
          <a:p>
            <a:r>
              <a:rPr lang="de-DE" dirty="0"/>
              <a:t>  "</a:t>
            </a:r>
            <a:r>
              <a:rPr lang="de-DE" dirty="0" err="1"/>
              <a:t>Corrections</a:t>
            </a:r>
            <a:r>
              <a:rPr lang="de-DE" dirty="0"/>
              <a:t>": {</a:t>
            </a:r>
          </a:p>
          <a:p>
            <a:r>
              <a:rPr lang="de-DE" dirty="0"/>
              <a:t>    "</a:t>
            </a:r>
            <a:r>
              <a:rPr lang="de-DE" dirty="0" err="1"/>
              <a:t>LightTime</a:t>
            </a:r>
            <a:r>
              <a:rPr lang="de-DE" dirty="0"/>
              <a:t>": </a:t>
            </a:r>
            <a:r>
              <a:rPr lang="de-DE" dirty="0" err="1"/>
              <a:t>true</a:t>
            </a:r>
            <a:r>
              <a:rPr lang="de-DE" dirty="0"/>
              <a:t>,</a:t>
            </a:r>
          </a:p>
          <a:p>
            <a:r>
              <a:rPr lang="de-DE" dirty="0"/>
              <a:t>    "Aberration": </a:t>
            </a:r>
            <a:r>
              <a:rPr lang="de-DE" dirty="0" err="1"/>
              <a:t>true</a:t>
            </a:r>
            <a:endParaRPr lang="de-DE" dirty="0"/>
          </a:p>
          <a:p>
            <a:r>
              <a:rPr lang="de-DE" dirty="0"/>
              <a:t>  },</a:t>
            </a:r>
          </a:p>
          <a:p>
            <a:r>
              <a:rPr lang="de-DE" dirty="0"/>
              <a:t>  "Measurement": {</a:t>
            </a:r>
          </a:p>
          <a:p>
            <a:r>
              <a:rPr lang="de-DE" dirty="0"/>
              <a:t>    "Type": "</a:t>
            </a:r>
            <a:r>
              <a:rPr lang="de-DE" dirty="0" err="1"/>
              <a:t>Spherical_RADEC</a:t>
            </a:r>
            <a:r>
              <a:rPr lang="de-DE" dirty="0"/>
              <a:t>"</a:t>
            </a:r>
          </a:p>
          <a:p>
            <a:r>
              <a:rPr lang="de-DE" dirty="0"/>
              <a:t>  }</a:t>
            </a:r>
          </a:p>
          <a:p>
            <a:r>
              <a:rPr lang="de-D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8256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98363-10D6-7FA0-6204-CB30D2460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D42B8D-682B-B099-AB76-50C464ED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Point 13 (Apparent RA/DEC)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D257F18-E2D6-98AE-264C-7FBBE5B0CA73}"/>
              </a:ext>
            </a:extLst>
          </p:cNvPr>
          <p:cNvSpPr txBox="1"/>
          <p:nvPr/>
        </p:nvSpPr>
        <p:spPr>
          <a:xfrm>
            <a:off x="696686" y="1955470"/>
            <a:ext cx="5065485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dirty="0"/>
              <a:t>{</a:t>
            </a:r>
          </a:p>
          <a:p>
            <a:r>
              <a:rPr lang="de-DE" dirty="0"/>
              <a:t>  "Frame": {</a:t>
            </a:r>
          </a:p>
          <a:p>
            <a:r>
              <a:rPr lang="de-DE" dirty="0"/>
              <a:t>    "Origin": "</a:t>
            </a:r>
            <a:r>
              <a:rPr lang="de-DE" dirty="0" err="1"/>
              <a:t>Geocentric</a:t>
            </a:r>
            <a:r>
              <a:rPr lang="de-DE" dirty="0"/>
              <a:t>",</a:t>
            </a:r>
          </a:p>
          <a:p>
            <a:r>
              <a:rPr lang="de-DE" dirty="0"/>
              <a:t>    "Orientation": "</a:t>
            </a:r>
            <a:r>
              <a:rPr lang="de-DE" dirty="0" err="1"/>
              <a:t>Equatorial</a:t>
            </a:r>
            <a:r>
              <a:rPr lang="de-DE" dirty="0"/>
              <a:t>",</a:t>
            </a:r>
          </a:p>
          <a:p>
            <a:r>
              <a:rPr lang="de-DE" dirty="0"/>
              <a:t>    "</a:t>
            </a:r>
            <a:r>
              <a:rPr lang="de-DE" dirty="0" err="1"/>
              <a:t>Epoch</a:t>
            </a:r>
            <a:r>
              <a:rPr lang="de-DE" dirty="0"/>
              <a:t>": "</a:t>
            </a:r>
            <a:r>
              <a:rPr lang="de-DE" dirty="0" err="1"/>
              <a:t>OfDate</a:t>
            </a:r>
            <a:r>
              <a:rPr lang="de-DE" dirty="0"/>
              <a:t>"</a:t>
            </a:r>
          </a:p>
          <a:p>
            <a:r>
              <a:rPr lang="de-DE" dirty="0"/>
              <a:t>  },</a:t>
            </a:r>
          </a:p>
          <a:p>
            <a:r>
              <a:rPr lang="de-DE" dirty="0"/>
              <a:t>  "</a:t>
            </a:r>
            <a:r>
              <a:rPr lang="de-DE" dirty="0" err="1"/>
              <a:t>Corrections</a:t>
            </a:r>
            <a:r>
              <a:rPr lang="de-DE" dirty="0"/>
              <a:t>": {</a:t>
            </a:r>
          </a:p>
          <a:p>
            <a:r>
              <a:rPr lang="de-DE" dirty="0"/>
              <a:t>    "</a:t>
            </a:r>
            <a:r>
              <a:rPr lang="de-DE" dirty="0" err="1"/>
              <a:t>LightTime</a:t>
            </a:r>
            <a:r>
              <a:rPr lang="de-DE" dirty="0"/>
              <a:t>": </a:t>
            </a:r>
            <a:r>
              <a:rPr lang="de-DE" dirty="0" err="1"/>
              <a:t>true</a:t>
            </a:r>
            <a:r>
              <a:rPr lang="de-DE" dirty="0"/>
              <a:t>,</a:t>
            </a:r>
          </a:p>
          <a:p>
            <a:r>
              <a:rPr lang="de-DE" dirty="0"/>
              <a:t>    "Aberration": </a:t>
            </a:r>
            <a:r>
              <a:rPr lang="de-DE" dirty="0" err="1"/>
              <a:t>true</a:t>
            </a:r>
            <a:endParaRPr lang="de-DE" dirty="0"/>
          </a:p>
          <a:p>
            <a:r>
              <a:rPr lang="de-DE" dirty="0"/>
              <a:t>  },</a:t>
            </a:r>
          </a:p>
          <a:p>
            <a:r>
              <a:rPr lang="de-DE" dirty="0"/>
              <a:t>  "Measurement": {</a:t>
            </a:r>
          </a:p>
          <a:p>
            <a:r>
              <a:rPr lang="de-DE" dirty="0"/>
              <a:t>    "Type": "</a:t>
            </a:r>
            <a:r>
              <a:rPr lang="de-DE" dirty="0" err="1"/>
              <a:t>Spherical_RADEC</a:t>
            </a:r>
            <a:r>
              <a:rPr lang="de-DE" dirty="0"/>
              <a:t>"</a:t>
            </a:r>
          </a:p>
          <a:p>
            <a:r>
              <a:rPr lang="de-DE" dirty="0"/>
              <a:t>  }</a:t>
            </a:r>
          </a:p>
          <a:p>
            <a:r>
              <a:rPr lang="de-D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5000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F0593-1CF6-8C8D-9B8E-EA262A0F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2D58C9-2828-D404-48FB-A9C1644A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Point 14 (Apparent AZ/ALT)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58129A1-3D38-7B3C-34DC-325443540B39}"/>
              </a:ext>
            </a:extLst>
          </p:cNvPr>
          <p:cNvSpPr txBox="1"/>
          <p:nvPr/>
        </p:nvSpPr>
        <p:spPr>
          <a:xfrm>
            <a:off x="696686" y="1955470"/>
            <a:ext cx="5065485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dirty="0"/>
              <a:t>{</a:t>
            </a:r>
          </a:p>
          <a:p>
            <a:r>
              <a:rPr lang="de-DE" dirty="0"/>
              <a:t>  "Frame": {</a:t>
            </a:r>
          </a:p>
          <a:p>
            <a:r>
              <a:rPr lang="de-DE" dirty="0"/>
              <a:t>    "Origin": "</a:t>
            </a:r>
            <a:r>
              <a:rPr lang="de-DE" dirty="0" err="1"/>
              <a:t>Topocentric</a:t>
            </a:r>
            <a:r>
              <a:rPr lang="de-DE" dirty="0"/>
              <a:t>",</a:t>
            </a:r>
          </a:p>
          <a:p>
            <a:r>
              <a:rPr lang="de-DE" dirty="0"/>
              <a:t>    "Orientation": "Horizontal",</a:t>
            </a:r>
          </a:p>
          <a:p>
            <a:r>
              <a:rPr lang="de-DE" dirty="0"/>
              <a:t>    "</a:t>
            </a:r>
            <a:r>
              <a:rPr lang="de-DE" dirty="0" err="1"/>
              <a:t>Epoch</a:t>
            </a:r>
            <a:r>
              <a:rPr lang="de-DE" dirty="0"/>
              <a:t>": "</a:t>
            </a:r>
            <a:r>
              <a:rPr lang="de-DE" dirty="0" err="1"/>
              <a:t>OfDate</a:t>
            </a:r>
            <a:r>
              <a:rPr lang="de-DE" dirty="0"/>
              <a:t>"</a:t>
            </a:r>
          </a:p>
          <a:p>
            <a:r>
              <a:rPr lang="de-DE" dirty="0"/>
              <a:t>  },</a:t>
            </a:r>
          </a:p>
          <a:p>
            <a:r>
              <a:rPr lang="de-DE" dirty="0"/>
              <a:t>  "</a:t>
            </a:r>
            <a:r>
              <a:rPr lang="de-DE" dirty="0" err="1"/>
              <a:t>Corrections</a:t>
            </a:r>
            <a:r>
              <a:rPr lang="de-DE" dirty="0"/>
              <a:t>": {</a:t>
            </a:r>
          </a:p>
          <a:p>
            <a:r>
              <a:rPr lang="de-DE" dirty="0"/>
              <a:t>    "</a:t>
            </a:r>
            <a:r>
              <a:rPr lang="de-DE" dirty="0" err="1"/>
              <a:t>LightTime</a:t>
            </a:r>
            <a:r>
              <a:rPr lang="de-DE" dirty="0"/>
              <a:t>": </a:t>
            </a:r>
            <a:r>
              <a:rPr lang="de-DE" dirty="0" err="1"/>
              <a:t>true</a:t>
            </a:r>
            <a:r>
              <a:rPr lang="de-DE" dirty="0"/>
              <a:t>,</a:t>
            </a:r>
          </a:p>
          <a:p>
            <a:r>
              <a:rPr lang="de-DE" dirty="0"/>
              <a:t>    "Aberration": </a:t>
            </a:r>
            <a:r>
              <a:rPr lang="de-DE" dirty="0" err="1"/>
              <a:t>true</a:t>
            </a:r>
            <a:endParaRPr lang="de-DE" dirty="0"/>
          </a:p>
          <a:p>
            <a:r>
              <a:rPr lang="de-DE" dirty="0"/>
              <a:t>  },</a:t>
            </a:r>
          </a:p>
          <a:p>
            <a:r>
              <a:rPr lang="de-DE" dirty="0"/>
              <a:t>  "Measurement": {</a:t>
            </a:r>
          </a:p>
          <a:p>
            <a:r>
              <a:rPr lang="de-DE" dirty="0"/>
              <a:t>    "Type": "</a:t>
            </a:r>
            <a:r>
              <a:rPr lang="de-DE" dirty="0" err="1"/>
              <a:t>Horizontal_AZALT</a:t>
            </a:r>
            <a:r>
              <a:rPr lang="de-DE" dirty="0"/>
              <a:t>"</a:t>
            </a:r>
          </a:p>
          <a:p>
            <a:r>
              <a:rPr lang="de-DE" dirty="0"/>
              <a:t>  }</a:t>
            </a:r>
          </a:p>
          <a:p>
            <a:r>
              <a:rPr lang="de-D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6436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08054-17D2-95E7-ADF8-D58B1B71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8DC328-9FF7-820D-DC27-87615F34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Kapitel2: </a:t>
            </a:r>
            <a:br>
              <a:rPr lang="de-DE" dirty="0"/>
            </a:br>
            <a:r>
              <a:rPr lang="de-DE" dirty="0" err="1"/>
              <a:t>Canonical</a:t>
            </a:r>
            <a:r>
              <a:rPr lang="de-DE" dirty="0"/>
              <a:t> </a:t>
            </a:r>
            <a:r>
              <a:rPr lang="de-DE" dirty="0" err="1"/>
              <a:t>measurement</a:t>
            </a:r>
            <a:r>
              <a:rPr lang="de-DE" dirty="0"/>
              <a:t> </a:t>
            </a:r>
            <a:r>
              <a:rPr lang="de-DE" dirty="0" err="1"/>
              <a:t>definition</a:t>
            </a:r>
            <a:br>
              <a:rPr lang="de-DE" dirty="0"/>
            </a:b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C9A0D4-032A-726A-D62D-29B9A5D88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How </a:t>
            </a:r>
            <a:r>
              <a:rPr lang="de-DE" dirty="0" err="1"/>
              <a:t>it</a:t>
            </a:r>
            <a:r>
              <a:rPr lang="de-DE" dirty="0"/>
              <a:t> all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summarized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4039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D3BEC-38B5-0D1A-C837-E69DD243E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Canonical</a:t>
            </a:r>
            <a:r>
              <a:rPr lang="de-DE" dirty="0"/>
              <a:t> Measurement Definition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93FA68D-EC2A-03CE-5072-637D969D47E2}"/>
              </a:ext>
            </a:extLst>
          </p:cNvPr>
          <p:cNvSpPr txBox="1"/>
          <p:nvPr/>
        </p:nvSpPr>
        <p:spPr>
          <a:xfrm>
            <a:off x="376085" y="1922487"/>
            <a:ext cx="3271684" cy="3416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Every Measurement Point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entirely</a:t>
            </a:r>
            <a:r>
              <a:rPr lang="de-DE" b="1" dirty="0"/>
              <a:t> </a:t>
            </a:r>
            <a:r>
              <a:rPr lang="de-DE" b="1" dirty="0" err="1"/>
              <a:t>described</a:t>
            </a:r>
            <a:r>
              <a:rPr lang="de-DE" b="1" dirty="0"/>
              <a:t> </a:t>
            </a:r>
            <a:r>
              <a:rPr lang="de-DE" b="1" dirty="0" err="1"/>
              <a:t>by</a:t>
            </a:r>
            <a:r>
              <a:rPr lang="de-DE" b="1" dirty="0"/>
              <a:t>:</a:t>
            </a:r>
          </a:p>
          <a:p>
            <a:endParaRPr lang="de-DE" dirty="0"/>
          </a:p>
          <a:p>
            <a:r>
              <a:rPr lang="de-DE" dirty="0"/>
              <a:t>Measurement = {</a:t>
            </a:r>
          </a:p>
          <a:p>
            <a:r>
              <a:rPr lang="de-DE" dirty="0"/>
              <a:t>    </a:t>
            </a:r>
            <a:r>
              <a:rPr lang="de-DE" dirty="0" err="1"/>
              <a:t>EphemType</a:t>
            </a:r>
            <a:r>
              <a:rPr lang="de-DE" dirty="0"/>
              <a:t>,</a:t>
            </a:r>
          </a:p>
          <a:p>
            <a:r>
              <a:rPr lang="de-DE" dirty="0"/>
              <a:t>    Center,</a:t>
            </a:r>
          </a:p>
          <a:p>
            <a:r>
              <a:rPr lang="de-DE" dirty="0"/>
              <a:t>    </a:t>
            </a:r>
            <a:r>
              <a:rPr lang="de-DE" dirty="0" err="1"/>
              <a:t>RefPlane</a:t>
            </a:r>
            <a:r>
              <a:rPr lang="de-DE" dirty="0"/>
              <a:t>,</a:t>
            </a:r>
          </a:p>
          <a:p>
            <a:r>
              <a:rPr lang="de-DE" dirty="0"/>
              <a:t>    </a:t>
            </a:r>
            <a:r>
              <a:rPr lang="de-DE" dirty="0" err="1"/>
              <a:t>RefSystem</a:t>
            </a:r>
            <a:r>
              <a:rPr lang="de-DE" dirty="0"/>
              <a:t>,</a:t>
            </a:r>
          </a:p>
          <a:p>
            <a:r>
              <a:rPr lang="de-DE" dirty="0"/>
              <a:t>    </a:t>
            </a:r>
            <a:r>
              <a:rPr lang="de-DE" dirty="0" err="1"/>
              <a:t>VectorCorr</a:t>
            </a:r>
            <a:r>
              <a:rPr lang="de-DE" dirty="0"/>
              <a:t>,</a:t>
            </a:r>
          </a:p>
          <a:p>
            <a:r>
              <a:rPr lang="de-DE" dirty="0"/>
              <a:t>    </a:t>
            </a:r>
            <a:r>
              <a:rPr lang="de-DE" dirty="0" err="1"/>
              <a:t>Quantities</a:t>
            </a:r>
            <a:r>
              <a:rPr lang="de-DE" dirty="0"/>
              <a:t>,</a:t>
            </a:r>
          </a:p>
          <a:p>
            <a:r>
              <a:rPr lang="de-DE" dirty="0"/>
              <a:t>    </a:t>
            </a:r>
            <a:r>
              <a:rPr lang="de-DE" dirty="0" err="1"/>
              <a:t>SiteCoord</a:t>
            </a:r>
            <a:r>
              <a:rPr lang="de-DE" dirty="0"/>
              <a:t> (optional)</a:t>
            </a:r>
          </a:p>
          <a:p>
            <a:r>
              <a:rPr lang="de-DE" dirty="0"/>
              <a:t>}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13DA119-9B0D-DCCF-3A4D-108B4C608B77}"/>
              </a:ext>
            </a:extLst>
          </p:cNvPr>
          <p:cNvSpPr txBox="1"/>
          <p:nvPr/>
        </p:nvSpPr>
        <p:spPr>
          <a:xfrm>
            <a:off x="4379657" y="1922487"/>
            <a:ext cx="3271684" cy="3416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 err="1"/>
              <a:t>Logically</a:t>
            </a:r>
            <a:r>
              <a:rPr lang="de-DE" b="1" dirty="0"/>
              <a:t>, </a:t>
            </a:r>
            <a:r>
              <a:rPr lang="de-DE" b="1" dirty="0" err="1"/>
              <a:t>this</a:t>
            </a:r>
            <a:r>
              <a:rPr lang="de-DE" b="1" dirty="0"/>
              <a:t> </a:t>
            </a:r>
            <a:r>
              <a:rPr lang="de-DE" b="1" dirty="0" err="1"/>
              <a:t>maps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</a:t>
            </a:r>
            <a:r>
              <a:rPr lang="de-DE" b="1" dirty="0" err="1"/>
              <a:t>these</a:t>
            </a:r>
            <a:r>
              <a:rPr lang="de-DE" b="1" dirty="0"/>
              <a:t> 3 </a:t>
            </a:r>
            <a:r>
              <a:rPr lang="de-DE" b="1" dirty="0" err="1"/>
              <a:t>dimentions</a:t>
            </a:r>
            <a:r>
              <a:rPr lang="de-DE" b="1" dirty="0"/>
              <a:t>: </a:t>
            </a:r>
          </a:p>
          <a:p>
            <a:endParaRPr lang="de-DE" dirty="0"/>
          </a:p>
          <a:p>
            <a:r>
              <a:rPr lang="en-US" b="1" dirty="0"/>
              <a:t>1. Geometry Dimension</a:t>
            </a:r>
          </a:p>
          <a:p>
            <a:r>
              <a:rPr lang="en-US" dirty="0"/>
              <a:t>Helio / Geo / Topo </a:t>
            </a:r>
          </a:p>
          <a:p>
            <a:r>
              <a:rPr lang="en-US" b="1" dirty="0"/>
              <a:t>2. Frame Dimension</a:t>
            </a:r>
          </a:p>
          <a:p>
            <a:r>
              <a:rPr lang="en-US" dirty="0"/>
              <a:t>Ecliptic / Equatorial / Horizontal </a:t>
            </a:r>
          </a:p>
          <a:p>
            <a:r>
              <a:rPr lang="en-US" b="1" dirty="0"/>
              <a:t>3. Correction Dimension</a:t>
            </a:r>
          </a:p>
          <a:p>
            <a:r>
              <a:rPr lang="en-US" dirty="0"/>
              <a:t>NONE / LT / LT+S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0EC850E-2220-73E8-60EA-55667531BD51}"/>
              </a:ext>
            </a:extLst>
          </p:cNvPr>
          <p:cNvSpPr txBox="1"/>
          <p:nvPr/>
        </p:nvSpPr>
        <p:spPr>
          <a:xfrm>
            <a:off x="8383229" y="1922487"/>
            <a:ext cx="3602294" cy="3416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Horizons </a:t>
            </a:r>
            <a:r>
              <a:rPr lang="de-DE" b="1" dirty="0" err="1"/>
              <a:t>is</a:t>
            </a:r>
            <a:r>
              <a:rPr lang="de-DE" b="1" dirty="0"/>
              <a:t> a </a:t>
            </a:r>
            <a:r>
              <a:rPr lang="de-DE" b="1" dirty="0" err="1"/>
              <a:t>funcion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3 </a:t>
            </a:r>
            <a:r>
              <a:rPr lang="de-DE" b="1" dirty="0" err="1"/>
              <a:t>dimensions</a:t>
            </a:r>
            <a:r>
              <a:rPr lang="de-DE" b="1" dirty="0"/>
              <a:t>:</a:t>
            </a:r>
          </a:p>
          <a:p>
            <a:endParaRPr lang="de-DE" dirty="0"/>
          </a:p>
          <a:p>
            <a:endParaRPr lang="de-DE" dirty="0"/>
          </a:p>
          <a:p>
            <a:r>
              <a:rPr lang="en-US" b="1" dirty="0"/>
              <a:t>Measurement = </a:t>
            </a:r>
          </a:p>
          <a:p>
            <a:r>
              <a:rPr lang="en-US" b="1" dirty="0"/>
              <a:t>F(Geometry, Frame, Correction)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A1CB794-832B-F97D-1D49-96DF8E472415}"/>
              </a:ext>
            </a:extLst>
          </p:cNvPr>
          <p:cNvSpPr/>
          <p:nvPr/>
        </p:nvSpPr>
        <p:spPr>
          <a:xfrm>
            <a:off x="8401053" y="2989004"/>
            <a:ext cx="3584470" cy="8947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1D1ABF62-A0A1-A128-BC15-04A2A25AEC51}"/>
              </a:ext>
            </a:extLst>
          </p:cNvPr>
          <p:cNvSpPr/>
          <p:nvPr/>
        </p:nvSpPr>
        <p:spPr>
          <a:xfrm>
            <a:off x="3779889" y="3175818"/>
            <a:ext cx="491613" cy="521108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908B3694-F79A-2E65-E744-E04D700BE290}"/>
              </a:ext>
            </a:extLst>
          </p:cNvPr>
          <p:cNvSpPr/>
          <p:nvPr/>
        </p:nvSpPr>
        <p:spPr>
          <a:xfrm>
            <a:off x="7742902" y="3175818"/>
            <a:ext cx="491613" cy="521108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6737509F-E445-113B-BBFD-239EC6BD649D}"/>
              </a:ext>
            </a:extLst>
          </p:cNvPr>
          <p:cNvSpPr/>
          <p:nvPr/>
        </p:nvSpPr>
        <p:spPr>
          <a:xfrm>
            <a:off x="633567" y="5850193"/>
            <a:ext cx="890433" cy="521108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0D765FA-63F4-A9B2-BDC5-EE3760272530}"/>
              </a:ext>
            </a:extLst>
          </p:cNvPr>
          <p:cNvSpPr txBox="1"/>
          <p:nvPr/>
        </p:nvSpPr>
        <p:spPr>
          <a:xfrm>
            <a:off x="1756288" y="5926081"/>
            <a:ext cx="5954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Instrument (</a:t>
            </a:r>
            <a:r>
              <a:rPr lang="de-DE" b="1" dirty="0" err="1"/>
              <a:t>Lx</a:t>
            </a:r>
            <a:r>
              <a:rPr lang="de-DE" b="1" dirty="0"/>
              <a:t>) </a:t>
            </a:r>
            <a:r>
              <a:rPr lang="de-DE" b="1" dirty="0" err="1"/>
              <a:t>is</a:t>
            </a:r>
            <a:r>
              <a:rPr lang="de-DE" b="1" dirty="0"/>
              <a:t> a </a:t>
            </a:r>
            <a:r>
              <a:rPr lang="de-DE" b="1" dirty="0" err="1"/>
              <a:t>fication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correction</a:t>
            </a:r>
            <a:r>
              <a:rPr lang="de-DE" b="1" dirty="0"/>
              <a:t> </a:t>
            </a:r>
            <a:r>
              <a:rPr lang="de-DE" b="1" dirty="0" err="1"/>
              <a:t>dimension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2988598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147725-C3DC-B87A-2768-FBD967051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Chapter 3: </a:t>
            </a:r>
            <a:br>
              <a:rPr lang="de-DE" dirty="0"/>
            </a:br>
            <a:r>
              <a:rPr lang="de-DE" dirty="0" err="1"/>
              <a:t>Concrete</a:t>
            </a:r>
            <a:r>
              <a:rPr lang="de-DE" dirty="0"/>
              <a:t> Software Model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51A941-3C20-0F54-561C-AFBB6C96A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AstronoMeasurement</a:t>
            </a:r>
            <a:r>
              <a:rPr lang="de-DE" dirty="0"/>
              <a:t> + </a:t>
            </a:r>
            <a:r>
              <a:rPr lang="de-DE" dirty="0" err="1"/>
              <a:t>TruthFactory</a:t>
            </a:r>
            <a:r>
              <a:rPr lang="de-DE" dirty="0"/>
              <a:t> Design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de-DE" dirty="0" err="1"/>
              <a:t>Everything</a:t>
            </a:r>
            <a:r>
              <a:rPr lang="de-DE" dirty="0"/>
              <a:t> </a:t>
            </a:r>
            <a:r>
              <a:rPr lang="de-DE" dirty="0" err="1"/>
              <a:t>reduces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</a:p>
          <a:p>
            <a:r>
              <a:rPr lang="de-DE" b="1" dirty="0">
                <a:solidFill>
                  <a:srgbClr val="FF0000"/>
                </a:solidFill>
              </a:rPr>
              <a:t>Dataset = Scenario + Instrument (Measurement Definition)</a:t>
            </a:r>
          </a:p>
        </p:txBody>
      </p:sp>
    </p:spTree>
    <p:extLst>
      <p:ext uri="{BB962C8B-B14F-4D97-AF65-F5344CB8AC3E}">
        <p14:creationId xmlns:p14="http://schemas.microsoft.com/office/powerpoint/2010/main" val="2622142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B97CF2-ADD1-6B83-3C24-02E0E8F5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Minimal Core (Kiss </a:t>
            </a:r>
            <a:r>
              <a:rPr lang="de-DE" dirty="0" err="1"/>
              <a:t>conform</a:t>
            </a:r>
            <a:r>
              <a:rPr lang="de-DE" dirty="0"/>
              <a:t>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9EAC34A-D357-0D24-B336-C9DF62749003}"/>
              </a:ext>
            </a:extLst>
          </p:cNvPr>
          <p:cNvSpPr txBox="1"/>
          <p:nvPr/>
        </p:nvSpPr>
        <p:spPr>
          <a:xfrm>
            <a:off x="494071" y="2328153"/>
            <a:ext cx="4264742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Instrument </a:t>
            </a:r>
            <a:r>
              <a:rPr lang="de-DE" b="1" dirty="0" err="1"/>
              <a:t>Lx</a:t>
            </a:r>
            <a:endParaRPr lang="de-DE" b="1" dirty="0"/>
          </a:p>
          <a:p>
            <a:endParaRPr lang="de-DE" dirty="0"/>
          </a:p>
          <a:p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enum</a:t>
            </a:r>
            <a:r>
              <a:rPr lang="de-DE" dirty="0"/>
              <a:t> </a:t>
            </a:r>
            <a:r>
              <a:rPr lang="de-DE" dirty="0" err="1"/>
              <a:t>MeasurementLevel</a:t>
            </a:r>
            <a:endParaRPr lang="de-DE" dirty="0"/>
          </a:p>
          <a:p>
            <a:r>
              <a:rPr lang="de-DE" dirty="0"/>
              <a:t>{</a:t>
            </a:r>
          </a:p>
          <a:p>
            <a:r>
              <a:rPr lang="de-DE" dirty="0"/>
              <a:t>    L0, // Geometry</a:t>
            </a:r>
          </a:p>
          <a:p>
            <a:r>
              <a:rPr lang="de-DE" dirty="0"/>
              <a:t>    L1, // Light-Time</a:t>
            </a:r>
          </a:p>
          <a:p>
            <a:r>
              <a:rPr lang="de-DE" dirty="0"/>
              <a:t>    L2  // Aberration</a:t>
            </a:r>
          </a:p>
          <a:p>
            <a:r>
              <a:rPr lang="de-DE" dirty="0"/>
              <a:t>}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94DEF6F-EE6D-8743-9160-4D1FA500C32D}"/>
              </a:ext>
            </a:extLst>
          </p:cNvPr>
          <p:cNvSpPr txBox="1"/>
          <p:nvPr/>
        </p:nvSpPr>
        <p:spPr>
          <a:xfrm>
            <a:off x="5388077" y="2328153"/>
            <a:ext cx="6735097" cy="42473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Mapping </a:t>
            </a:r>
            <a:r>
              <a:rPr lang="de-DE" b="1" dirty="0" err="1"/>
              <a:t>to</a:t>
            </a:r>
            <a:r>
              <a:rPr lang="de-DE" b="1" dirty="0"/>
              <a:t> Horizons</a:t>
            </a:r>
          </a:p>
          <a:p>
            <a:endParaRPr lang="de-DE" dirty="0"/>
          </a:p>
          <a:p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HorizonsMapping</a:t>
            </a:r>
            <a:endParaRPr lang="de-DE" dirty="0"/>
          </a:p>
          <a:p>
            <a:r>
              <a:rPr lang="de-DE" dirty="0"/>
              <a:t>{</a:t>
            </a:r>
          </a:p>
          <a:p>
            <a:r>
              <a:rPr lang="de-DE" dirty="0"/>
              <a:t>   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string</a:t>
            </a:r>
            <a:r>
              <a:rPr lang="de-DE" dirty="0"/>
              <a:t> </a:t>
            </a:r>
            <a:r>
              <a:rPr lang="de-DE" dirty="0" err="1"/>
              <a:t>GetVectorCorr</a:t>
            </a:r>
            <a:r>
              <a:rPr lang="de-DE" dirty="0"/>
              <a:t>(</a:t>
            </a:r>
            <a:r>
              <a:rPr lang="de-DE" dirty="0" err="1"/>
              <a:t>MeasurementLevel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)</a:t>
            </a:r>
          </a:p>
          <a:p>
            <a:r>
              <a:rPr lang="de-DE" dirty="0"/>
              <a:t>    {</a:t>
            </a:r>
          </a:p>
          <a:p>
            <a:r>
              <a:rPr lang="de-DE" dirty="0"/>
              <a:t>        </a:t>
            </a:r>
            <a:r>
              <a:rPr lang="de-DE" dirty="0" err="1"/>
              <a:t>return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 switch</a:t>
            </a:r>
          </a:p>
          <a:p>
            <a:r>
              <a:rPr lang="de-DE" dirty="0"/>
              <a:t>        {</a:t>
            </a:r>
          </a:p>
          <a:p>
            <a:r>
              <a:rPr lang="de-DE" dirty="0"/>
              <a:t>            MeasurementLevel.L0 =&gt; "NONE",</a:t>
            </a:r>
          </a:p>
          <a:p>
            <a:r>
              <a:rPr lang="de-DE" dirty="0"/>
              <a:t>            MeasurementLevel.L1 =&gt; "LT",</a:t>
            </a:r>
          </a:p>
          <a:p>
            <a:r>
              <a:rPr lang="de-DE" dirty="0"/>
              <a:t>            MeasurementLevel.L2 =&gt; "LT+S",</a:t>
            </a:r>
          </a:p>
          <a:p>
            <a:r>
              <a:rPr lang="de-DE" dirty="0"/>
              <a:t>            _ =&gt; </a:t>
            </a:r>
            <a:r>
              <a:rPr lang="de-DE" dirty="0" err="1"/>
              <a:t>throw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ArgumentOutOfRangeException</a:t>
            </a:r>
            <a:r>
              <a:rPr lang="de-DE" dirty="0"/>
              <a:t>()</a:t>
            </a:r>
          </a:p>
          <a:p>
            <a:r>
              <a:rPr lang="de-DE" dirty="0"/>
              <a:t>        };</a:t>
            </a:r>
          </a:p>
          <a:p>
            <a:r>
              <a:rPr lang="de-DE" dirty="0"/>
              <a:t>    }</a:t>
            </a:r>
          </a:p>
          <a:p>
            <a:r>
              <a:rPr lang="de-D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5179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168CC1-E31C-DF3D-EEBA-DDDA0AFD4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Measurement Definition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14CA326-4ED6-CD08-91E5-7F0936C14440}"/>
              </a:ext>
            </a:extLst>
          </p:cNvPr>
          <p:cNvSpPr txBox="1"/>
          <p:nvPr/>
        </p:nvSpPr>
        <p:spPr>
          <a:xfrm>
            <a:off x="373626" y="1947744"/>
            <a:ext cx="5447071" cy="2123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sealed</a:t>
            </a:r>
            <a:r>
              <a:rPr lang="de-DE" sz="1200" dirty="0"/>
              <a:t> </a:t>
            </a:r>
            <a:r>
              <a:rPr lang="de-DE" sz="1200" dirty="0" err="1"/>
              <a:t>class</a:t>
            </a:r>
            <a:r>
              <a:rPr lang="de-DE" sz="1200" dirty="0"/>
              <a:t> </a:t>
            </a:r>
            <a:r>
              <a:rPr lang="de-DE" sz="1200" dirty="0" err="1"/>
              <a:t>MeasurementDefinition</a:t>
            </a:r>
            <a:endParaRPr lang="de-DE" sz="1200" dirty="0"/>
          </a:p>
          <a:p>
            <a:r>
              <a:rPr lang="de-DE" sz="1200" dirty="0"/>
              <a:t>{</a:t>
            </a:r>
          </a:p>
          <a:p>
            <a:r>
              <a:rPr lang="de-DE" sz="1200" dirty="0"/>
              <a:t>    </a:t>
            </a:r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MeasurementLevel</a:t>
            </a:r>
            <a:r>
              <a:rPr lang="de-DE" sz="1200" dirty="0"/>
              <a:t> Level { </a:t>
            </a:r>
            <a:r>
              <a:rPr lang="de-DE" sz="1200" dirty="0" err="1"/>
              <a:t>get</a:t>
            </a:r>
            <a:r>
              <a:rPr lang="de-DE" sz="1200" dirty="0"/>
              <a:t>; </a:t>
            </a:r>
            <a:r>
              <a:rPr lang="de-DE" sz="1200" dirty="0" err="1"/>
              <a:t>init</a:t>
            </a:r>
            <a:r>
              <a:rPr lang="de-DE" sz="1200" dirty="0"/>
              <a:t>; }</a:t>
            </a:r>
          </a:p>
          <a:p>
            <a:endParaRPr lang="de-DE" sz="1200" dirty="0"/>
          </a:p>
          <a:p>
            <a:r>
              <a:rPr lang="de-DE" sz="1200" dirty="0"/>
              <a:t>    </a:t>
            </a:r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EphemType</a:t>
            </a:r>
            <a:r>
              <a:rPr lang="de-DE" sz="1200" dirty="0"/>
              <a:t> </a:t>
            </a:r>
            <a:r>
              <a:rPr lang="de-DE" sz="1200" dirty="0" err="1"/>
              <a:t>EphemType</a:t>
            </a:r>
            <a:r>
              <a:rPr lang="de-DE" sz="1200" dirty="0"/>
              <a:t> { </a:t>
            </a:r>
            <a:r>
              <a:rPr lang="de-DE" sz="1200" dirty="0" err="1"/>
              <a:t>get</a:t>
            </a:r>
            <a:r>
              <a:rPr lang="de-DE" sz="1200" dirty="0"/>
              <a:t>; </a:t>
            </a:r>
            <a:r>
              <a:rPr lang="de-DE" sz="1200" dirty="0" err="1"/>
              <a:t>init</a:t>
            </a:r>
            <a:r>
              <a:rPr lang="de-DE" sz="1200" dirty="0"/>
              <a:t>; }     // VECTORS / OBSERVER</a:t>
            </a:r>
          </a:p>
          <a:p>
            <a:r>
              <a:rPr lang="de-DE" sz="1200" dirty="0"/>
              <a:t>    </a:t>
            </a:r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GeometryMode</a:t>
            </a:r>
            <a:r>
              <a:rPr lang="de-DE" sz="1200" dirty="0"/>
              <a:t> Geometry { </a:t>
            </a:r>
            <a:r>
              <a:rPr lang="de-DE" sz="1200" dirty="0" err="1"/>
              <a:t>get</a:t>
            </a:r>
            <a:r>
              <a:rPr lang="de-DE" sz="1200" dirty="0"/>
              <a:t>; </a:t>
            </a:r>
            <a:r>
              <a:rPr lang="de-DE" sz="1200" dirty="0" err="1"/>
              <a:t>init</a:t>
            </a:r>
            <a:r>
              <a:rPr lang="de-DE" sz="1200" dirty="0"/>
              <a:t>; }   // </a:t>
            </a:r>
            <a:r>
              <a:rPr lang="de-DE" sz="1200" dirty="0" err="1"/>
              <a:t>Helio</a:t>
            </a:r>
            <a:r>
              <a:rPr lang="de-DE" sz="1200" dirty="0"/>
              <a:t> / </a:t>
            </a:r>
            <a:r>
              <a:rPr lang="de-DE" sz="1200" dirty="0" err="1"/>
              <a:t>Geo</a:t>
            </a:r>
            <a:r>
              <a:rPr lang="de-DE" sz="1200" dirty="0"/>
              <a:t> / Topo</a:t>
            </a:r>
          </a:p>
          <a:p>
            <a:r>
              <a:rPr lang="de-DE" sz="1200" dirty="0"/>
              <a:t>    </a:t>
            </a:r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FrameMode</a:t>
            </a:r>
            <a:r>
              <a:rPr lang="de-DE" sz="1200" dirty="0"/>
              <a:t> Frame { </a:t>
            </a:r>
            <a:r>
              <a:rPr lang="de-DE" sz="1200" dirty="0" err="1"/>
              <a:t>get</a:t>
            </a:r>
            <a:r>
              <a:rPr lang="de-DE" sz="1200" dirty="0"/>
              <a:t>; </a:t>
            </a:r>
            <a:r>
              <a:rPr lang="de-DE" sz="1200" dirty="0" err="1"/>
              <a:t>init</a:t>
            </a:r>
            <a:r>
              <a:rPr lang="de-DE" sz="1200" dirty="0"/>
              <a:t>; }         // </a:t>
            </a:r>
            <a:r>
              <a:rPr lang="de-DE" sz="1200" dirty="0" err="1"/>
              <a:t>Ecliptic</a:t>
            </a:r>
            <a:r>
              <a:rPr lang="de-DE" sz="1200" dirty="0"/>
              <a:t> / </a:t>
            </a:r>
            <a:r>
              <a:rPr lang="de-DE" sz="1200" dirty="0" err="1"/>
              <a:t>Equatorial</a:t>
            </a:r>
            <a:r>
              <a:rPr lang="de-DE" sz="1200" dirty="0"/>
              <a:t> / Horizontal</a:t>
            </a:r>
          </a:p>
          <a:p>
            <a:endParaRPr lang="de-DE" sz="1200" dirty="0"/>
          </a:p>
          <a:p>
            <a:r>
              <a:rPr lang="de-DE" sz="1200" dirty="0"/>
              <a:t>    </a:t>
            </a:r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string</a:t>
            </a:r>
            <a:r>
              <a:rPr lang="de-DE" sz="1200" dirty="0"/>
              <a:t> </a:t>
            </a:r>
            <a:r>
              <a:rPr lang="de-DE" sz="1200" dirty="0" err="1"/>
              <a:t>VectorCorr</a:t>
            </a:r>
            <a:r>
              <a:rPr lang="de-DE" sz="1200" dirty="0"/>
              <a:t> { </a:t>
            </a:r>
            <a:r>
              <a:rPr lang="de-DE" sz="1200" dirty="0" err="1"/>
              <a:t>get</a:t>
            </a:r>
            <a:r>
              <a:rPr lang="de-DE" sz="1200" dirty="0"/>
              <a:t>; </a:t>
            </a:r>
            <a:r>
              <a:rPr lang="de-DE" sz="1200" dirty="0" err="1"/>
              <a:t>init</a:t>
            </a:r>
            <a:r>
              <a:rPr lang="de-DE" sz="1200" dirty="0"/>
              <a:t>; }</a:t>
            </a:r>
          </a:p>
          <a:p>
            <a:r>
              <a:rPr lang="de-DE" sz="1200" dirty="0"/>
              <a:t>    </a:t>
            </a:r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string</a:t>
            </a:r>
            <a:r>
              <a:rPr lang="de-DE" sz="1200" dirty="0"/>
              <a:t> </a:t>
            </a:r>
            <a:r>
              <a:rPr lang="de-DE" sz="1200" dirty="0" err="1"/>
              <a:t>Quantities</a:t>
            </a:r>
            <a:r>
              <a:rPr lang="de-DE" sz="1200" dirty="0"/>
              <a:t> { </a:t>
            </a:r>
            <a:r>
              <a:rPr lang="de-DE" sz="1200" dirty="0" err="1"/>
              <a:t>get</a:t>
            </a:r>
            <a:r>
              <a:rPr lang="de-DE" sz="1200" dirty="0"/>
              <a:t>; </a:t>
            </a:r>
            <a:r>
              <a:rPr lang="de-DE" sz="1200" dirty="0" err="1"/>
              <a:t>init</a:t>
            </a:r>
            <a:r>
              <a:rPr lang="de-DE" sz="1200" dirty="0"/>
              <a:t>; }       // optional</a:t>
            </a:r>
          </a:p>
          <a:p>
            <a:r>
              <a:rPr lang="de-DE" sz="1200" dirty="0"/>
              <a:t>}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D00628B-F5F6-D774-8B57-B3AA1EC4C06D}"/>
              </a:ext>
            </a:extLst>
          </p:cNvPr>
          <p:cNvSpPr txBox="1"/>
          <p:nvPr/>
        </p:nvSpPr>
        <p:spPr>
          <a:xfrm>
            <a:off x="7106264" y="1947744"/>
            <a:ext cx="3984523" cy="36009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enum</a:t>
            </a:r>
            <a:r>
              <a:rPr lang="de-DE" sz="1200" dirty="0"/>
              <a:t> </a:t>
            </a:r>
            <a:r>
              <a:rPr lang="de-DE" sz="1200" dirty="0" err="1"/>
              <a:t>EphemType</a:t>
            </a:r>
            <a:endParaRPr lang="de-DE" sz="1200" dirty="0"/>
          </a:p>
          <a:p>
            <a:r>
              <a:rPr lang="de-DE" sz="1200" dirty="0"/>
              <a:t>{</a:t>
            </a:r>
          </a:p>
          <a:p>
            <a:r>
              <a:rPr lang="de-DE" sz="1200" dirty="0"/>
              <a:t>    </a:t>
            </a:r>
            <a:r>
              <a:rPr lang="de-DE" sz="1200" dirty="0" err="1"/>
              <a:t>Vectors</a:t>
            </a:r>
            <a:r>
              <a:rPr lang="de-DE" sz="1200" dirty="0"/>
              <a:t>,</a:t>
            </a:r>
          </a:p>
          <a:p>
            <a:r>
              <a:rPr lang="de-DE" sz="1200" dirty="0"/>
              <a:t>    Observer</a:t>
            </a:r>
          </a:p>
          <a:p>
            <a:r>
              <a:rPr lang="de-DE" sz="1200" dirty="0"/>
              <a:t>}</a:t>
            </a:r>
          </a:p>
          <a:p>
            <a:endParaRPr lang="de-DE" sz="1200" dirty="0"/>
          </a:p>
          <a:p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enum</a:t>
            </a:r>
            <a:r>
              <a:rPr lang="de-DE" sz="1200" dirty="0"/>
              <a:t> </a:t>
            </a:r>
            <a:r>
              <a:rPr lang="de-DE" sz="1200" dirty="0" err="1"/>
              <a:t>GeometryMode</a:t>
            </a:r>
            <a:endParaRPr lang="de-DE" sz="1200" dirty="0"/>
          </a:p>
          <a:p>
            <a:r>
              <a:rPr lang="de-DE" sz="1200" dirty="0"/>
              <a:t>{</a:t>
            </a:r>
          </a:p>
          <a:p>
            <a:r>
              <a:rPr lang="de-DE" sz="1200" dirty="0"/>
              <a:t>    </a:t>
            </a:r>
            <a:r>
              <a:rPr lang="de-DE" sz="1200" dirty="0" err="1"/>
              <a:t>Helio</a:t>
            </a:r>
            <a:r>
              <a:rPr lang="de-DE" sz="1200" dirty="0"/>
              <a:t>,</a:t>
            </a:r>
          </a:p>
          <a:p>
            <a:r>
              <a:rPr lang="de-DE" sz="1200" dirty="0"/>
              <a:t>    </a:t>
            </a:r>
            <a:r>
              <a:rPr lang="de-DE" sz="1200" dirty="0" err="1"/>
              <a:t>Geo</a:t>
            </a:r>
            <a:r>
              <a:rPr lang="de-DE" sz="1200" dirty="0"/>
              <a:t>,</a:t>
            </a:r>
          </a:p>
          <a:p>
            <a:r>
              <a:rPr lang="de-DE" sz="1200" dirty="0"/>
              <a:t>    Topo</a:t>
            </a:r>
          </a:p>
          <a:p>
            <a:r>
              <a:rPr lang="de-DE" sz="1200" dirty="0"/>
              <a:t>}</a:t>
            </a:r>
          </a:p>
          <a:p>
            <a:endParaRPr lang="de-DE" sz="1200" dirty="0"/>
          </a:p>
          <a:p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enum</a:t>
            </a:r>
            <a:r>
              <a:rPr lang="de-DE" sz="1200" dirty="0"/>
              <a:t> </a:t>
            </a:r>
            <a:r>
              <a:rPr lang="de-DE" sz="1200" dirty="0" err="1"/>
              <a:t>FrameMode</a:t>
            </a:r>
            <a:endParaRPr lang="de-DE" sz="1200" dirty="0"/>
          </a:p>
          <a:p>
            <a:r>
              <a:rPr lang="de-DE" sz="1200" dirty="0"/>
              <a:t>{</a:t>
            </a:r>
          </a:p>
          <a:p>
            <a:r>
              <a:rPr lang="de-DE" sz="1200" dirty="0"/>
              <a:t>    </a:t>
            </a:r>
            <a:r>
              <a:rPr lang="de-DE" sz="1200" dirty="0" err="1"/>
              <a:t>Ecliptic</a:t>
            </a:r>
            <a:r>
              <a:rPr lang="de-DE" sz="1200" dirty="0"/>
              <a:t>,</a:t>
            </a:r>
          </a:p>
          <a:p>
            <a:r>
              <a:rPr lang="de-DE" sz="1200" dirty="0"/>
              <a:t>    </a:t>
            </a:r>
            <a:r>
              <a:rPr lang="de-DE" sz="1200" dirty="0" err="1"/>
              <a:t>Equatorial</a:t>
            </a:r>
            <a:r>
              <a:rPr lang="de-DE" sz="1200" dirty="0"/>
              <a:t>,</a:t>
            </a:r>
          </a:p>
          <a:p>
            <a:r>
              <a:rPr lang="de-DE" sz="1200" dirty="0"/>
              <a:t>    Horizontal</a:t>
            </a:r>
          </a:p>
          <a:p>
            <a:r>
              <a:rPr lang="de-DE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051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277268-42D0-939A-FADE-B1E5B41A2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Factory </a:t>
            </a:r>
            <a:r>
              <a:rPr lang="de-DE" dirty="0" err="1"/>
              <a:t>Builder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MeasurementDefinitions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4D559CF-A47A-EF14-5803-1E56AAECDA0D}"/>
              </a:ext>
            </a:extLst>
          </p:cNvPr>
          <p:cNvSpPr txBox="1"/>
          <p:nvPr/>
        </p:nvSpPr>
        <p:spPr>
          <a:xfrm>
            <a:off x="267927" y="1561829"/>
            <a:ext cx="5719917" cy="50783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static</a:t>
            </a:r>
            <a:r>
              <a:rPr lang="de-DE" sz="1200" dirty="0"/>
              <a:t> </a:t>
            </a:r>
            <a:r>
              <a:rPr lang="de-DE" sz="1200" dirty="0" err="1"/>
              <a:t>class</a:t>
            </a:r>
            <a:r>
              <a:rPr lang="de-DE" sz="1200" dirty="0"/>
              <a:t> </a:t>
            </a:r>
            <a:r>
              <a:rPr lang="de-DE" sz="1200" dirty="0" err="1"/>
              <a:t>MeasurementBuilder</a:t>
            </a:r>
            <a:endParaRPr lang="de-DE" sz="1200" dirty="0"/>
          </a:p>
          <a:p>
            <a:r>
              <a:rPr lang="de-DE" sz="1200" dirty="0"/>
              <a:t>{</a:t>
            </a:r>
          </a:p>
          <a:p>
            <a:r>
              <a:rPr lang="de-DE" sz="1200" dirty="0"/>
              <a:t>    </a:t>
            </a:r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static</a:t>
            </a:r>
            <a:r>
              <a:rPr lang="de-DE" sz="1200" dirty="0"/>
              <a:t> </a:t>
            </a:r>
            <a:r>
              <a:rPr lang="de-DE" sz="1200" dirty="0" err="1"/>
              <a:t>MeasurementDefinition</a:t>
            </a:r>
            <a:r>
              <a:rPr lang="de-DE" sz="1200" dirty="0"/>
              <a:t> </a:t>
            </a:r>
            <a:r>
              <a:rPr lang="de-DE" sz="1200" dirty="0" err="1"/>
              <a:t>CreateVectorHelio</a:t>
            </a:r>
            <a:r>
              <a:rPr lang="de-DE" sz="1200" dirty="0"/>
              <a:t>(</a:t>
            </a:r>
            <a:r>
              <a:rPr lang="de-DE" sz="1200" dirty="0" err="1"/>
              <a:t>MeasurementLevel</a:t>
            </a:r>
            <a:r>
              <a:rPr lang="de-DE" sz="1200" dirty="0"/>
              <a:t> </a:t>
            </a:r>
            <a:r>
              <a:rPr lang="de-DE" sz="1200" dirty="0" err="1"/>
              <a:t>level</a:t>
            </a:r>
            <a:r>
              <a:rPr lang="de-DE" sz="1200" dirty="0"/>
              <a:t>)</a:t>
            </a:r>
          </a:p>
          <a:p>
            <a:r>
              <a:rPr lang="de-DE" sz="1200" dirty="0"/>
              <a:t>    {</a:t>
            </a:r>
          </a:p>
          <a:p>
            <a:r>
              <a:rPr lang="de-DE" sz="1200" dirty="0"/>
              <a:t>        </a:t>
            </a:r>
            <a:r>
              <a:rPr lang="de-DE" sz="1200" dirty="0" err="1"/>
              <a:t>return</a:t>
            </a:r>
            <a:r>
              <a:rPr lang="de-DE" sz="1200" dirty="0"/>
              <a:t> </a:t>
            </a:r>
            <a:r>
              <a:rPr lang="de-DE" sz="1200" dirty="0" err="1"/>
              <a:t>new</a:t>
            </a:r>
            <a:r>
              <a:rPr lang="de-DE" sz="1200" dirty="0"/>
              <a:t> </a:t>
            </a:r>
            <a:r>
              <a:rPr lang="de-DE" sz="1200" dirty="0" err="1"/>
              <a:t>MeasurementDefinition</a:t>
            </a:r>
            <a:endParaRPr lang="de-DE" sz="1200" dirty="0"/>
          </a:p>
          <a:p>
            <a:r>
              <a:rPr lang="de-DE" sz="1200" dirty="0"/>
              <a:t>        {</a:t>
            </a:r>
          </a:p>
          <a:p>
            <a:r>
              <a:rPr lang="de-DE" sz="1200" dirty="0"/>
              <a:t>            Level = </a:t>
            </a:r>
            <a:r>
              <a:rPr lang="de-DE" sz="1200" dirty="0" err="1"/>
              <a:t>level</a:t>
            </a:r>
            <a:r>
              <a:rPr lang="de-DE" sz="1200" dirty="0"/>
              <a:t>,</a:t>
            </a:r>
          </a:p>
          <a:p>
            <a:r>
              <a:rPr lang="de-DE" sz="1200" dirty="0"/>
              <a:t>            </a:t>
            </a:r>
            <a:r>
              <a:rPr lang="de-DE" sz="1200" dirty="0" err="1"/>
              <a:t>EphemType</a:t>
            </a:r>
            <a:r>
              <a:rPr lang="de-DE" sz="1200" dirty="0"/>
              <a:t> = </a:t>
            </a:r>
            <a:r>
              <a:rPr lang="de-DE" sz="1200" dirty="0" err="1"/>
              <a:t>EphemType.Vectors</a:t>
            </a:r>
            <a:r>
              <a:rPr lang="de-DE" sz="1200" dirty="0"/>
              <a:t>,</a:t>
            </a:r>
          </a:p>
          <a:p>
            <a:r>
              <a:rPr lang="de-DE" sz="1200" dirty="0"/>
              <a:t>            Geometry = </a:t>
            </a:r>
            <a:r>
              <a:rPr lang="de-DE" sz="1200" dirty="0" err="1"/>
              <a:t>GeometryMode.Helio</a:t>
            </a:r>
            <a:r>
              <a:rPr lang="de-DE" sz="1200" dirty="0"/>
              <a:t>,</a:t>
            </a:r>
          </a:p>
          <a:p>
            <a:r>
              <a:rPr lang="de-DE" sz="1200" dirty="0"/>
              <a:t>            Frame = </a:t>
            </a:r>
            <a:r>
              <a:rPr lang="de-DE" sz="1200" dirty="0" err="1"/>
              <a:t>FrameMode.Ecliptic</a:t>
            </a:r>
            <a:r>
              <a:rPr lang="de-DE" sz="1200" dirty="0"/>
              <a:t>,</a:t>
            </a:r>
          </a:p>
          <a:p>
            <a:r>
              <a:rPr lang="de-DE" sz="1200" dirty="0"/>
              <a:t>            </a:t>
            </a:r>
            <a:r>
              <a:rPr lang="de-DE" sz="1200" dirty="0" err="1"/>
              <a:t>VectorCorr</a:t>
            </a:r>
            <a:r>
              <a:rPr lang="de-DE" sz="1200" dirty="0"/>
              <a:t> = </a:t>
            </a:r>
            <a:r>
              <a:rPr lang="de-DE" sz="1200" dirty="0" err="1"/>
              <a:t>HorizonsMapping.GetVectorCorr</a:t>
            </a:r>
            <a:r>
              <a:rPr lang="de-DE" sz="1200" dirty="0"/>
              <a:t>(</a:t>
            </a:r>
            <a:r>
              <a:rPr lang="de-DE" sz="1200" dirty="0" err="1"/>
              <a:t>level</a:t>
            </a:r>
            <a:r>
              <a:rPr lang="de-DE" sz="1200" dirty="0"/>
              <a:t>)</a:t>
            </a:r>
          </a:p>
          <a:p>
            <a:r>
              <a:rPr lang="de-DE" sz="1200" dirty="0"/>
              <a:t>        };</a:t>
            </a:r>
          </a:p>
          <a:p>
            <a:r>
              <a:rPr lang="de-DE" sz="1200" dirty="0"/>
              <a:t>    }</a:t>
            </a:r>
          </a:p>
          <a:p>
            <a:endParaRPr lang="de-DE" sz="1200" dirty="0"/>
          </a:p>
          <a:p>
            <a:r>
              <a:rPr lang="de-DE" sz="1200" dirty="0"/>
              <a:t>    </a:t>
            </a:r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static</a:t>
            </a:r>
            <a:r>
              <a:rPr lang="de-DE" sz="1200" dirty="0"/>
              <a:t> </a:t>
            </a:r>
            <a:r>
              <a:rPr lang="de-DE" sz="1200" dirty="0" err="1"/>
              <a:t>MeasurementDefinition</a:t>
            </a:r>
            <a:r>
              <a:rPr lang="de-DE" sz="1200" dirty="0"/>
              <a:t> </a:t>
            </a:r>
            <a:r>
              <a:rPr lang="de-DE" sz="1200" dirty="0" err="1"/>
              <a:t>CreateVectorGeo</a:t>
            </a:r>
            <a:r>
              <a:rPr lang="de-DE" sz="1200" dirty="0"/>
              <a:t>(</a:t>
            </a:r>
            <a:r>
              <a:rPr lang="de-DE" sz="1200" dirty="0" err="1"/>
              <a:t>MeasurementLevel</a:t>
            </a:r>
            <a:r>
              <a:rPr lang="de-DE" sz="1200" dirty="0"/>
              <a:t> </a:t>
            </a:r>
            <a:r>
              <a:rPr lang="de-DE" sz="1200" dirty="0" err="1"/>
              <a:t>level</a:t>
            </a:r>
            <a:r>
              <a:rPr lang="de-DE" sz="1200" dirty="0"/>
              <a:t>)</a:t>
            </a:r>
          </a:p>
          <a:p>
            <a:r>
              <a:rPr lang="de-DE" sz="1200" dirty="0"/>
              <a:t>    {</a:t>
            </a:r>
          </a:p>
          <a:p>
            <a:r>
              <a:rPr lang="de-DE" sz="1200" dirty="0"/>
              <a:t>        </a:t>
            </a:r>
            <a:r>
              <a:rPr lang="de-DE" sz="1200" dirty="0" err="1"/>
              <a:t>return</a:t>
            </a:r>
            <a:r>
              <a:rPr lang="de-DE" sz="1200" dirty="0"/>
              <a:t> </a:t>
            </a:r>
            <a:r>
              <a:rPr lang="de-DE" sz="1200" dirty="0" err="1"/>
              <a:t>new</a:t>
            </a:r>
            <a:r>
              <a:rPr lang="de-DE" sz="1200" dirty="0"/>
              <a:t> </a:t>
            </a:r>
            <a:r>
              <a:rPr lang="de-DE" sz="1200" dirty="0" err="1"/>
              <a:t>MeasurementDefinition</a:t>
            </a:r>
            <a:endParaRPr lang="de-DE" sz="1200" dirty="0"/>
          </a:p>
          <a:p>
            <a:r>
              <a:rPr lang="de-DE" sz="1200" dirty="0"/>
              <a:t>        {</a:t>
            </a:r>
          </a:p>
          <a:p>
            <a:r>
              <a:rPr lang="de-DE" sz="1200" dirty="0"/>
              <a:t>            Level = </a:t>
            </a:r>
            <a:r>
              <a:rPr lang="de-DE" sz="1200" dirty="0" err="1"/>
              <a:t>level</a:t>
            </a:r>
            <a:r>
              <a:rPr lang="de-DE" sz="1200" dirty="0"/>
              <a:t>,</a:t>
            </a:r>
          </a:p>
          <a:p>
            <a:r>
              <a:rPr lang="de-DE" sz="1200" dirty="0"/>
              <a:t>            </a:t>
            </a:r>
            <a:r>
              <a:rPr lang="de-DE" sz="1200" dirty="0" err="1"/>
              <a:t>EphemType</a:t>
            </a:r>
            <a:r>
              <a:rPr lang="de-DE" sz="1200" dirty="0"/>
              <a:t> = </a:t>
            </a:r>
            <a:r>
              <a:rPr lang="de-DE" sz="1200" dirty="0" err="1"/>
              <a:t>EphemType.Vectors</a:t>
            </a:r>
            <a:r>
              <a:rPr lang="de-DE" sz="1200" dirty="0"/>
              <a:t>,</a:t>
            </a:r>
          </a:p>
          <a:p>
            <a:r>
              <a:rPr lang="de-DE" sz="1200" dirty="0"/>
              <a:t>            Geometry = </a:t>
            </a:r>
            <a:r>
              <a:rPr lang="de-DE" sz="1200" dirty="0" err="1"/>
              <a:t>GeometryMode.Geo</a:t>
            </a:r>
            <a:r>
              <a:rPr lang="de-DE" sz="1200" dirty="0"/>
              <a:t>,</a:t>
            </a:r>
          </a:p>
          <a:p>
            <a:r>
              <a:rPr lang="de-DE" sz="1200" dirty="0"/>
              <a:t>            Frame = </a:t>
            </a:r>
            <a:r>
              <a:rPr lang="de-DE" sz="1200" dirty="0" err="1"/>
              <a:t>FrameMode.Ecliptic</a:t>
            </a:r>
            <a:r>
              <a:rPr lang="de-DE" sz="1200" dirty="0"/>
              <a:t>,</a:t>
            </a:r>
          </a:p>
          <a:p>
            <a:r>
              <a:rPr lang="de-DE" sz="1200" dirty="0"/>
              <a:t>            </a:t>
            </a:r>
            <a:r>
              <a:rPr lang="de-DE" sz="1200" dirty="0" err="1"/>
              <a:t>VectorCorr</a:t>
            </a:r>
            <a:r>
              <a:rPr lang="de-DE" sz="1200" dirty="0"/>
              <a:t> = </a:t>
            </a:r>
            <a:r>
              <a:rPr lang="de-DE" sz="1200" dirty="0" err="1"/>
              <a:t>HorizonsMapping.GetVectorCorr</a:t>
            </a:r>
            <a:r>
              <a:rPr lang="de-DE" sz="1200" dirty="0"/>
              <a:t>(</a:t>
            </a:r>
            <a:r>
              <a:rPr lang="de-DE" sz="1200" dirty="0" err="1"/>
              <a:t>level</a:t>
            </a:r>
            <a:r>
              <a:rPr lang="de-DE" sz="1200" dirty="0"/>
              <a:t>)</a:t>
            </a:r>
          </a:p>
          <a:p>
            <a:r>
              <a:rPr lang="de-DE" sz="1200" dirty="0"/>
              <a:t>        };</a:t>
            </a:r>
          </a:p>
          <a:p>
            <a:r>
              <a:rPr lang="de-DE" sz="1200" dirty="0"/>
              <a:t>    }</a:t>
            </a:r>
          </a:p>
          <a:p>
            <a:endParaRPr lang="de-DE" sz="1200" dirty="0"/>
          </a:p>
          <a:p>
            <a:endParaRPr lang="de-DE" sz="1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D57006C-48BD-B5F1-D10C-16228BAA95C9}"/>
              </a:ext>
            </a:extLst>
          </p:cNvPr>
          <p:cNvSpPr txBox="1"/>
          <p:nvPr/>
        </p:nvSpPr>
        <p:spPr>
          <a:xfrm>
            <a:off x="5987844" y="1561829"/>
            <a:ext cx="5958348" cy="24929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sz="1200" dirty="0"/>
              <a:t> </a:t>
            </a:r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static</a:t>
            </a:r>
            <a:r>
              <a:rPr lang="de-DE" sz="1200" dirty="0"/>
              <a:t> </a:t>
            </a:r>
            <a:r>
              <a:rPr lang="de-DE" sz="1200" dirty="0" err="1"/>
              <a:t>MeasurementDefinition</a:t>
            </a:r>
            <a:r>
              <a:rPr lang="de-DE" sz="1200" dirty="0"/>
              <a:t> </a:t>
            </a:r>
            <a:r>
              <a:rPr lang="de-DE" sz="1200" dirty="0" err="1"/>
              <a:t>CreateObserverRaDec</a:t>
            </a:r>
            <a:r>
              <a:rPr lang="de-DE" sz="1200" dirty="0"/>
              <a:t>(</a:t>
            </a:r>
            <a:r>
              <a:rPr lang="de-DE" sz="1200" dirty="0" err="1"/>
              <a:t>MeasurementLevel</a:t>
            </a:r>
            <a:r>
              <a:rPr lang="de-DE" sz="1200" dirty="0"/>
              <a:t> </a:t>
            </a:r>
            <a:r>
              <a:rPr lang="de-DE" sz="1200" dirty="0" err="1"/>
              <a:t>level</a:t>
            </a:r>
            <a:r>
              <a:rPr lang="de-DE" sz="1200" dirty="0"/>
              <a:t>)</a:t>
            </a:r>
          </a:p>
          <a:p>
            <a:r>
              <a:rPr lang="de-DE" sz="1200" dirty="0"/>
              <a:t>    {</a:t>
            </a:r>
          </a:p>
          <a:p>
            <a:r>
              <a:rPr lang="de-DE" sz="1200" dirty="0"/>
              <a:t>        </a:t>
            </a:r>
            <a:r>
              <a:rPr lang="de-DE" sz="1200" dirty="0" err="1"/>
              <a:t>return</a:t>
            </a:r>
            <a:r>
              <a:rPr lang="de-DE" sz="1200" dirty="0"/>
              <a:t> </a:t>
            </a:r>
            <a:r>
              <a:rPr lang="de-DE" sz="1200" dirty="0" err="1"/>
              <a:t>new</a:t>
            </a:r>
            <a:r>
              <a:rPr lang="de-DE" sz="1200" dirty="0"/>
              <a:t> </a:t>
            </a:r>
            <a:r>
              <a:rPr lang="de-DE" sz="1200" dirty="0" err="1"/>
              <a:t>MeasurementDefinition</a:t>
            </a:r>
            <a:endParaRPr lang="de-DE" sz="1200" dirty="0"/>
          </a:p>
          <a:p>
            <a:r>
              <a:rPr lang="de-DE" sz="1200" dirty="0"/>
              <a:t>        {</a:t>
            </a:r>
          </a:p>
          <a:p>
            <a:r>
              <a:rPr lang="de-DE" sz="1200" dirty="0"/>
              <a:t>            Level = </a:t>
            </a:r>
            <a:r>
              <a:rPr lang="de-DE" sz="1200" dirty="0" err="1"/>
              <a:t>level</a:t>
            </a:r>
            <a:r>
              <a:rPr lang="de-DE" sz="1200" dirty="0"/>
              <a:t>,</a:t>
            </a:r>
          </a:p>
          <a:p>
            <a:r>
              <a:rPr lang="de-DE" sz="1200" dirty="0"/>
              <a:t>            </a:t>
            </a:r>
            <a:r>
              <a:rPr lang="de-DE" sz="1200" dirty="0" err="1"/>
              <a:t>EphemType</a:t>
            </a:r>
            <a:r>
              <a:rPr lang="de-DE" sz="1200" dirty="0"/>
              <a:t> = </a:t>
            </a:r>
            <a:r>
              <a:rPr lang="de-DE" sz="1200" dirty="0" err="1"/>
              <a:t>EphemType.Observer</a:t>
            </a:r>
            <a:r>
              <a:rPr lang="de-DE" sz="1200" dirty="0"/>
              <a:t>,</a:t>
            </a:r>
          </a:p>
          <a:p>
            <a:r>
              <a:rPr lang="de-DE" sz="1200" dirty="0"/>
              <a:t>            Geometry = </a:t>
            </a:r>
            <a:r>
              <a:rPr lang="de-DE" sz="1200" dirty="0" err="1"/>
              <a:t>GeometryMode.Geo</a:t>
            </a:r>
            <a:r>
              <a:rPr lang="de-DE" sz="1200" dirty="0"/>
              <a:t>,</a:t>
            </a:r>
          </a:p>
          <a:p>
            <a:r>
              <a:rPr lang="de-DE" sz="1200" dirty="0"/>
              <a:t>            Frame = </a:t>
            </a:r>
            <a:r>
              <a:rPr lang="de-DE" sz="1200" dirty="0" err="1"/>
              <a:t>FrameMode.Equatorial</a:t>
            </a:r>
            <a:r>
              <a:rPr lang="de-DE" sz="1200" dirty="0"/>
              <a:t>,</a:t>
            </a:r>
          </a:p>
          <a:p>
            <a:r>
              <a:rPr lang="de-DE" sz="1200" dirty="0"/>
              <a:t>            </a:t>
            </a:r>
            <a:r>
              <a:rPr lang="de-DE" sz="1200" dirty="0" err="1"/>
              <a:t>VectorCorr</a:t>
            </a:r>
            <a:r>
              <a:rPr lang="de-DE" sz="1200" dirty="0"/>
              <a:t> = </a:t>
            </a:r>
            <a:r>
              <a:rPr lang="de-DE" sz="1200" dirty="0" err="1"/>
              <a:t>HorizonsMapping.GetVectorCorr</a:t>
            </a:r>
            <a:r>
              <a:rPr lang="de-DE" sz="1200" dirty="0"/>
              <a:t>(</a:t>
            </a:r>
            <a:r>
              <a:rPr lang="de-DE" sz="1200" dirty="0" err="1"/>
              <a:t>level</a:t>
            </a:r>
            <a:r>
              <a:rPr lang="de-DE" sz="1200" dirty="0"/>
              <a:t>),</a:t>
            </a:r>
          </a:p>
          <a:p>
            <a:r>
              <a:rPr lang="de-DE" sz="1200" dirty="0"/>
              <a:t>            </a:t>
            </a:r>
            <a:r>
              <a:rPr lang="de-DE" sz="1200" dirty="0" err="1"/>
              <a:t>Quantities</a:t>
            </a:r>
            <a:r>
              <a:rPr lang="de-DE" sz="1200" dirty="0"/>
              <a:t> = "1"</a:t>
            </a:r>
          </a:p>
          <a:p>
            <a:r>
              <a:rPr lang="de-DE" sz="1200" dirty="0"/>
              <a:t>        };</a:t>
            </a:r>
          </a:p>
          <a:p>
            <a:r>
              <a:rPr lang="de-DE" sz="1200" dirty="0"/>
              <a:t>    }</a:t>
            </a:r>
          </a:p>
          <a:p>
            <a:r>
              <a:rPr lang="de-DE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3643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0E2DA0-37CB-32B8-F754-0294BE8A1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Default Measurement </a:t>
            </a:r>
            <a:r>
              <a:rPr lang="de-DE" dirty="0" err="1"/>
              <a:t>Behavior</a:t>
            </a:r>
            <a:r>
              <a:rPr lang="de-DE" dirty="0"/>
              <a:t> (</a:t>
            </a:r>
            <a:r>
              <a:rPr lang="de-DE" dirty="0" err="1"/>
              <a:t>adapted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M1)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F57FF03-844E-4B95-3145-90E8F6F7D1E0}"/>
              </a:ext>
            </a:extLst>
          </p:cNvPr>
          <p:cNvSpPr txBox="1"/>
          <p:nvPr/>
        </p:nvSpPr>
        <p:spPr>
          <a:xfrm>
            <a:off x="747252" y="2385451"/>
            <a:ext cx="4483509" cy="25545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sz="1600" b="1" dirty="0"/>
              <a:t>// </a:t>
            </a:r>
            <a:r>
              <a:rPr lang="de-DE" sz="1600" b="1" dirty="0" err="1"/>
              <a:t>DefaultLevels</a:t>
            </a:r>
            <a:endParaRPr lang="de-DE" sz="1600" b="1" dirty="0"/>
          </a:p>
          <a:p>
            <a:endParaRPr lang="de-DE" sz="1600" dirty="0"/>
          </a:p>
          <a:p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static</a:t>
            </a:r>
            <a:r>
              <a:rPr lang="de-DE" sz="1600" dirty="0"/>
              <a:t> </a:t>
            </a:r>
            <a:r>
              <a:rPr lang="de-DE" sz="1600" dirty="0" err="1"/>
              <a:t>class</a:t>
            </a:r>
            <a:r>
              <a:rPr lang="de-DE" sz="1600" dirty="0"/>
              <a:t> </a:t>
            </a:r>
            <a:r>
              <a:rPr lang="de-DE" sz="1600" dirty="0" err="1"/>
              <a:t>MeasurementDefaults</a:t>
            </a:r>
            <a:endParaRPr lang="de-DE" sz="1600" dirty="0"/>
          </a:p>
          <a:p>
            <a:r>
              <a:rPr lang="de-DE" sz="1600" dirty="0"/>
              <a:t>{</a:t>
            </a:r>
          </a:p>
          <a:p>
            <a:r>
              <a:rPr lang="de-DE" sz="1600" dirty="0"/>
              <a:t>    </a:t>
            </a:r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static</a:t>
            </a:r>
            <a:r>
              <a:rPr lang="de-DE" sz="1600" dirty="0"/>
              <a:t> </a:t>
            </a:r>
            <a:r>
              <a:rPr lang="de-DE" sz="1600" dirty="0" err="1"/>
              <a:t>readonly</a:t>
            </a:r>
            <a:r>
              <a:rPr lang="de-DE" sz="1600" dirty="0"/>
              <a:t> </a:t>
            </a:r>
            <a:r>
              <a:rPr lang="de-DE" sz="1600" dirty="0" err="1"/>
              <a:t>MeasurementLevel</a:t>
            </a:r>
            <a:r>
              <a:rPr lang="de-DE" sz="1600" dirty="0"/>
              <a:t>[] </a:t>
            </a:r>
            <a:r>
              <a:rPr lang="de-DE" sz="1600" dirty="0" err="1"/>
              <a:t>DefaultLevels</a:t>
            </a:r>
            <a:r>
              <a:rPr lang="de-DE" sz="1600" dirty="0"/>
              <a:t> =</a:t>
            </a:r>
          </a:p>
          <a:p>
            <a:r>
              <a:rPr lang="de-DE" sz="1600" dirty="0"/>
              <a:t>    {</a:t>
            </a:r>
          </a:p>
          <a:p>
            <a:r>
              <a:rPr lang="de-DE" sz="1600" dirty="0"/>
              <a:t>        MeasurementLevel.L0</a:t>
            </a:r>
          </a:p>
          <a:p>
            <a:r>
              <a:rPr lang="de-DE" sz="1600" dirty="0"/>
              <a:t>    };</a:t>
            </a:r>
          </a:p>
          <a:p>
            <a:r>
              <a:rPr lang="de-DE" sz="1600" dirty="0"/>
              <a:t>}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785977D-955F-14E2-D391-542D1F4F499B}"/>
              </a:ext>
            </a:extLst>
          </p:cNvPr>
          <p:cNvSpPr txBox="1"/>
          <p:nvPr/>
        </p:nvSpPr>
        <p:spPr>
          <a:xfrm>
            <a:off x="5761703" y="2385451"/>
            <a:ext cx="5683045" cy="32932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sz="1600" b="1" dirty="0"/>
              <a:t>// Derivation </a:t>
            </a:r>
            <a:r>
              <a:rPr lang="de-DE" sz="1600" b="1" dirty="0" err="1"/>
              <a:t>of</a:t>
            </a:r>
            <a:r>
              <a:rPr lang="de-DE" sz="1600" b="1" dirty="0"/>
              <a:t> </a:t>
            </a:r>
            <a:r>
              <a:rPr lang="de-DE" sz="1600" b="1" dirty="0" err="1"/>
              <a:t>the</a:t>
            </a:r>
            <a:r>
              <a:rPr lang="de-DE" sz="1600" b="1" dirty="0"/>
              <a:t> </a:t>
            </a:r>
            <a:r>
              <a:rPr lang="de-DE" sz="1600" b="1" dirty="0" err="1"/>
              <a:t>target</a:t>
            </a:r>
            <a:r>
              <a:rPr lang="de-DE" sz="1600" b="1" dirty="0"/>
              <a:t> Datasets</a:t>
            </a:r>
          </a:p>
          <a:p>
            <a:endParaRPr lang="de-DE" sz="1600" dirty="0"/>
          </a:p>
          <a:p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static</a:t>
            </a:r>
            <a:r>
              <a:rPr lang="de-DE" sz="1600" dirty="0"/>
              <a:t> </a:t>
            </a:r>
            <a:r>
              <a:rPr lang="de-DE" sz="1600" dirty="0" err="1"/>
              <a:t>class</a:t>
            </a:r>
            <a:r>
              <a:rPr lang="de-DE" sz="1600" dirty="0"/>
              <a:t> </a:t>
            </a:r>
            <a:r>
              <a:rPr lang="de-DE" sz="1600" dirty="0" err="1"/>
              <a:t>MeasurementCatalog</a:t>
            </a:r>
            <a:endParaRPr lang="de-DE" sz="1600" dirty="0"/>
          </a:p>
          <a:p>
            <a:r>
              <a:rPr lang="de-DE" sz="1600" dirty="0"/>
              <a:t>{</a:t>
            </a:r>
          </a:p>
          <a:p>
            <a:r>
              <a:rPr lang="de-DE" sz="1600" dirty="0"/>
              <a:t>    </a:t>
            </a:r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static</a:t>
            </a:r>
            <a:r>
              <a:rPr lang="de-DE" sz="1600" dirty="0"/>
              <a:t> </a:t>
            </a:r>
            <a:r>
              <a:rPr lang="de-DE" sz="1600" dirty="0" err="1"/>
              <a:t>IEnumerable</a:t>
            </a:r>
            <a:r>
              <a:rPr lang="de-DE" sz="1600" dirty="0"/>
              <a:t>&lt;</a:t>
            </a:r>
            <a:r>
              <a:rPr lang="de-DE" sz="1600" dirty="0" err="1"/>
              <a:t>MeasurementDefinition</a:t>
            </a:r>
            <a:r>
              <a:rPr lang="de-DE" sz="1600" dirty="0"/>
              <a:t>&gt; </a:t>
            </a:r>
            <a:r>
              <a:rPr lang="de-DE" sz="1600" dirty="0" err="1"/>
              <a:t>Build</a:t>
            </a:r>
            <a:r>
              <a:rPr lang="de-DE" sz="1600" dirty="0"/>
              <a:t>(</a:t>
            </a:r>
            <a:r>
              <a:rPr lang="de-DE" sz="1600" dirty="0" err="1"/>
              <a:t>MeasurementLevel</a:t>
            </a:r>
            <a:r>
              <a:rPr lang="de-DE" sz="1600" dirty="0"/>
              <a:t> </a:t>
            </a:r>
            <a:r>
              <a:rPr lang="de-DE" sz="1600" dirty="0" err="1"/>
              <a:t>level</a:t>
            </a:r>
            <a:r>
              <a:rPr lang="de-DE" sz="1600" dirty="0"/>
              <a:t>)</a:t>
            </a:r>
          </a:p>
          <a:p>
            <a:r>
              <a:rPr lang="de-DE" sz="1600" dirty="0"/>
              <a:t>    {</a:t>
            </a:r>
          </a:p>
          <a:p>
            <a:r>
              <a:rPr lang="de-DE" sz="1600" dirty="0"/>
              <a:t>        </a:t>
            </a:r>
            <a:r>
              <a:rPr lang="de-DE" sz="1600" dirty="0" err="1"/>
              <a:t>yield</a:t>
            </a:r>
            <a:r>
              <a:rPr lang="de-DE" sz="1600" dirty="0"/>
              <a:t> </a:t>
            </a:r>
            <a:r>
              <a:rPr lang="de-DE" sz="1600" dirty="0" err="1"/>
              <a:t>return</a:t>
            </a:r>
            <a:r>
              <a:rPr lang="de-DE" sz="1600" dirty="0"/>
              <a:t> </a:t>
            </a:r>
            <a:r>
              <a:rPr lang="de-DE" sz="1600" dirty="0" err="1"/>
              <a:t>MeasurementBuilder.CreateVectorHelio</a:t>
            </a:r>
            <a:r>
              <a:rPr lang="de-DE" sz="1600" dirty="0"/>
              <a:t>(</a:t>
            </a:r>
            <a:r>
              <a:rPr lang="de-DE" sz="1600" dirty="0" err="1"/>
              <a:t>level</a:t>
            </a:r>
            <a:r>
              <a:rPr lang="de-DE" sz="1600" dirty="0"/>
              <a:t>);</a:t>
            </a:r>
          </a:p>
          <a:p>
            <a:r>
              <a:rPr lang="de-DE" sz="1600" dirty="0"/>
              <a:t>        </a:t>
            </a:r>
            <a:r>
              <a:rPr lang="de-DE" sz="1600" dirty="0" err="1"/>
              <a:t>yield</a:t>
            </a:r>
            <a:r>
              <a:rPr lang="de-DE" sz="1600" dirty="0"/>
              <a:t> </a:t>
            </a:r>
            <a:r>
              <a:rPr lang="de-DE" sz="1600" dirty="0" err="1"/>
              <a:t>return</a:t>
            </a:r>
            <a:r>
              <a:rPr lang="de-DE" sz="1600" dirty="0"/>
              <a:t> </a:t>
            </a:r>
            <a:r>
              <a:rPr lang="de-DE" sz="1600" dirty="0" err="1"/>
              <a:t>MeasurementBuilder.CreateVectorGeo</a:t>
            </a:r>
            <a:r>
              <a:rPr lang="de-DE" sz="1600" dirty="0"/>
              <a:t>(</a:t>
            </a:r>
            <a:r>
              <a:rPr lang="de-DE" sz="1600" dirty="0" err="1"/>
              <a:t>level</a:t>
            </a:r>
            <a:r>
              <a:rPr lang="de-DE" sz="1600" dirty="0"/>
              <a:t>);</a:t>
            </a:r>
          </a:p>
          <a:p>
            <a:r>
              <a:rPr lang="de-DE" sz="1600" dirty="0"/>
              <a:t>        </a:t>
            </a:r>
            <a:r>
              <a:rPr lang="de-DE" sz="1600" dirty="0" err="1"/>
              <a:t>yield</a:t>
            </a:r>
            <a:r>
              <a:rPr lang="de-DE" sz="1600" dirty="0"/>
              <a:t> </a:t>
            </a:r>
            <a:r>
              <a:rPr lang="de-DE" sz="1600" dirty="0" err="1"/>
              <a:t>return</a:t>
            </a:r>
            <a:r>
              <a:rPr lang="de-DE" sz="1600" dirty="0"/>
              <a:t> </a:t>
            </a:r>
            <a:r>
              <a:rPr lang="de-DE" sz="1600" dirty="0" err="1"/>
              <a:t>MeasurementBuilder.CreateObserverRaDec</a:t>
            </a:r>
            <a:r>
              <a:rPr lang="de-DE" sz="1600" dirty="0"/>
              <a:t>(</a:t>
            </a:r>
            <a:r>
              <a:rPr lang="de-DE" sz="1600" dirty="0" err="1"/>
              <a:t>level</a:t>
            </a:r>
            <a:r>
              <a:rPr lang="de-DE" sz="1600" dirty="0"/>
              <a:t>);</a:t>
            </a:r>
          </a:p>
          <a:p>
            <a:r>
              <a:rPr lang="de-DE" sz="1600" dirty="0"/>
              <a:t>    }</a:t>
            </a:r>
          </a:p>
          <a:p>
            <a:r>
              <a:rPr lang="de-DE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4911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3FEC48-CC50-A2A3-2BD7-F368005AE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Target vs. Actual Value </a:t>
            </a:r>
            <a:r>
              <a:rPr lang="de-DE" dirty="0" err="1"/>
              <a:t>Comparison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7684CE-3F5B-3A76-172C-AE9E711FC8CF}"/>
              </a:ext>
            </a:extLst>
          </p:cNvPr>
          <p:cNvSpPr txBox="1"/>
          <p:nvPr/>
        </p:nvSpPr>
        <p:spPr>
          <a:xfrm>
            <a:off x="629264" y="1749682"/>
            <a:ext cx="6096000" cy="4770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sz="1600" b="1" dirty="0"/>
              <a:t>// Factory Workflow</a:t>
            </a:r>
          </a:p>
          <a:p>
            <a:endParaRPr lang="de-DE" sz="1600" dirty="0"/>
          </a:p>
          <a:p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sealed</a:t>
            </a:r>
            <a:r>
              <a:rPr lang="de-DE" sz="1600" dirty="0"/>
              <a:t> </a:t>
            </a:r>
            <a:r>
              <a:rPr lang="de-DE" sz="1600" dirty="0" err="1"/>
              <a:t>class</a:t>
            </a:r>
            <a:r>
              <a:rPr lang="de-DE" sz="1600" dirty="0"/>
              <a:t> </a:t>
            </a:r>
            <a:r>
              <a:rPr lang="de-DE" sz="1600" dirty="0" err="1"/>
              <a:t>DatasetPlanner</a:t>
            </a:r>
            <a:endParaRPr lang="de-DE" sz="1600" dirty="0"/>
          </a:p>
          <a:p>
            <a:r>
              <a:rPr lang="de-DE" sz="1600" dirty="0"/>
              <a:t>{</a:t>
            </a:r>
          </a:p>
          <a:p>
            <a:r>
              <a:rPr lang="de-DE" sz="1600" dirty="0"/>
              <a:t>    </a:t>
            </a:r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IEnumerable</a:t>
            </a:r>
            <a:r>
              <a:rPr lang="de-DE" sz="1600" dirty="0"/>
              <a:t>&lt;</a:t>
            </a:r>
            <a:r>
              <a:rPr lang="de-DE" sz="1600" dirty="0" err="1"/>
              <a:t>MeasurementDefinition</a:t>
            </a:r>
            <a:r>
              <a:rPr lang="de-DE" sz="1600" dirty="0"/>
              <a:t>&gt; </a:t>
            </a:r>
            <a:r>
              <a:rPr lang="de-DE" sz="1600" dirty="0" err="1"/>
              <a:t>GetMissingMeasurements</a:t>
            </a:r>
            <a:r>
              <a:rPr lang="de-DE" sz="1600" dirty="0"/>
              <a:t>(</a:t>
            </a:r>
          </a:p>
          <a:p>
            <a:r>
              <a:rPr lang="de-DE" sz="1600" dirty="0"/>
              <a:t>        Scenario </a:t>
            </a:r>
            <a:r>
              <a:rPr lang="de-DE" sz="1600" dirty="0" err="1"/>
              <a:t>scenario</a:t>
            </a:r>
            <a:r>
              <a:rPr lang="de-DE" sz="1600" dirty="0"/>
              <a:t>,</a:t>
            </a:r>
          </a:p>
          <a:p>
            <a:r>
              <a:rPr lang="de-DE" sz="1600" dirty="0"/>
              <a:t>        </a:t>
            </a:r>
            <a:r>
              <a:rPr lang="de-DE" sz="1600" dirty="0" err="1"/>
              <a:t>IEnumerable</a:t>
            </a:r>
            <a:r>
              <a:rPr lang="de-DE" sz="1600" dirty="0"/>
              <a:t>&lt;</a:t>
            </a:r>
            <a:r>
              <a:rPr lang="de-DE" sz="1600" dirty="0" err="1"/>
              <a:t>DatasetHeader</a:t>
            </a:r>
            <a:r>
              <a:rPr lang="de-DE" sz="1600" dirty="0"/>
              <a:t>&gt; </a:t>
            </a:r>
            <a:r>
              <a:rPr lang="de-DE" sz="1600" dirty="0" err="1"/>
              <a:t>existingDatasets</a:t>
            </a:r>
            <a:r>
              <a:rPr lang="de-DE" sz="1600" dirty="0"/>
              <a:t>)</a:t>
            </a:r>
          </a:p>
          <a:p>
            <a:r>
              <a:rPr lang="de-DE" sz="1600" dirty="0"/>
              <a:t>    {</a:t>
            </a:r>
          </a:p>
          <a:p>
            <a:r>
              <a:rPr lang="de-DE" sz="1600" dirty="0"/>
              <a:t>        </a:t>
            </a:r>
            <a:r>
              <a:rPr lang="de-DE" sz="1600" dirty="0" err="1"/>
              <a:t>var</a:t>
            </a:r>
            <a:r>
              <a:rPr lang="de-DE" sz="1600" dirty="0"/>
              <a:t> soll = </a:t>
            </a:r>
            <a:r>
              <a:rPr lang="de-DE" sz="1600" dirty="0" err="1"/>
              <a:t>MeasurementDefaults.DefaultLevels</a:t>
            </a:r>
            <a:endParaRPr lang="de-DE" sz="1600" dirty="0"/>
          </a:p>
          <a:p>
            <a:r>
              <a:rPr lang="de-DE" sz="1600" dirty="0"/>
              <a:t>            .</a:t>
            </a:r>
            <a:r>
              <a:rPr lang="de-DE" sz="1600" dirty="0" err="1"/>
              <a:t>SelectMany</a:t>
            </a:r>
            <a:r>
              <a:rPr lang="de-DE" sz="1600" dirty="0"/>
              <a:t>(</a:t>
            </a:r>
            <a:r>
              <a:rPr lang="de-DE" sz="1600" dirty="0" err="1"/>
              <a:t>level</a:t>
            </a:r>
            <a:r>
              <a:rPr lang="de-DE" sz="1600" dirty="0"/>
              <a:t> =&gt; </a:t>
            </a:r>
            <a:r>
              <a:rPr lang="de-DE" sz="1600" dirty="0" err="1"/>
              <a:t>MeasurementCatalog.Build</a:t>
            </a:r>
            <a:r>
              <a:rPr lang="de-DE" sz="1600" dirty="0"/>
              <a:t>(</a:t>
            </a:r>
            <a:r>
              <a:rPr lang="de-DE" sz="1600" dirty="0" err="1"/>
              <a:t>level</a:t>
            </a:r>
            <a:r>
              <a:rPr lang="de-DE" sz="1600" dirty="0"/>
              <a:t>));</a:t>
            </a:r>
          </a:p>
          <a:p>
            <a:endParaRPr lang="de-DE" sz="1600" dirty="0"/>
          </a:p>
          <a:p>
            <a:r>
              <a:rPr lang="de-DE" sz="1600" dirty="0"/>
              <a:t>        </a:t>
            </a:r>
            <a:r>
              <a:rPr lang="de-DE" sz="1600" dirty="0" err="1"/>
              <a:t>var</a:t>
            </a:r>
            <a:r>
              <a:rPr lang="de-DE" sz="1600" dirty="0"/>
              <a:t> </a:t>
            </a:r>
            <a:r>
              <a:rPr lang="de-DE" sz="1600" dirty="0" err="1"/>
              <a:t>istKeys</a:t>
            </a:r>
            <a:r>
              <a:rPr lang="de-DE" sz="1600" dirty="0"/>
              <a:t> = </a:t>
            </a:r>
            <a:r>
              <a:rPr lang="de-DE" sz="1600" dirty="0" err="1"/>
              <a:t>existingDatasets</a:t>
            </a:r>
            <a:endParaRPr lang="de-DE" sz="1600" dirty="0"/>
          </a:p>
          <a:p>
            <a:r>
              <a:rPr lang="de-DE" sz="1600" dirty="0"/>
              <a:t>            .Select(d =&gt; </a:t>
            </a:r>
            <a:r>
              <a:rPr lang="de-DE" sz="1600" dirty="0" err="1"/>
              <a:t>d.MeasurementKey</a:t>
            </a:r>
            <a:r>
              <a:rPr lang="de-DE" sz="1600" dirty="0"/>
              <a:t>)</a:t>
            </a:r>
          </a:p>
          <a:p>
            <a:r>
              <a:rPr lang="de-DE" sz="1600" dirty="0"/>
              <a:t>            .</a:t>
            </a:r>
            <a:r>
              <a:rPr lang="de-DE" sz="1600" dirty="0" err="1"/>
              <a:t>ToHashSet</a:t>
            </a:r>
            <a:r>
              <a:rPr lang="de-DE" sz="1600" dirty="0"/>
              <a:t>();</a:t>
            </a:r>
          </a:p>
          <a:p>
            <a:endParaRPr lang="de-DE" sz="1600" dirty="0"/>
          </a:p>
          <a:p>
            <a:r>
              <a:rPr lang="de-DE" sz="1600" dirty="0"/>
              <a:t>        </a:t>
            </a:r>
            <a:r>
              <a:rPr lang="de-DE" sz="1600" dirty="0" err="1"/>
              <a:t>return</a:t>
            </a:r>
            <a:r>
              <a:rPr lang="de-DE" sz="1600" dirty="0"/>
              <a:t> </a:t>
            </a:r>
            <a:r>
              <a:rPr lang="de-DE" sz="1600" dirty="0" err="1"/>
              <a:t>soll.Where</a:t>
            </a:r>
            <a:r>
              <a:rPr lang="de-DE" sz="1600" dirty="0"/>
              <a:t>(m =&gt; !</a:t>
            </a:r>
            <a:r>
              <a:rPr lang="de-DE" sz="1600" dirty="0" err="1"/>
              <a:t>istKeys.Contains</a:t>
            </a:r>
            <a:r>
              <a:rPr lang="de-DE" sz="1600" dirty="0"/>
              <a:t>(</a:t>
            </a:r>
            <a:r>
              <a:rPr lang="de-DE" sz="1600" dirty="0" err="1"/>
              <a:t>CreateKey</a:t>
            </a:r>
            <a:r>
              <a:rPr lang="de-DE" sz="1600" dirty="0"/>
              <a:t>(m)));</a:t>
            </a:r>
          </a:p>
          <a:p>
            <a:r>
              <a:rPr lang="de-DE" sz="1600" dirty="0"/>
              <a:t>    }</a:t>
            </a:r>
          </a:p>
          <a:p>
            <a:r>
              <a:rPr lang="de-DE" sz="1600" dirty="0"/>
              <a:t>}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7464754-B38B-F31A-4C98-F615EE6E8901}"/>
              </a:ext>
            </a:extLst>
          </p:cNvPr>
          <p:cNvSpPr txBox="1"/>
          <p:nvPr/>
        </p:nvSpPr>
        <p:spPr>
          <a:xfrm>
            <a:off x="7039896" y="1749682"/>
            <a:ext cx="4739149" cy="20621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sz="1600" b="1" dirty="0"/>
              <a:t>// </a:t>
            </a:r>
            <a:r>
              <a:rPr lang="de-DE" sz="1600" b="1" dirty="0" err="1"/>
              <a:t>MeasurementKey</a:t>
            </a:r>
            <a:endParaRPr lang="de-DE" sz="1600" b="1" dirty="0"/>
          </a:p>
          <a:p>
            <a:endParaRPr lang="de-DE" sz="1600" dirty="0"/>
          </a:p>
          <a:p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static</a:t>
            </a:r>
            <a:r>
              <a:rPr lang="de-DE" sz="1600" dirty="0"/>
              <a:t> </a:t>
            </a:r>
            <a:r>
              <a:rPr lang="de-DE" sz="1600" dirty="0" err="1"/>
              <a:t>string</a:t>
            </a:r>
            <a:r>
              <a:rPr lang="de-DE" sz="1600" dirty="0"/>
              <a:t> </a:t>
            </a:r>
            <a:r>
              <a:rPr lang="de-DE" sz="1600" dirty="0" err="1"/>
              <a:t>CreateKey</a:t>
            </a:r>
            <a:r>
              <a:rPr lang="de-DE" sz="1600" dirty="0"/>
              <a:t>(</a:t>
            </a:r>
            <a:r>
              <a:rPr lang="de-DE" sz="1600" dirty="0" err="1"/>
              <a:t>MeasurementDefinition</a:t>
            </a:r>
            <a:r>
              <a:rPr lang="de-DE" sz="1600" dirty="0"/>
              <a:t> m)</a:t>
            </a:r>
          </a:p>
          <a:p>
            <a:r>
              <a:rPr lang="de-DE" sz="1600" dirty="0"/>
              <a:t>{</a:t>
            </a:r>
          </a:p>
          <a:p>
            <a:r>
              <a:rPr lang="de-DE" sz="1600" dirty="0"/>
              <a:t>    </a:t>
            </a:r>
            <a:r>
              <a:rPr lang="de-DE" sz="1600" dirty="0" err="1"/>
              <a:t>return</a:t>
            </a:r>
            <a:r>
              <a:rPr lang="de-DE" sz="1600" dirty="0"/>
              <a:t> $"{</a:t>
            </a:r>
            <a:r>
              <a:rPr lang="de-DE" sz="1600" dirty="0" err="1"/>
              <a:t>m.Level</a:t>
            </a:r>
            <a:r>
              <a:rPr lang="de-DE" sz="1600" dirty="0"/>
              <a:t>}-{</a:t>
            </a:r>
            <a:r>
              <a:rPr lang="de-DE" sz="1600" dirty="0" err="1"/>
              <a:t>m.EphemType</a:t>
            </a:r>
            <a:r>
              <a:rPr lang="de-DE" sz="1600" dirty="0"/>
              <a:t>}-{</a:t>
            </a:r>
            <a:r>
              <a:rPr lang="de-DE" sz="1600" dirty="0" err="1"/>
              <a:t>m.Geometry</a:t>
            </a:r>
            <a:r>
              <a:rPr lang="de-DE" sz="1600" dirty="0"/>
              <a:t>}-{</a:t>
            </a:r>
            <a:r>
              <a:rPr lang="de-DE" sz="1600" dirty="0" err="1"/>
              <a:t>m.Frame</a:t>
            </a:r>
            <a:r>
              <a:rPr lang="de-DE" sz="1600" dirty="0"/>
              <a:t>}-{</a:t>
            </a:r>
            <a:r>
              <a:rPr lang="de-DE" sz="1600" dirty="0" err="1"/>
              <a:t>m.VectorCorr</a:t>
            </a:r>
            <a:r>
              <a:rPr lang="de-DE" sz="1600" dirty="0"/>
              <a:t>}-{</a:t>
            </a:r>
            <a:r>
              <a:rPr lang="de-DE" sz="1600" dirty="0" err="1"/>
              <a:t>m.Quantities</a:t>
            </a:r>
            <a:r>
              <a:rPr lang="de-DE" sz="1600" dirty="0"/>
              <a:t>}";</a:t>
            </a:r>
          </a:p>
          <a:p>
            <a:r>
              <a:rPr lang="de-DE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1295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1B66E6-6B65-6E5F-CBB0-03F536B6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TruthFactory</a:t>
            </a:r>
            <a:r>
              <a:rPr lang="de-DE" dirty="0"/>
              <a:t> Integration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4F56201-711A-D329-EB97-B4AB2736FF67}"/>
              </a:ext>
            </a:extLst>
          </p:cNvPr>
          <p:cNvSpPr txBox="1"/>
          <p:nvPr/>
        </p:nvSpPr>
        <p:spPr>
          <a:xfrm>
            <a:off x="320778" y="1690688"/>
            <a:ext cx="5401596" cy="37856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sz="1600" b="1" dirty="0"/>
              <a:t>// Main Loop</a:t>
            </a:r>
          </a:p>
          <a:p>
            <a:endParaRPr lang="de-DE" sz="1600" dirty="0"/>
          </a:p>
          <a:p>
            <a:r>
              <a:rPr lang="de-DE" sz="1600" dirty="0" err="1"/>
              <a:t>foreach</a:t>
            </a:r>
            <a:r>
              <a:rPr lang="de-DE" sz="1600" dirty="0"/>
              <a:t> (</a:t>
            </a:r>
            <a:r>
              <a:rPr lang="de-DE" sz="1600" dirty="0" err="1"/>
              <a:t>var</a:t>
            </a:r>
            <a:r>
              <a:rPr lang="de-DE" sz="1600" dirty="0"/>
              <a:t> </a:t>
            </a:r>
            <a:r>
              <a:rPr lang="de-DE" sz="1600" dirty="0" err="1"/>
              <a:t>measurement</a:t>
            </a:r>
            <a:r>
              <a:rPr lang="de-DE" sz="1600" dirty="0"/>
              <a:t> in </a:t>
            </a:r>
            <a:r>
              <a:rPr lang="de-DE" sz="1600" dirty="0" err="1"/>
              <a:t>planner.GetMissingMeasurements</a:t>
            </a:r>
            <a:r>
              <a:rPr lang="de-DE" sz="1600" dirty="0"/>
              <a:t>(</a:t>
            </a:r>
            <a:r>
              <a:rPr lang="de-DE" sz="1600" dirty="0" err="1"/>
              <a:t>scenario</a:t>
            </a:r>
            <a:r>
              <a:rPr lang="de-DE" sz="1600" dirty="0"/>
              <a:t>, </a:t>
            </a:r>
            <a:r>
              <a:rPr lang="de-DE" sz="1600" dirty="0" err="1"/>
              <a:t>existing</a:t>
            </a:r>
            <a:r>
              <a:rPr lang="de-DE" sz="1600" dirty="0"/>
              <a:t>))</a:t>
            </a:r>
          </a:p>
          <a:p>
            <a:r>
              <a:rPr lang="de-DE" sz="1600" dirty="0"/>
              <a:t>{</a:t>
            </a:r>
          </a:p>
          <a:p>
            <a:r>
              <a:rPr lang="de-DE" sz="1600" dirty="0"/>
              <a:t>    </a:t>
            </a:r>
            <a:r>
              <a:rPr lang="de-DE" sz="1600" dirty="0" err="1"/>
              <a:t>var</a:t>
            </a:r>
            <a:r>
              <a:rPr lang="de-DE" sz="1600" dirty="0"/>
              <a:t> </a:t>
            </a:r>
            <a:r>
              <a:rPr lang="de-DE" sz="1600" dirty="0" err="1"/>
              <a:t>request</a:t>
            </a:r>
            <a:r>
              <a:rPr lang="de-DE" sz="1600" dirty="0"/>
              <a:t> = </a:t>
            </a:r>
            <a:r>
              <a:rPr lang="de-DE" sz="1600" dirty="0" err="1"/>
              <a:t>HorizonsRequestBuilder.Build</a:t>
            </a:r>
            <a:r>
              <a:rPr lang="de-DE" sz="1600" dirty="0"/>
              <a:t>(</a:t>
            </a:r>
            <a:r>
              <a:rPr lang="de-DE" sz="1600" dirty="0" err="1"/>
              <a:t>scenario</a:t>
            </a:r>
            <a:r>
              <a:rPr lang="de-DE" sz="1600" dirty="0"/>
              <a:t>, </a:t>
            </a:r>
            <a:r>
              <a:rPr lang="de-DE" sz="1600" dirty="0" err="1"/>
              <a:t>measurement</a:t>
            </a:r>
            <a:r>
              <a:rPr lang="de-DE" sz="1600" dirty="0"/>
              <a:t>);</a:t>
            </a:r>
          </a:p>
          <a:p>
            <a:endParaRPr lang="de-DE" sz="1600" dirty="0"/>
          </a:p>
          <a:p>
            <a:r>
              <a:rPr lang="de-DE" sz="1600" dirty="0"/>
              <a:t>    </a:t>
            </a:r>
            <a:r>
              <a:rPr lang="de-DE" sz="1600" dirty="0" err="1"/>
              <a:t>var</a:t>
            </a:r>
            <a:r>
              <a:rPr lang="de-DE" sz="1600" dirty="0"/>
              <a:t> </a:t>
            </a:r>
            <a:r>
              <a:rPr lang="de-DE" sz="1600" dirty="0" err="1"/>
              <a:t>response</a:t>
            </a:r>
            <a:r>
              <a:rPr lang="de-DE" sz="1600" dirty="0"/>
              <a:t> = </a:t>
            </a:r>
            <a:r>
              <a:rPr lang="de-DE" sz="1600" dirty="0" err="1"/>
              <a:t>HorizonsClient.Execute</a:t>
            </a:r>
            <a:r>
              <a:rPr lang="de-DE" sz="1600" dirty="0"/>
              <a:t>(</a:t>
            </a:r>
            <a:r>
              <a:rPr lang="de-DE" sz="1600" dirty="0" err="1"/>
              <a:t>request</a:t>
            </a:r>
            <a:r>
              <a:rPr lang="de-DE" sz="1600" dirty="0"/>
              <a:t>);</a:t>
            </a:r>
          </a:p>
          <a:p>
            <a:endParaRPr lang="de-DE" sz="1600" dirty="0"/>
          </a:p>
          <a:p>
            <a:r>
              <a:rPr lang="de-DE" sz="1600" dirty="0"/>
              <a:t>    </a:t>
            </a:r>
            <a:r>
              <a:rPr lang="de-DE" sz="1600" dirty="0" err="1"/>
              <a:t>var</a:t>
            </a:r>
            <a:r>
              <a:rPr lang="de-DE" sz="1600" dirty="0"/>
              <a:t> </a:t>
            </a:r>
            <a:r>
              <a:rPr lang="de-DE" sz="1600" dirty="0" err="1"/>
              <a:t>dataset</a:t>
            </a:r>
            <a:r>
              <a:rPr lang="de-DE" sz="1600" dirty="0"/>
              <a:t> = </a:t>
            </a:r>
            <a:r>
              <a:rPr lang="de-DE" sz="1600" dirty="0" err="1"/>
              <a:t>DatasetBuilder.Create</a:t>
            </a:r>
            <a:r>
              <a:rPr lang="de-DE" sz="1600" dirty="0"/>
              <a:t>(</a:t>
            </a:r>
            <a:r>
              <a:rPr lang="de-DE" sz="1600" dirty="0" err="1"/>
              <a:t>scenario</a:t>
            </a:r>
            <a:r>
              <a:rPr lang="de-DE" sz="1600" dirty="0"/>
              <a:t>, </a:t>
            </a:r>
            <a:r>
              <a:rPr lang="de-DE" sz="1600" dirty="0" err="1"/>
              <a:t>measurement</a:t>
            </a:r>
            <a:r>
              <a:rPr lang="de-DE" sz="1600" dirty="0"/>
              <a:t>, </a:t>
            </a:r>
            <a:r>
              <a:rPr lang="de-DE" sz="1600" dirty="0" err="1"/>
              <a:t>response</a:t>
            </a:r>
            <a:r>
              <a:rPr lang="de-DE" sz="1600" dirty="0"/>
              <a:t>);</a:t>
            </a:r>
          </a:p>
          <a:p>
            <a:endParaRPr lang="de-DE" sz="1600" dirty="0"/>
          </a:p>
          <a:p>
            <a:r>
              <a:rPr lang="de-DE" sz="1600" dirty="0"/>
              <a:t>    Save(</a:t>
            </a:r>
            <a:r>
              <a:rPr lang="de-DE" sz="1600" dirty="0" err="1"/>
              <a:t>dataset</a:t>
            </a:r>
            <a:r>
              <a:rPr lang="de-DE" sz="1600" dirty="0"/>
              <a:t>);</a:t>
            </a:r>
          </a:p>
          <a:p>
            <a:r>
              <a:rPr lang="de-DE" sz="1600" dirty="0"/>
              <a:t>}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85371B8-6475-D8AC-3D4F-E97BEA38490B}"/>
              </a:ext>
            </a:extLst>
          </p:cNvPr>
          <p:cNvSpPr txBox="1"/>
          <p:nvPr/>
        </p:nvSpPr>
        <p:spPr>
          <a:xfrm>
            <a:off x="5899355" y="1690688"/>
            <a:ext cx="6096000" cy="50783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b="1" dirty="0"/>
              <a:t>// Horizons Request </a:t>
            </a:r>
            <a:r>
              <a:rPr lang="de-DE" b="1" dirty="0" err="1"/>
              <a:t>Builder</a:t>
            </a:r>
            <a:endParaRPr lang="de-DE" b="1" dirty="0"/>
          </a:p>
          <a:p>
            <a:endParaRPr lang="de-DE" dirty="0"/>
          </a:p>
          <a:p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HorizonsRequestBuilder</a:t>
            </a:r>
            <a:endParaRPr lang="de-DE" dirty="0"/>
          </a:p>
          <a:p>
            <a:r>
              <a:rPr lang="de-DE" dirty="0"/>
              <a:t>{</a:t>
            </a:r>
          </a:p>
          <a:p>
            <a:r>
              <a:rPr lang="de-DE" dirty="0"/>
              <a:t>   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HorizonsRequest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(Scenario </a:t>
            </a:r>
            <a:r>
              <a:rPr lang="de-DE" dirty="0" err="1"/>
              <a:t>scenario</a:t>
            </a:r>
            <a:r>
              <a:rPr lang="de-DE" dirty="0"/>
              <a:t>, </a:t>
            </a:r>
            <a:r>
              <a:rPr lang="de-DE" dirty="0" err="1"/>
              <a:t>MeasurementDefinition</a:t>
            </a:r>
            <a:r>
              <a:rPr lang="de-DE" dirty="0"/>
              <a:t> m)</a:t>
            </a:r>
          </a:p>
          <a:p>
            <a:r>
              <a:rPr lang="de-DE" dirty="0"/>
              <a:t>    {</a:t>
            </a:r>
          </a:p>
          <a:p>
            <a:r>
              <a:rPr lang="de-DE" dirty="0"/>
              <a:t>        </a:t>
            </a:r>
            <a:r>
              <a:rPr lang="de-DE" dirty="0" err="1"/>
              <a:t>return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HorizonsRequest</a:t>
            </a:r>
            <a:endParaRPr lang="de-DE" dirty="0"/>
          </a:p>
          <a:p>
            <a:r>
              <a:rPr lang="de-DE" dirty="0"/>
              <a:t>        {</a:t>
            </a:r>
          </a:p>
          <a:p>
            <a:r>
              <a:rPr lang="de-DE" dirty="0"/>
              <a:t>            </a:t>
            </a:r>
            <a:r>
              <a:rPr lang="de-DE" dirty="0" err="1"/>
              <a:t>EphemType</a:t>
            </a:r>
            <a:r>
              <a:rPr lang="de-DE" dirty="0"/>
              <a:t> = </a:t>
            </a:r>
            <a:r>
              <a:rPr lang="de-DE" dirty="0" err="1"/>
              <a:t>m.EphemType</a:t>
            </a:r>
            <a:r>
              <a:rPr lang="de-DE" dirty="0"/>
              <a:t>,</a:t>
            </a:r>
          </a:p>
          <a:p>
            <a:r>
              <a:rPr lang="de-DE" dirty="0"/>
              <a:t>            </a:t>
            </a:r>
            <a:r>
              <a:rPr lang="de-DE" dirty="0" err="1"/>
              <a:t>VectorCorr</a:t>
            </a:r>
            <a:r>
              <a:rPr lang="de-DE" dirty="0"/>
              <a:t> = </a:t>
            </a:r>
            <a:r>
              <a:rPr lang="de-DE" dirty="0" err="1"/>
              <a:t>m.VectorCorr</a:t>
            </a:r>
            <a:r>
              <a:rPr lang="de-DE" dirty="0"/>
              <a:t>,</a:t>
            </a:r>
          </a:p>
          <a:p>
            <a:r>
              <a:rPr lang="de-DE" dirty="0"/>
              <a:t>            </a:t>
            </a:r>
            <a:r>
              <a:rPr lang="de-DE" dirty="0" err="1"/>
              <a:t>Quantities</a:t>
            </a:r>
            <a:r>
              <a:rPr lang="de-DE" dirty="0"/>
              <a:t> = </a:t>
            </a:r>
            <a:r>
              <a:rPr lang="de-DE" dirty="0" err="1"/>
              <a:t>m.Quantities</a:t>
            </a:r>
            <a:r>
              <a:rPr lang="de-DE" dirty="0"/>
              <a:t>,</a:t>
            </a:r>
          </a:p>
          <a:p>
            <a:r>
              <a:rPr lang="de-DE" dirty="0"/>
              <a:t>            Center = </a:t>
            </a:r>
            <a:r>
              <a:rPr lang="de-DE" dirty="0" err="1"/>
              <a:t>ResolveCenter</a:t>
            </a:r>
            <a:r>
              <a:rPr lang="de-DE" dirty="0"/>
              <a:t>(m),</a:t>
            </a:r>
          </a:p>
          <a:p>
            <a:r>
              <a:rPr lang="de-DE" dirty="0"/>
              <a:t>            </a:t>
            </a:r>
            <a:r>
              <a:rPr lang="de-DE" dirty="0" err="1"/>
              <a:t>RefPlane</a:t>
            </a:r>
            <a:r>
              <a:rPr lang="de-DE" dirty="0"/>
              <a:t> = </a:t>
            </a:r>
            <a:r>
              <a:rPr lang="de-DE" dirty="0" err="1"/>
              <a:t>ResolvePlane</a:t>
            </a:r>
            <a:r>
              <a:rPr lang="de-DE" dirty="0"/>
              <a:t>(m),</a:t>
            </a:r>
          </a:p>
          <a:p>
            <a:r>
              <a:rPr lang="de-DE" dirty="0"/>
              <a:t>            </a:t>
            </a:r>
            <a:r>
              <a:rPr lang="de-DE" dirty="0" err="1"/>
              <a:t>RefSystem</a:t>
            </a:r>
            <a:r>
              <a:rPr lang="de-DE" dirty="0"/>
              <a:t> = "ICRF"</a:t>
            </a:r>
          </a:p>
          <a:p>
            <a:r>
              <a:rPr lang="de-DE" dirty="0"/>
              <a:t>        };</a:t>
            </a:r>
          </a:p>
          <a:p>
            <a:r>
              <a:rPr lang="de-DE" dirty="0"/>
              <a:t>    }</a:t>
            </a:r>
          </a:p>
          <a:p>
            <a:r>
              <a:rPr lang="de-D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033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2421</Words>
  <Application>Microsoft Office PowerPoint</Application>
  <PresentationFormat>Breitbild</PresentationFormat>
  <Paragraphs>549</Paragraphs>
  <Slides>24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Wingdings</vt:lpstr>
      <vt:lpstr>Office</vt:lpstr>
      <vt:lpstr>Basis:  Mapping of Astronometria to Horizons</vt:lpstr>
      <vt:lpstr>PowerPoint-Präsentation</vt:lpstr>
      <vt:lpstr>Chapter 1:  Instrument Specification</vt:lpstr>
      <vt:lpstr>Basic Idea and Instrument Scheme (M1)</vt:lpstr>
      <vt:lpstr>Mapping to the diagram</vt:lpstr>
      <vt:lpstr>Chapter 2:  Concrete Instruments</vt:lpstr>
      <vt:lpstr>Point 1 and 2 (VECTORS, L0)</vt:lpstr>
      <vt:lpstr>Punkt 3 (RA/DEC)</vt:lpstr>
      <vt:lpstr>Point 4 (AZ/ALT, Topocentric)</vt:lpstr>
      <vt:lpstr>Points 5, 6 – same measurement points as L0 but</vt:lpstr>
      <vt:lpstr>Point 7 – same measurement points as L0 but</vt:lpstr>
      <vt:lpstr>Points 9, 10 – same measurement points as L0 but</vt:lpstr>
      <vt:lpstr>Point 11 – same measurement points as L0 but</vt:lpstr>
      <vt:lpstr>Point 13 (Apparent RA/DEC)</vt:lpstr>
      <vt:lpstr>Point 14 (Apparent AZ/ALT)</vt:lpstr>
      <vt:lpstr>Kapitel2:  Canonical measurement definition </vt:lpstr>
      <vt:lpstr>Canonical Measurement Definition</vt:lpstr>
      <vt:lpstr>Chapter 3:  Concrete Software Model</vt:lpstr>
      <vt:lpstr>Minimal Core (Kiss conform)</vt:lpstr>
      <vt:lpstr>Measurement Definition</vt:lpstr>
      <vt:lpstr>Factory Builder for MeasurementDefinitions</vt:lpstr>
      <vt:lpstr>Default Measurement Behavior (adapted to M1)</vt:lpstr>
      <vt:lpstr>Target vs. Actual Value Comparison</vt:lpstr>
      <vt:lpstr>TruthFactory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21</cp:revision>
  <dcterms:created xsi:type="dcterms:W3CDTF">2026-03-27T14:22:47Z</dcterms:created>
  <dcterms:modified xsi:type="dcterms:W3CDTF">2026-03-27T19:39:56Z</dcterms:modified>
</cp:coreProperties>
</file>