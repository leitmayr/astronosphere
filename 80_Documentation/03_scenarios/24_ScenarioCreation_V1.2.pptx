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74EF3-913B-4BA2-822A-33357F32DC59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9BA4A-089D-406F-83F2-FF88006D74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32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3E5603-F919-4ADD-B866-6FC490805C6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2892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1E0EB7-F752-62EB-1894-46FCD7BC8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2FF747A-5B88-D23F-911B-5099CA493C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C1AB1F-BC47-8416-3BDA-7F88B723A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B1F4C93-2BBC-1683-1EE9-BC91F278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56AA0-6553-C78F-4147-C6E889EA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225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082DE4-86FB-6905-EFB5-52176848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C5B82B-0A99-C865-3E59-BC7314B8A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1E7BD3-E38F-2886-3E9A-2BA638455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2EC293-923F-4573-6950-3D2F0CAA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F62054-3B9F-631A-39F3-E606CC48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2694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63B00C-43CC-8729-E588-DE7B780C2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7D4271-1E3A-9D23-79A2-370E10D51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F91A15-AC6C-0D42-FB1E-74FF331D0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CD622B-5C1B-EF00-B0B2-A3FE8B1A5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C2B396-1CAF-A181-881D-13FCE800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20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794B3-EAD8-EB1B-05DF-93B036E7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3A27EA-F132-4985-0044-1D8D1CB36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71FB6C-41B6-9E57-D85E-392D9DA17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48FC0A-3144-827F-A240-18375BF5D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B427D7-BE9A-D320-1A2D-24F13AB0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D6494A-4D63-8728-AAF9-B5B361106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3625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7FF236-96B5-8691-FA2F-CF1C5351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F2EA91-A20C-198C-59FC-490A9F50A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56F8A4-12F4-7AC8-E7D9-9A380B044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E462FA-B3FD-33DE-3A9F-C02FC6FD1D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B83BA9F-68B6-6BC6-BBA4-F381738E1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B27768B-424F-83E4-33F6-4216BBF58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3D4B7BD-5E9D-DA3A-B683-7D4CDED06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9107DC4-06C0-7495-BAA7-6E7160405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654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C9B399-CFB0-A80F-7D6F-A8B274923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4306A6F-899D-9F6D-8A48-908BAC99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282E50-748F-9086-A25A-55D383A8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6CF71D-A163-0480-735B-D03E66A4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25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3EF403E-596F-64F1-7EFF-0BA046E91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373AD4-93C5-FF79-5D80-6CED78CD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7CB22A-FC32-EF11-1721-30262810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99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21015E-EC8A-3D83-99AA-0C25BECA9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93C75D-3C00-EEF7-E828-3AE60C691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F7ED0A-B04D-1C96-4DF4-2E75E371D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305AE3-6D90-F609-8181-7B417EA7A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274154-8543-616F-97F8-967F21F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432313-B0B1-F7D5-4F08-75AE8990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98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A30F18-7A68-9E90-BEAF-BDA647DC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FF35E2C-DE49-0BAB-398B-1510E0CAD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51F2BF6-1998-3C89-1F4D-2A14FFBF3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4591ED-C923-F717-0208-1019BA81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8C6F09-B063-7550-3A3C-5C4D0CE8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0E0CBE-C542-B481-EE35-0E21263EA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510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4F9441-01D2-0BEE-58A1-B3D9CA8D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EF31619-6B5E-5DCD-E562-513899896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24B4C2-7F05-5E4E-7E38-968B90BC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A8EA35-BCA3-C078-AD07-AC6EAF53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492B75-1872-EF78-4AD2-9920D7CB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343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D6C429A-4622-98B8-F3D8-7138CCED1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97309D-B83F-DA43-6A00-5F6C7CAE9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201533-E849-EC2C-D4E4-AD021A2F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BD277F-7B03-36EE-D6FB-3AE9202B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946EAA-3B93-5DA5-686A-6B91BD931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95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E7C35CA-E73E-2275-01F6-3C605AF2A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FBF3D5-852E-0056-9EFE-7046583A7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9A1808-08F8-F3AA-F006-CDE020B27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CB5BF-0E16-43F6-9916-8DC70F4C0836}" type="datetimeFigureOut">
              <a:rPr lang="de-DE" smtClean="0"/>
              <a:t>03.04.2026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EBC3A6-A4F9-4AFB-0F13-4183B5D82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51EA3C-DE81-39F3-0B04-F06240701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577A9-5728-494A-93D8-5BB4725C04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548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hteck 100">
            <a:extLst>
              <a:ext uri="{FF2B5EF4-FFF2-40B4-BE49-F238E27FC236}">
                <a16:creationId xmlns:a16="http://schemas.microsoft.com/office/drawing/2014/main" id="{50B49D8E-656D-7513-C685-EFD7D0A1BDF8}"/>
              </a:ext>
            </a:extLst>
          </p:cNvPr>
          <p:cNvSpPr/>
          <p:nvPr/>
        </p:nvSpPr>
        <p:spPr>
          <a:xfrm>
            <a:off x="8007669" y="1895321"/>
            <a:ext cx="2978240" cy="47925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A34C8B76-C75F-39CC-82E2-ACF89631CEB0}"/>
              </a:ext>
            </a:extLst>
          </p:cNvPr>
          <p:cNvSpPr/>
          <p:nvPr/>
        </p:nvSpPr>
        <p:spPr>
          <a:xfrm>
            <a:off x="951527" y="1895320"/>
            <a:ext cx="2321951" cy="48963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FABE337-5E50-7A9B-2D8C-339B4D0FF5BF}"/>
              </a:ext>
            </a:extLst>
          </p:cNvPr>
          <p:cNvSpPr/>
          <p:nvPr/>
        </p:nvSpPr>
        <p:spPr>
          <a:xfrm>
            <a:off x="1962143" y="970763"/>
            <a:ext cx="1248696" cy="7866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C40879A-9AE1-6854-6586-D5A0975DC715}"/>
              </a:ext>
            </a:extLst>
          </p:cNvPr>
          <p:cNvSpPr txBox="1"/>
          <p:nvPr/>
        </p:nvSpPr>
        <p:spPr>
          <a:xfrm>
            <a:off x="2065675" y="1067769"/>
            <a:ext cx="106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err="1"/>
              <a:t>AstronoLab</a:t>
            </a:r>
            <a:endParaRPr lang="de-DE" b="1" dirty="0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090F3407-B35B-09A3-0832-DCFBC32EEBE6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586491" y="272937"/>
            <a:ext cx="0" cy="6978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24D2CD4F-23DB-7154-19F4-928F3C45F547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>
            <a:off x="2586491" y="1757441"/>
            <a:ext cx="5750" cy="729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DDC49807-27CD-A449-6540-DD0D2A2C1AE4}"/>
              </a:ext>
            </a:extLst>
          </p:cNvPr>
          <p:cNvSpPr/>
          <p:nvPr/>
        </p:nvSpPr>
        <p:spPr>
          <a:xfrm>
            <a:off x="2122830" y="2487403"/>
            <a:ext cx="938821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New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3C067002-4067-8EBC-8CD8-A3CAACFE7171}"/>
              </a:ext>
            </a:extLst>
          </p:cNvPr>
          <p:cNvSpPr txBox="1"/>
          <p:nvPr/>
        </p:nvSpPr>
        <p:spPr>
          <a:xfrm>
            <a:off x="1720392" y="271484"/>
            <a:ext cx="733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b="1" i="1" dirty="0">
                <a:solidFill>
                  <a:srgbClr val="FF0000"/>
                </a:solidFill>
              </a:rPr>
              <a:t>Review!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E7C7765-F21C-602A-3F0B-28E8C10E2630}"/>
              </a:ext>
            </a:extLst>
          </p:cNvPr>
          <p:cNvSpPr/>
          <p:nvPr/>
        </p:nvSpPr>
        <p:spPr>
          <a:xfrm>
            <a:off x="3776220" y="88490"/>
            <a:ext cx="4050258" cy="65993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D00C2DF-4C1A-2AE0-1DBF-66E1426E52FD}"/>
              </a:ext>
            </a:extLst>
          </p:cNvPr>
          <p:cNvSpPr/>
          <p:nvPr/>
        </p:nvSpPr>
        <p:spPr>
          <a:xfrm>
            <a:off x="4321459" y="845922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Read </a:t>
            </a:r>
            <a:r>
              <a:rPr lang="de-DE" sz="1200" dirty="0" err="1">
                <a:solidFill>
                  <a:schemeClr val="tx1"/>
                </a:solidFill>
              </a:rPr>
              <a:t>new</a:t>
            </a:r>
            <a:r>
              <a:rPr lang="de-DE" sz="1200" dirty="0">
                <a:solidFill>
                  <a:schemeClr val="tx1"/>
                </a:solidFill>
              </a:rPr>
              <a:t> Scenarios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Candidates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8965B3D9-DD7D-2DDC-3D0C-6AC611497660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4945807" y="1379322"/>
            <a:ext cx="6141" cy="179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F97872AC-A8B7-6288-1906-8FB9F48B166B}"/>
              </a:ext>
            </a:extLst>
          </p:cNvPr>
          <p:cNvSpPr/>
          <p:nvPr/>
        </p:nvSpPr>
        <p:spPr>
          <a:xfrm>
            <a:off x="4327600" y="1558563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Create </a:t>
            </a:r>
            <a:r>
              <a:rPr lang="de-DE" sz="1200" dirty="0" err="1">
                <a:solidFill>
                  <a:schemeClr val="tx1"/>
                </a:solidFill>
              </a:rPr>
              <a:t>CoreHash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from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Candidate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8E75FAA0-B1BD-7D62-3B6E-E13D99493AE4}"/>
              </a:ext>
            </a:extLst>
          </p:cNvPr>
          <p:cNvSpPr/>
          <p:nvPr/>
        </p:nvSpPr>
        <p:spPr>
          <a:xfrm>
            <a:off x="6094399" y="2279680"/>
            <a:ext cx="1515769" cy="847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Reject</a:t>
            </a:r>
            <a:r>
              <a:rPr lang="de-DE" sz="1200" dirty="0">
                <a:solidFill>
                  <a:schemeClr val="tx1"/>
                </a:solidFill>
              </a:rPr>
              <a:t>, </a:t>
            </a:r>
            <a:r>
              <a:rPr lang="de-DE" sz="1200" dirty="0" err="1">
                <a:solidFill>
                  <a:schemeClr val="tx1"/>
                </a:solidFill>
              </a:rPr>
              <a:t>skip</a:t>
            </a:r>
            <a:r>
              <a:rPr lang="de-DE" sz="1200" dirty="0">
                <a:solidFill>
                  <a:schemeClr val="tx1"/>
                </a:solidFill>
              </a:rPr>
              <a:t>, log and </a:t>
            </a:r>
            <a:r>
              <a:rPr lang="de-DE" sz="1200" dirty="0" err="1">
                <a:solidFill>
                  <a:schemeClr val="tx1"/>
                </a:solidFill>
              </a:rPr>
              <a:t>move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file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„</a:t>
            </a:r>
            <a:r>
              <a:rPr lang="de-DE" sz="1200" dirty="0" err="1">
                <a:solidFill>
                  <a:schemeClr val="tx1"/>
                </a:solidFill>
              </a:rPr>
              <a:t>Rejected</a:t>
            </a:r>
            <a:r>
              <a:rPr lang="de-DE" sz="1200" dirty="0">
                <a:solidFill>
                  <a:schemeClr val="tx1"/>
                </a:solidFill>
              </a:rPr>
              <a:t>“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3569B3D9-D871-A9EE-6246-4B9E6B2FD9BA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 flipH="1">
            <a:off x="4945807" y="2091963"/>
            <a:ext cx="6141" cy="1877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aute 51">
            <a:extLst>
              <a:ext uri="{FF2B5EF4-FFF2-40B4-BE49-F238E27FC236}">
                <a16:creationId xmlns:a16="http://schemas.microsoft.com/office/drawing/2014/main" id="{CF949026-7BD9-7A6C-27DE-1215800C0A29}"/>
              </a:ext>
            </a:extLst>
          </p:cNvPr>
          <p:cNvSpPr/>
          <p:nvPr/>
        </p:nvSpPr>
        <p:spPr>
          <a:xfrm>
            <a:off x="4031408" y="2279679"/>
            <a:ext cx="1828797" cy="84768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CoreHash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existing</a:t>
            </a:r>
            <a:r>
              <a:rPr lang="de-DE" sz="1200" dirty="0">
                <a:solidFill>
                  <a:schemeClr val="tx1"/>
                </a:solidFill>
              </a:rPr>
              <a:t> in OC*?</a:t>
            </a:r>
          </a:p>
        </p:txBody>
      </p: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E97DEA5C-4A76-A5B7-6B85-E78437DFFC3A}"/>
              </a:ext>
            </a:extLst>
          </p:cNvPr>
          <p:cNvCxnSpPr>
            <a:cxnSpLocks/>
            <a:stCxn id="52" idx="3"/>
            <a:endCxn id="49" idx="1"/>
          </p:cNvCxnSpPr>
          <p:nvPr/>
        </p:nvCxnSpPr>
        <p:spPr>
          <a:xfrm>
            <a:off x="5860205" y="2703522"/>
            <a:ext cx="23419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C8611909-E247-D0EC-1943-8C38B90FE062}"/>
              </a:ext>
            </a:extLst>
          </p:cNvPr>
          <p:cNvCxnSpPr>
            <a:cxnSpLocks/>
            <a:stCxn id="52" idx="2"/>
            <a:endCxn id="66" idx="0"/>
          </p:cNvCxnSpPr>
          <p:nvPr/>
        </p:nvCxnSpPr>
        <p:spPr>
          <a:xfrm>
            <a:off x="4945807" y="3127365"/>
            <a:ext cx="0" cy="173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hteck 62">
            <a:extLst>
              <a:ext uri="{FF2B5EF4-FFF2-40B4-BE49-F238E27FC236}">
                <a16:creationId xmlns:a16="http://schemas.microsoft.com/office/drawing/2014/main" id="{FD435C70-6B89-8E2C-D2B6-CC1DFF85889B}"/>
              </a:ext>
            </a:extLst>
          </p:cNvPr>
          <p:cNvSpPr/>
          <p:nvPr/>
        </p:nvSpPr>
        <p:spPr>
          <a:xfrm>
            <a:off x="1491648" y="4436108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Processed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6DC35673-7338-7803-2D28-AB2E62AAA7E1}"/>
              </a:ext>
            </a:extLst>
          </p:cNvPr>
          <p:cNvSpPr/>
          <p:nvPr/>
        </p:nvSpPr>
        <p:spPr>
          <a:xfrm>
            <a:off x="4321459" y="3301192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Determine</a:t>
            </a:r>
            <a:r>
              <a:rPr lang="de-DE" sz="1200" dirty="0">
                <a:solidFill>
                  <a:schemeClr val="tx1"/>
                </a:solidFill>
              </a:rPr>
              <a:t> Scenario </a:t>
            </a:r>
            <a:r>
              <a:rPr lang="de-DE" sz="1200" dirty="0" err="1">
                <a:solidFill>
                  <a:schemeClr val="tx1"/>
                </a:solidFill>
              </a:rPr>
              <a:t>Number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870ADA2F-A0A1-C206-41FE-013F13E10AA2}"/>
              </a:ext>
            </a:extLst>
          </p:cNvPr>
          <p:cNvCxnSpPr>
            <a:cxnSpLocks/>
            <a:stCxn id="66" idx="2"/>
            <a:endCxn id="72" idx="0"/>
          </p:cNvCxnSpPr>
          <p:nvPr/>
        </p:nvCxnSpPr>
        <p:spPr>
          <a:xfrm>
            <a:off x="4945807" y="3834592"/>
            <a:ext cx="0" cy="254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hteck 71">
            <a:extLst>
              <a:ext uri="{FF2B5EF4-FFF2-40B4-BE49-F238E27FC236}">
                <a16:creationId xmlns:a16="http://schemas.microsoft.com/office/drawing/2014/main" id="{9940F44B-5DB0-7516-BC4E-F783CC717BED}"/>
              </a:ext>
            </a:extLst>
          </p:cNvPr>
          <p:cNvSpPr/>
          <p:nvPr/>
        </p:nvSpPr>
        <p:spPr>
          <a:xfrm>
            <a:off x="4321459" y="4089288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Create SHG Scenario</a:t>
            </a:r>
          </a:p>
        </p:txBody>
      </p: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5670F477-9528-5323-E421-C04ADEAD8AFE}"/>
              </a:ext>
            </a:extLst>
          </p:cNvPr>
          <p:cNvCxnSpPr>
            <a:cxnSpLocks/>
            <a:stCxn id="72" idx="2"/>
            <a:endCxn id="77" idx="0"/>
          </p:cNvCxnSpPr>
          <p:nvPr/>
        </p:nvCxnSpPr>
        <p:spPr>
          <a:xfrm>
            <a:off x="4945807" y="4622688"/>
            <a:ext cx="0" cy="254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hteck 76">
            <a:extLst>
              <a:ext uri="{FF2B5EF4-FFF2-40B4-BE49-F238E27FC236}">
                <a16:creationId xmlns:a16="http://schemas.microsoft.com/office/drawing/2014/main" id="{E304FF4D-1309-3BCC-2978-248B9225B3EE}"/>
              </a:ext>
            </a:extLst>
          </p:cNvPr>
          <p:cNvSpPr/>
          <p:nvPr/>
        </p:nvSpPr>
        <p:spPr>
          <a:xfrm>
            <a:off x="4321459" y="4877384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Write Scenario File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OC/</a:t>
            </a:r>
            <a:r>
              <a:rPr lang="de-DE" sz="1200" dirty="0" err="1">
                <a:solidFill>
                  <a:schemeClr val="tx1"/>
                </a:solidFill>
              </a:rPr>
              <a:t>Created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4E57FBB7-05CA-5615-DDB6-4D8BF8DB4BC9}"/>
              </a:ext>
            </a:extLst>
          </p:cNvPr>
          <p:cNvSpPr/>
          <p:nvPr/>
        </p:nvSpPr>
        <p:spPr>
          <a:xfrm>
            <a:off x="1530526" y="5353050"/>
            <a:ext cx="1184610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Rejected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5D6E9A9A-6525-8227-0B58-30E690C65F1F}"/>
              </a:ext>
            </a:extLst>
          </p:cNvPr>
          <p:cNvSpPr txBox="1"/>
          <p:nvPr/>
        </p:nvSpPr>
        <p:spPr>
          <a:xfrm>
            <a:off x="987373" y="6454012"/>
            <a:ext cx="2321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highlight>
                  <a:srgbClr val="00FF00"/>
                </a:highlight>
              </a:rPr>
              <a:t>01_Seeds</a:t>
            </a:r>
            <a:endParaRPr lang="de-DE" b="1" dirty="0">
              <a:highlight>
                <a:srgbClr val="00FF00"/>
              </a:highlight>
            </a:endParaRP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6BE0428F-2701-94D7-F35D-D115FCE8C2C2}"/>
              </a:ext>
            </a:extLst>
          </p:cNvPr>
          <p:cNvSpPr/>
          <p:nvPr/>
        </p:nvSpPr>
        <p:spPr>
          <a:xfrm>
            <a:off x="9105275" y="2190750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Created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31EE0AC9-28D2-B0F4-802A-3AF01C5C6790}"/>
              </a:ext>
            </a:extLst>
          </p:cNvPr>
          <p:cNvCxnSpPr>
            <a:cxnSpLocks/>
            <a:stCxn id="88" idx="2"/>
            <a:endCxn id="99" idx="0"/>
          </p:cNvCxnSpPr>
          <p:nvPr/>
        </p:nvCxnSpPr>
        <p:spPr>
          <a:xfrm>
            <a:off x="9729623" y="2724150"/>
            <a:ext cx="7589" cy="831738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hteck 98">
            <a:extLst>
              <a:ext uri="{FF2B5EF4-FFF2-40B4-BE49-F238E27FC236}">
                <a16:creationId xmlns:a16="http://schemas.microsoft.com/office/drawing/2014/main" id="{C1D0D5E5-0202-EDF9-49BB-9FF5E322AE9B}"/>
              </a:ext>
            </a:extLst>
          </p:cNvPr>
          <p:cNvSpPr/>
          <p:nvPr/>
        </p:nvSpPr>
        <p:spPr>
          <a:xfrm>
            <a:off x="9112864" y="3555888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Released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C4D3098A-F125-0B64-F39A-7A1EF178A1BC}"/>
              </a:ext>
            </a:extLst>
          </p:cNvPr>
          <p:cNvSpPr txBox="1"/>
          <p:nvPr/>
        </p:nvSpPr>
        <p:spPr>
          <a:xfrm>
            <a:off x="8097604" y="6315323"/>
            <a:ext cx="2574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highlight>
                  <a:srgbClr val="00FF00"/>
                </a:highlight>
              </a:rPr>
              <a:t>02_Experiments</a:t>
            </a:r>
            <a:endParaRPr lang="de-DE" b="1" dirty="0">
              <a:highlight>
                <a:srgbClr val="00FF00"/>
              </a:highlight>
            </a:endParaRP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3E1C1695-B0FC-3691-43A4-259F01E5F4AA}"/>
              </a:ext>
            </a:extLst>
          </p:cNvPr>
          <p:cNvSpPr/>
          <p:nvPr/>
        </p:nvSpPr>
        <p:spPr>
          <a:xfrm>
            <a:off x="4139381" y="5665480"/>
            <a:ext cx="1632154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Move </a:t>
            </a:r>
            <a:r>
              <a:rPr lang="de-DE" sz="1200" dirty="0" err="1">
                <a:solidFill>
                  <a:schemeClr val="tx1"/>
                </a:solidFill>
              </a:rPr>
              <a:t>Candidate</a:t>
            </a:r>
            <a:r>
              <a:rPr lang="de-DE" sz="1200" dirty="0">
                <a:solidFill>
                  <a:schemeClr val="tx1"/>
                </a:solidFill>
              </a:rPr>
              <a:t> File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CD/</a:t>
            </a:r>
            <a:r>
              <a:rPr lang="de-DE" sz="1200" dirty="0" err="1">
                <a:solidFill>
                  <a:schemeClr val="tx1"/>
                </a:solidFill>
              </a:rPr>
              <a:t>Processed</a:t>
            </a:r>
            <a:endParaRPr lang="de-DE" sz="1200" dirty="0">
              <a:solidFill>
                <a:schemeClr val="tx1"/>
              </a:solidFill>
            </a:endParaRPr>
          </a:p>
        </p:txBody>
      </p:sp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03BED8F5-D850-0A68-467D-EB91177E3541}"/>
              </a:ext>
            </a:extLst>
          </p:cNvPr>
          <p:cNvGrpSpPr/>
          <p:nvPr/>
        </p:nvGrpSpPr>
        <p:grpSpPr>
          <a:xfrm>
            <a:off x="1904725" y="86958"/>
            <a:ext cx="311148" cy="634999"/>
            <a:chOff x="1168400" y="2952750"/>
            <a:chExt cx="311148" cy="634999"/>
          </a:xfrm>
        </p:grpSpPr>
        <p:sp>
          <p:nvSpPr>
            <p:cNvPr id="114" name="Ellipse 113">
              <a:extLst>
                <a:ext uri="{FF2B5EF4-FFF2-40B4-BE49-F238E27FC236}">
                  <a16:creationId xmlns:a16="http://schemas.microsoft.com/office/drawing/2014/main" id="{8502F2F9-8B7C-3D4D-E6E3-D3C54FF69C32}"/>
                </a:ext>
              </a:extLst>
            </p:cNvPr>
            <p:cNvSpPr/>
            <p:nvPr/>
          </p:nvSpPr>
          <p:spPr>
            <a:xfrm>
              <a:off x="1244600" y="2952750"/>
              <a:ext cx="152399" cy="15239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5" name="Gerader Verbinder 114">
              <a:extLst>
                <a:ext uri="{FF2B5EF4-FFF2-40B4-BE49-F238E27FC236}">
                  <a16:creationId xmlns:a16="http://schemas.microsoft.com/office/drawing/2014/main" id="{B451D6D8-9AB6-35D3-32B1-58E481E4BD30}"/>
                </a:ext>
              </a:extLst>
            </p:cNvPr>
            <p:cNvCxnSpPr>
              <a:stCxn id="114" idx="4"/>
            </p:cNvCxnSpPr>
            <p:nvPr/>
          </p:nvCxnSpPr>
          <p:spPr>
            <a:xfrm flipH="1">
              <a:off x="1314450" y="3105149"/>
              <a:ext cx="6350" cy="32385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Gerader Verbinder 115">
              <a:extLst>
                <a:ext uri="{FF2B5EF4-FFF2-40B4-BE49-F238E27FC236}">
                  <a16:creationId xmlns:a16="http://schemas.microsoft.com/office/drawing/2014/main" id="{0BC467FA-37D0-C938-B390-5E6A15D66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400" y="3429000"/>
              <a:ext cx="146050" cy="15239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r Verbinder 116">
              <a:extLst>
                <a:ext uri="{FF2B5EF4-FFF2-40B4-BE49-F238E27FC236}">
                  <a16:creationId xmlns:a16="http://schemas.microsoft.com/office/drawing/2014/main" id="{963B27DF-0919-A65E-19EB-D216DBE9D1E7}"/>
                </a:ext>
              </a:extLst>
            </p:cNvPr>
            <p:cNvCxnSpPr>
              <a:cxnSpLocks/>
            </p:cNvCxnSpPr>
            <p:nvPr/>
          </p:nvCxnSpPr>
          <p:spPr>
            <a:xfrm>
              <a:off x="1314450" y="3429000"/>
              <a:ext cx="123825" cy="1587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r Verbinder 117">
              <a:extLst>
                <a:ext uri="{FF2B5EF4-FFF2-40B4-BE49-F238E27FC236}">
                  <a16:creationId xmlns:a16="http://schemas.microsoft.com/office/drawing/2014/main" id="{6E7474E2-66BC-9D5A-E22B-16CA6C7460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400" y="3205163"/>
              <a:ext cx="3111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Textfeld 118">
            <a:extLst>
              <a:ext uri="{FF2B5EF4-FFF2-40B4-BE49-F238E27FC236}">
                <a16:creationId xmlns:a16="http://schemas.microsoft.com/office/drawing/2014/main" id="{AF2E565A-956A-8268-D57C-57DD083422CD}"/>
              </a:ext>
            </a:extLst>
          </p:cNvPr>
          <p:cNvSpPr txBox="1"/>
          <p:nvPr/>
        </p:nvSpPr>
        <p:spPr>
          <a:xfrm>
            <a:off x="2620287" y="362133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run</a:t>
            </a:r>
            <a:endParaRPr lang="de-DE" sz="1200" dirty="0"/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D55FF450-ADC8-17B7-65F5-13BAD5443932}"/>
              </a:ext>
            </a:extLst>
          </p:cNvPr>
          <p:cNvSpPr txBox="1"/>
          <p:nvPr/>
        </p:nvSpPr>
        <p:spPr>
          <a:xfrm>
            <a:off x="6064902" y="252185"/>
            <a:ext cx="16608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>
                <a:highlight>
                  <a:srgbClr val="00FF00"/>
                </a:highlight>
                <a:sym typeface="Wingdings" panose="05000000000000000000" pitchFamily="2" charset="2"/>
              </a:rPr>
              <a:t> </a:t>
            </a:r>
            <a:r>
              <a:rPr lang="de-DE" b="1" dirty="0" err="1">
                <a:highlight>
                  <a:srgbClr val="00FF00"/>
                </a:highlight>
                <a:sym typeface="Wingdings" panose="05000000000000000000" pitchFamily="2" charset="2"/>
              </a:rPr>
              <a:t>AstronoCert</a:t>
            </a:r>
            <a:endParaRPr lang="de-DE" b="1" dirty="0">
              <a:highlight>
                <a:srgbClr val="00FF00"/>
              </a:highlight>
            </a:endParaRP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59D4A7C3-F53B-0006-5ED2-23D7D1E72629}"/>
              </a:ext>
            </a:extLst>
          </p:cNvPr>
          <p:cNvSpPr/>
          <p:nvPr/>
        </p:nvSpPr>
        <p:spPr>
          <a:xfrm>
            <a:off x="10432212" y="142073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026C6623-26D0-6EC4-88CC-5D5C7C9323D3}"/>
              </a:ext>
            </a:extLst>
          </p:cNvPr>
          <p:cNvSpPr txBox="1"/>
          <p:nvPr/>
        </p:nvSpPr>
        <p:spPr>
          <a:xfrm>
            <a:off x="10522807" y="252185"/>
            <a:ext cx="124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Folders</a:t>
            </a:r>
            <a:endParaRPr lang="de-DE" dirty="0"/>
          </a:p>
        </p:txBody>
      </p:sp>
      <p:cxnSp>
        <p:nvCxnSpPr>
          <p:cNvPr id="125" name="Gerade Verbindung mit Pfeil 124">
            <a:extLst>
              <a:ext uri="{FF2B5EF4-FFF2-40B4-BE49-F238E27FC236}">
                <a16:creationId xmlns:a16="http://schemas.microsoft.com/office/drawing/2014/main" id="{09CA8F3C-6C95-3D9A-8757-F0E99D2CDCC8}"/>
              </a:ext>
            </a:extLst>
          </p:cNvPr>
          <p:cNvCxnSpPr>
            <a:cxnSpLocks/>
            <a:stCxn id="77" idx="2"/>
            <a:endCxn id="105" idx="0"/>
          </p:cNvCxnSpPr>
          <p:nvPr/>
        </p:nvCxnSpPr>
        <p:spPr>
          <a:xfrm>
            <a:off x="4945807" y="5410784"/>
            <a:ext cx="9651" cy="2546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aute 132">
            <a:extLst>
              <a:ext uri="{FF2B5EF4-FFF2-40B4-BE49-F238E27FC236}">
                <a16:creationId xmlns:a16="http://schemas.microsoft.com/office/drawing/2014/main" id="{765D7C95-D532-76EF-3400-3DDC4F50B29B}"/>
              </a:ext>
            </a:extLst>
          </p:cNvPr>
          <p:cNvSpPr/>
          <p:nvPr/>
        </p:nvSpPr>
        <p:spPr>
          <a:xfrm>
            <a:off x="-240437" y="7353291"/>
            <a:ext cx="1828797" cy="84768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CoreHash</a:t>
            </a:r>
            <a:endParaRPr lang="de-DE" sz="1200" dirty="0">
              <a:solidFill>
                <a:schemeClr val="tx1"/>
              </a:solidFill>
            </a:endParaRP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Existing</a:t>
            </a:r>
            <a:r>
              <a:rPr lang="de-DE" sz="1200" dirty="0">
                <a:solidFill>
                  <a:schemeClr val="tx1"/>
                </a:solidFill>
              </a:rPr>
              <a:t> in OC*?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9A4047A3-0674-7A4C-8041-AF56C2A38A8B}"/>
              </a:ext>
            </a:extLst>
          </p:cNvPr>
          <p:cNvSpPr txBox="1"/>
          <p:nvPr/>
        </p:nvSpPr>
        <p:spPr>
          <a:xfrm>
            <a:off x="7009144" y="5831436"/>
            <a:ext cx="87089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chemeClr val="tx1"/>
                </a:solidFill>
              </a:rPr>
              <a:t>*OC/</a:t>
            </a:r>
            <a:r>
              <a:rPr lang="de-DE" sz="900" dirty="0" err="1">
                <a:solidFill>
                  <a:schemeClr val="tx1"/>
                </a:solidFill>
              </a:rPr>
              <a:t>Created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or</a:t>
            </a:r>
            <a:r>
              <a:rPr lang="de-DE" sz="900" dirty="0">
                <a:solidFill>
                  <a:schemeClr val="tx1"/>
                </a:solidFill>
              </a:rPr>
              <a:t> OC/</a:t>
            </a:r>
            <a:r>
              <a:rPr lang="de-DE" sz="900" dirty="0" err="1">
                <a:solidFill>
                  <a:schemeClr val="tx1"/>
                </a:solidFill>
              </a:rPr>
              <a:t>Released</a:t>
            </a:r>
            <a:endParaRPr lang="de-DE" sz="900" dirty="0"/>
          </a:p>
        </p:txBody>
      </p:sp>
      <p:cxnSp>
        <p:nvCxnSpPr>
          <p:cNvPr id="138" name="Verbinder: gewinkelt 137">
            <a:extLst>
              <a:ext uri="{FF2B5EF4-FFF2-40B4-BE49-F238E27FC236}">
                <a16:creationId xmlns:a16="http://schemas.microsoft.com/office/drawing/2014/main" id="{3B931583-5F80-DE01-9196-DCFD54CF4EA6}"/>
              </a:ext>
            </a:extLst>
          </p:cNvPr>
          <p:cNvCxnSpPr>
            <a:stCxn id="49" idx="2"/>
            <a:endCxn id="80" idx="2"/>
          </p:cNvCxnSpPr>
          <p:nvPr/>
        </p:nvCxnSpPr>
        <p:spPr>
          <a:xfrm rot="5400000">
            <a:off x="3108016" y="2142182"/>
            <a:ext cx="2759084" cy="4729453"/>
          </a:xfrm>
          <a:prstGeom prst="bentConnector3">
            <a:avLst>
              <a:gd name="adj1" fmla="val 12147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Verbinder: gewinkelt 140">
            <a:extLst>
              <a:ext uri="{FF2B5EF4-FFF2-40B4-BE49-F238E27FC236}">
                <a16:creationId xmlns:a16="http://schemas.microsoft.com/office/drawing/2014/main" id="{1423940F-C446-927B-9532-6204A1AB8FEC}"/>
              </a:ext>
            </a:extLst>
          </p:cNvPr>
          <p:cNvCxnSpPr>
            <a:cxnSpLocks/>
            <a:stCxn id="105" idx="1"/>
            <a:endCxn id="63" idx="3"/>
          </p:cNvCxnSpPr>
          <p:nvPr/>
        </p:nvCxnSpPr>
        <p:spPr>
          <a:xfrm rot="10800000">
            <a:off x="2740345" y="4702808"/>
            <a:ext cx="1399037" cy="122937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Verbinder: gewinkelt 143">
            <a:extLst>
              <a:ext uri="{FF2B5EF4-FFF2-40B4-BE49-F238E27FC236}">
                <a16:creationId xmlns:a16="http://schemas.microsoft.com/office/drawing/2014/main" id="{ED586386-FBD8-3FB0-1D8E-E0BF99163B32}"/>
              </a:ext>
            </a:extLst>
          </p:cNvPr>
          <p:cNvCxnSpPr>
            <a:cxnSpLocks/>
            <a:stCxn id="77" idx="3"/>
            <a:endCxn id="99" idx="2"/>
          </p:cNvCxnSpPr>
          <p:nvPr/>
        </p:nvCxnSpPr>
        <p:spPr>
          <a:xfrm flipV="1">
            <a:off x="5570155" y="4089288"/>
            <a:ext cx="4167057" cy="105479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Verbinder: gewinkelt 146">
            <a:extLst>
              <a:ext uri="{FF2B5EF4-FFF2-40B4-BE49-F238E27FC236}">
                <a16:creationId xmlns:a16="http://schemas.microsoft.com/office/drawing/2014/main" id="{9EA3656C-ECD5-72C0-5B25-4847D662C71A}"/>
              </a:ext>
            </a:extLst>
          </p:cNvPr>
          <p:cNvCxnSpPr>
            <a:stCxn id="66" idx="3"/>
            <a:endCxn id="99" idx="1"/>
          </p:cNvCxnSpPr>
          <p:nvPr/>
        </p:nvCxnSpPr>
        <p:spPr>
          <a:xfrm>
            <a:off x="5570155" y="3567892"/>
            <a:ext cx="3542709" cy="25469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feld 147">
            <a:extLst>
              <a:ext uri="{FF2B5EF4-FFF2-40B4-BE49-F238E27FC236}">
                <a16:creationId xmlns:a16="http://schemas.microsoft.com/office/drawing/2014/main" id="{FAD0BC7C-8D36-8A9E-7451-1BEFD6D7C8F2}"/>
              </a:ext>
            </a:extLst>
          </p:cNvPr>
          <p:cNvSpPr txBox="1"/>
          <p:nvPr/>
        </p:nvSpPr>
        <p:spPr>
          <a:xfrm>
            <a:off x="8459784" y="3485066"/>
            <a:ext cx="483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read</a:t>
            </a:r>
            <a:endParaRPr lang="de-DE" dirty="0"/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F3219F28-898D-6DBF-D665-FFFEB049A833}"/>
              </a:ext>
            </a:extLst>
          </p:cNvPr>
          <p:cNvSpPr txBox="1"/>
          <p:nvPr/>
        </p:nvSpPr>
        <p:spPr>
          <a:xfrm>
            <a:off x="3189314" y="4444866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write</a:t>
            </a:r>
            <a:endParaRPr lang="de-DE" sz="1200" dirty="0"/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AA1C476F-DECE-8FF5-40B7-86D61D9ADE0A}"/>
              </a:ext>
            </a:extLst>
          </p:cNvPr>
          <p:cNvSpPr txBox="1"/>
          <p:nvPr/>
        </p:nvSpPr>
        <p:spPr>
          <a:xfrm>
            <a:off x="2323116" y="6103692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/>
              <a:t>write</a:t>
            </a:r>
            <a:endParaRPr lang="de-DE" sz="1200" dirty="0"/>
          </a:p>
        </p:txBody>
      </p:sp>
      <p:sp>
        <p:nvSpPr>
          <p:cNvPr id="159" name="Rechteck 158">
            <a:extLst>
              <a:ext uri="{FF2B5EF4-FFF2-40B4-BE49-F238E27FC236}">
                <a16:creationId xmlns:a16="http://schemas.microsoft.com/office/drawing/2014/main" id="{CE232249-4BC0-2DB2-7DEA-421EC9E01EF0}"/>
              </a:ext>
            </a:extLst>
          </p:cNvPr>
          <p:cNvSpPr/>
          <p:nvPr/>
        </p:nvSpPr>
        <p:spPr>
          <a:xfrm>
            <a:off x="4321459" y="170151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Start </a:t>
            </a:r>
            <a:r>
              <a:rPr lang="de-DE" sz="1200" dirty="0" err="1">
                <a:solidFill>
                  <a:schemeClr val="tx1"/>
                </a:solidFill>
              </a:rPr>
              <a:t>flow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if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new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candidates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F40E7644-DFCB-F8FA-F2C7-26FEE52004A4}"/>
              </a:ext>
            </a:extLst>
          </p:cNvPr>
          <p:cNvCxnSpPr>
            <a:cxnSpLocks/>
            <a:stCxn id="159" idx="2"/>
            <a:endCxn id="36" idx="0"/>
          </p:cNvCxnSpPr>
          <p:nvPr/>
        </p:nvCxnSpPr>
        <p:spPr>
          <a:xfrm>
            <a:off x="4945807" y="703551"/>
            <a:ext cx="0" cy="142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Verbinder: gewinkelt 167">
            <a:extLst>
              <a:ext uri="{FF2B5EF4-FFF2-40B4-BE49-F238E27FC236}">
                <a16:creationId xmlns:a16="http://schemas.microsoft.com/office/drawing/2014/main" id="{3DD26CA0-8A2C-7450-1598-30F8EEC2C638}"/>
              </a:ext>
            </a:extLst>
          </p:cNvPr>
          <p:cNvCxnSpPr>
            <a:cxnSpLocks/>
            <a:stCxn id="36" idx="1"/>
            <a:endCxn id="14" idx="3"/>
          </p:cNvCxnSpPr>
          <p:nvPr/>
        </p:nvCxnSpPr>
        <p:spPr>
          <a:xfrm rot="10800000" flipV="1">
            <a:off x="3061651" y="1112621"/>
            <a:ext cx="1259808" cy="16414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feld 169">
            <a:extLst>
              <a:ext uri="{FF2B5EF4-FFF2-40B4-BE49-F238E27FC236}">
                <a16:creationId xmlns:a16="http://schemas.microsoft.com/office/drawing/2014/main" id="{CA154C73-3877-3440-D02B-C2818B227E1A}"/>
              </a:ext>
            </a:extLst>
          </p:cNvPr>
          <p:cNvSpPr txBox="1"/>
          <p:nvPr/>
        </p:nvSpPr>
        <p:spPr>
          <a:xfrm>
            <a:off x="3204413" y="2487928"/>
            <a:ext cx="483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read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EB0971E-D6D8-665A-6DAB-4252FF64D4EB}"/>
              </a:ext>
            </a:extLst>
          </p:cNvPr>
          <p:cNvSpPr/>
          <p:nvPr/>
        </p:nvSpPr>
        <p:spPr>
          <a:xfrm>
            <a:off x="118715" y="929086"/>
            <a:ext cx="1040492" cy="58531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Meeus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Tool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66D0895A-70A1-79B5-5B24-90759DD24ADC}"/>
              </a:ext>
            </a:extLst>
          </p:cNvPr>
          <p:cNvSpPr txBox="1"/>
          <p:nvPr/>
        </p:nvSpPr>
        <p:spPr>
          <a:xfrm>
            <a:off x="8911187" y="4898243"/>
            <a:ext cx="5404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/>
              <a:t>Write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CEF8549-9F85-2BDD-8B25-FE353555C0FA}"/>
              </a:ext>
            </a:extLst>
          </p:cNvPr>
          <p:cNvSpPr/>
          <p:nvPr/>
        </p:nvSpPr>
        <p:spPr>
          <a:xfrm>
            <a:off x="1009533" y="2487403"/>
            <a:ext cx="99317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Created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1983623D-B81B-F220-9D79-BBFA057B658E}"/>
              </a:ext>
            </a:extLst>
          </p:cNvPr>
          <p:cNvCxnSpPr>
            <a:stCxn id="2" idx="2"/>
            <a:endCxn id="16" idx="1"/>
          </p:cNvCxnSpPr>
          <p:nvPr/>
        </p:nvCxnSpPr>
        <p:spPr>
          <a:xfrm rot="16200000" flipH="1">
            <a:off x="204397" y="1948966"/>
            <a:ext cx="1239701" cy="370572"/>
          </a:xfrm>
          <a:prstGeom prst="bent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erbinder: gewinkelt 23">
            <a:extLst>
              <a:ext uri="{FF2B5EF4-FFF2-40B4-BE49-F238E27FC236}">
                <a16:creationId xmlns:a16="http://schemas.microsoft.com/office/drawing/2014/main" id="{4F0E628D-781C-CD09-AAF3-270AFE223A5C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304800" y="2754103"/>
            <a:ext cx="704733" cy="674897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00D0D133-B613-F9A6-E740-E5088613164D}"/>
              </a:ext>
            </a:extLst>
          </p:cNvPr>
          <p:cNvSpPr/>
          <p:nvPr/>
        </p:nvSpPr>
        <p:spPr>
          <a:xfrm>
            <a:off x="42884" y="3233575"/>
            <a:ext cx="738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tx1"/>
                </a:solidFill>
              </a:rPr>
              <a:t>From</a:t>
            </a:r>
            <a:endParaRPr lang="de-DE" sz="1200" dirty="0">
              <a:solidFill>
                <a:schemeClr val="tx1"/>
              </a:solidFill>
            </a:endParaRPr>
          </a:p>
          <a:p>
            <a:r>
              <a:rPr lang="de-DE" sz="1200" dirty="0">
                <a:solidFill>
                  <a:schemeClr val="tx1"/>
                </a:solidFill>
              </a:rPr>
              <a:t>Analysis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BDC0E7B-038B-E9DE-1CC6-D181B3D9A628}"/>
              </a:ext>
            </a:extLst>
          </p:cNvPr>
          <p:cNvSpPr/>
          <p:nvPr/>
        </p:nvSpPr>
        <p:spPr>
          <a:xfrm>
            <a:off x="574348" y="2508766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solidFill>
                  <a:schemeClr val="tx1"/>
                </a:solidFill>
              </a:rPr>
              <a:t>write</a:t>
            </a:r>
            <a:endParaRPr lang="de-DE" sz="1200" dirty="0">
              <a:solidFill>
                <a:schemeClr val="tx1"/>
              </a:solidFill>
            </a:endParaRPr>
          </a:p>
        </p:txBody>
      </p:sp>
      <p:cxnSp>
        <p:nvCxnSpPr>
          <p:cNvPr id="31" name="Verbinder: gewinkelt 30">
            <a:extLst>
              <a:ext uri="{FF2B5EF4-FFF2-40B4-BE49-F238E27FC236}">
                <a16:creationId xmlns:a16="http://schemas.microsoft.com/office/drawing/2014/main" id="{69561037-5AB0-68EE-639E-967DB51BB34A}"/>
              </a:ext>
            </a:extLst>
          </p:cNvPr>
          <p:cNvCxnSpPr>
            <a:stCxn id="16" idx="0"/>
            <a:endCxn id="4" idx="1"/>
          </p:cNvCxnSpPr>
          <p:nvPr/>
        </p:nvCxnSpPr>
        <p:spPr>
          <a:xfrm rot="5400000" flipH="1" flipV="1">
            <a:off x="1172482" y="1697742"/>
            <a:ext cx="1123301" cy="45602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5E8841D6-4C34-911E-3644-ED915AF8E623}"/>
              </a:ext>
            </a:extLst>
          </p:cNvPr>
          <p:cNvSpPr txBox="1"/>
          <p:nvPr/>
        </p:nvSpPr>
        <p:spPr>
          <a:xfrm>
            <a:off x="2545926" y="2173743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E341CB5F-A69B-653D-47AF-D4D361504BDF}"/>
              </a:ext>
            </a:extLst>
          </p:cNvPr>
          <p:cNvSpPr txBox="1"/>
          <p:nvPr/>
        </p:nvSpPr>
        <p:spPr>
          <a:xfrm>
            <a:off x="1534150" y="2123074"/>
            <a:ext cx="483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read</a:t>
            </a:r>
            <a:endParaRPr lang="de-DE" dirty="0"/>
          </a:p>
        </p:txBody>
      </p:sp>
      <p:cxnSp>
        <p:nvCxnSpPr>
          <p:cNvPr id="37" name="Verbinder: gewinkelt 36">
            <a:extLst>
              <a:ext uri="{FF2B5EF4-FFF2-40B4-BE49-F238E27FC236}">
                <a16:creationId xmlns:a16="http://schemas.microsoft.com/office/drawing/2014/main" id="{7CC46170-2296-8F87-F873-9FAA7B354B15}"/>
              </a:ext>
            </a:extLst>
          </p:cNvPr>
          <p:cNvCxnSpPr>
            <a:stCxn id="99" idx="3"/>
          </p:cNvCxnSpPr>
          <p:nvPr/>
        </p:nvCxnSpPr>
        <p:spPr>
          <a:xfrm flipV="1">
            <a:off x="10361560" y="3140019"/>
            <a:ext cx="1515808" cy="682569"/>
          </a:xfrm>
          <a:prstGeom prst="bentConnector3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8E66DF3B-9EB3-8912-B4C7-806AAAA61485}"/>
              </a:ext>
            </a:extLst>
          </p:cNvPr>
          <p:cNvSpPr txBox="1"/>
          <p:nvPr/>
        </p:nvSpPr>
        <p:spPr>
          <a:xfrm>
            <a:off x="11287210" y="2824643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03_EF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8B000A8F-5213-B8B5-44B5-606222DC8C07}"/>
              </a:ext>
            </a:extLst>
          </p:cNvPr>
          <p:cNvSpPr txBox="1"/>
          <p:nvPr/>
        </p:nvSpPr>
        <p:spPr>
          <a:xfrm>
            <a:off x="10427982" y="3460421"/>
            <a:ext cx="483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read</a:t>
            </a:r>
            <a:endParaRPr lang="de-DE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123FB53D-F1CF-0F7F-8223-D08B5A95213C}"/>
              </a:ext>
            </a:extLst>
          </p:cNvPr>
          <p:cNvSpPr txBox="1"/>
          <p:nvPr/>
        </p:nvSpPr>
        <p:spPr>
          <a:xfrm>
            <a:off x="8192433" y="1956513"/>
            <a:ext cx="697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/>
              <a:t>Read/Write</a:t>
            </a:r>
          </a:p>
          <a:p>
            <a:r>
              <a:rPr lang="de-DE" dirty="0"/>
              <a:t>(</a:t>
            </a:r>
            <a:r>
              <a:rPr lang="de-DE" dirty="0" err="1"/>
              <a:t>opt</a:t>
            </a:r>
            <a:r>
              <a:rPr lang="de-DE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097042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82DD-1544-434B-A14F-8E580C91E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hteck 100">
            <a:extLst>
              <a:ext uri="{FF2B5EF4-FFF2-40B4-BE49-F238E27FC236}">
                <a16:creationId xmlns:a16="http://schemas.microsoft.com/office/drawing/2014/main" id="{6DF99F9C-73D3-7152-0392-2810D8F942B0}"/>
              </a:ext>
            </a:extLst>
          </p:cNvPr>
          <p:cNvSpPr/>
          <p:nvPr/>
        </p:nvSpPr>
        <p:spPr>
          <a:xfrm>
            <a:off x="147713" y="1895323"/>
            <a:ext cx="3025156" cy="44858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C511679-A737-D001-DF37-12D081CDE7CD}"/>
              </a:ext>
            </a:extLst>
          </p:cNvPr>
          <p:cNvSpPr/>
          <p:nvPr/>
        </p:nvSpPr>
        <p:spPr>
          <a:xfrm>
            <a:off x="8007668" y="1895321"/>
            <a:ext cx="2413351" cy="44858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F1FA2C66-CE63-6BB1-560F-FC68AFEE5A70}"/>
              </a:ext>
            </a:extLst>
          </p:cNvPr>
          <p:cNvSpPr/>
          <p:nvPr/>
        </p:nvSpPr>
        <p:spPr>
          <a:xfrm>
            <a:off x="3776220" y="176981"/>
            <a:ext cx="4050258" cy="62041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3AF2C545-C1A0-AF72-B6C9-419118232B6C}"/>
              </a:ext>
            </a:extLst>
          </p:cNvPr>
          <p:cNvSpPr/>
          <p:nvPr/>
        </p:nvSpPr>
        <p:spPr>
          <a:xfrm>
            <a:off x="4259890" y="1354738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Read </a:t>
            </a:r>
            <a:r>
              <a:rPr lang="de-DE" sz="1200" dirty="0" err="1">
                <a:solidFill>
                  <a:schemeClr val="tx1"/>
                </a:solidFill>
              </a:rPr>
              <a:t>new</a:t>
            </a:r>
            <a:r>
              <a:rPr lang="de-DE" sz="1200" dirty="0">
                <a:solidFill>
                  <a:schemeClr val="tx1"/>
                </a:solidFill>
              </a:rPr>
              <a:t> Scenarios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817154BE-2D80-7366-407F-0C2DCB1D2AD5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 flipH="1">
            <a:off x="4884237" y="1888138"/>
            <a:ext cx="1" cy="221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05C6BF3A-995C-307D-A5C4-B34B08418396}"/>
              </a:ext>
            </a:extLst>
          </p:cNvPr>
          <p:cNvSpPr/>
          <p:nvPr/>
        </p:nvSpPr>
        <p:spPr>
          <a:xfrm>
            <a:off x="4114864" y="2109526"/>
            <a:ext cx="153874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Create </a:t>
            </a:r>
            <a:r>
              <a:rPr lang="de-DE" sz="1200" dirty="0" err="1">
                <a:solidFill>
                  <a:schemeClr val="tx1"/>
                </a:solidFill>
              </a:rPr>
              <a:t>RequestHash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31D2B47D-2508-2D11-4F38-11B6CD646D71}"/>
              </a:ext>
            </a:extLst>
          </p:cNvPr>
          <p:cNvSpPr/>
          <p:nvPr/>
        </p:nvSpPr>
        <p:spPr>
          <a:xfrm>
            <a:off x="5790707" y="3640769"/>
            <a:ext cx="1021850" cy="444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Reject</a:t>
            </a:r>
            <a:r>
              <a:rPr lang="de-DE" sz="1200" dirty="0">
                <a:solidFill>
                  <a:schemeClr val="tx1"/>
                </a:solidFill>
              </a:rPr>
              <a:t>, Skip and Log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6F411913-A09C-75B8-AD0C-1F683AE44934}"/>
              </a:ext>
            </a:extLst>
          </p:cNvPr>
          <p:cNvCxnSpPr>
            <a:cxnSpLocks/>
            <a:stCxn id="46" idx="2"/>
            <a:endCxn id="52" idx="0"/>
          </p:cNvCxnSpPr>
          <p:nvPr/>
        </p:nvCxnSpPr>
        <p:spPr>
          <a:xfrm>
            <a:off x="4884237" y="2642926"/>
            <a:ext cx="1" cy="266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aute 51">
            <a:extLst>
              <a:ext uri="{FF2B5EF4-FFF2-40B4-BE49-F238E27FC236}">
                <a16:creationId xmlns:a16="http://schemas.microsoft.com/office/drawing/2014/main" id="{C3936B8C-A61E-3034-741B-14E1C9DC4EFF}"/>
              </a:ext>
            </a:extLst>
          </p:cNvPr>
          <p:cNvSpPr/>
          <p:nvPr/>
        </p:nvSpPr>
        <p:spPr>
          <a:xfrm>
            <a:off x="3969839" y="2909626"/>
            <a:ext cx="1828797" cy="847686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Request</a:t>
            </a:r>
          </a:p>
          <a:p>
            <a:pPr algn="ctr"/>
            <a:r>
              <a:rPr lang="de-DE" sz="1200" dirty="0">
                <a:solidFill>
                  <a:schemeClr val="tx1"/>
                </a:solidFill>
              </a:rPr>
              <a:t>Hash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Existing</a:t>
            </a:r>
            <a:r>
              <a:rPr lang="de-DE" sz="1200" dirty="0">
                <a:solidFill>
                  <a:schemeClr val="tx1"/>
                </a:solidFill>
              </a:rPr>
              <a:t>*?</a:t>
            </a:r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6B9B4F5B-A556-37EB-98C5-CFEC0976138D}"/>
              </a:ext>
            </a:extLst>
          </p:cNvPr>
          <p:cNvSpPr/>
          <p:nvPr/>
        </p:nvSpPr>
        <p:spPr>
          <a:xfrm>
            <a:off x="4259890" y="597233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Move Run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Last Run</a:t>
            </a:r>
          </a:p>
        </p:txBody>
      </p:sp>
      <p:sp>
        <p:nvSpPr>
          <p:cNvPr id="77" name="Rechteck 76">
            <a:extLst>
              <a:ext uri="{FF2B5EF4-FFF2-40B4-BE49-F238E27FC236}">
                <a16:creationId xmlns:a16="http://schemas.microsoft.com/office/drawing/2014/main" id="{90B188E9-9E21-3D3A-78A4-46348310B5EF}"/>
              </a:ext>
            </a:extLst>
          </p:cNvPr>
          <p:cNvSpPr/>
          <p:nvPr/>
        </p:nvSpPr>
        <p:spPr>
          <a:xfrm>
            <a:off x="4259224" y="4107173"/>
            <a:ext cx="1248696" cy="533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AddFile</a:t>
            </a:r>
            <a:r>
              <a:rPr lang="de-DE" sz="1200" dirty="0">
                <a:solidFill>
                  <a:schemeClr val="tx1"/>
                </a:solidFill>
              </a:rPr>
              <a:t> 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 RD/Run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3D2CF290-C76F-48E9-B0C5-2B26EF04370A}"/>
              </a:ext>
            </a:extLst>
          </p:cNvPr>
          <p:cNvSpPr/>
          <p:nvPr/>
        </p:nvSpPr>
        <p:spPr>
          <a:xfrm>
            <a:off x="736723" y="3535261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Released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85570844-97F4-C79E-96E6-07B71A27EE0F}"/>
              </a:ext>
            </a:extLst>
          </p:cNvPr>
          <p:cNvSpPr txBox="1"/>
          <p:nvPr/>
        </p:nvSpPr>
        <p:spPr>
          <a:xfrm>
            <a:off x="6096000" y="198275"/>
            <a:ext cx="1630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 err="1">
                <a:solidFill>
                  <a:schemeClr val="tx1"/>
                </a:solidFill>
                <a:highlight>
                  <a:srgbClr val="00FF00"/>
                </a:highlight>
                <a:sym typeface="Wingdings" panose="05000000000000000000" pitchFamily="2" charset="2"/>
              </a:rPr>
              <a:t>AstronoTruth</a:t>
            </a:r>
            <a:endParaRPr lang="de-DE" b="1" dirty="0">
              <a:highlight>
                <a:srgbClr val="00FF00"/>
              </a:highlight>
            </a:endParaRPr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848148FC-F659-0106-5298-35115E948D03}"/>
              </a:ext>
            </a:extLst>
          </p:cNvPr>
          <p:cNvSpPr/>
          <p:nvPr/>
        </p:nvSpPr>
        <p:spPr>
          <a:xfrm>
            <a:off x="9172323" y="547219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12219632-A21C-835C-0490-8036AE4D4D4B}"/>
              </a:ext>
            </a:extLst>
          </p:cNvPr>
          <p:cNvSpPr txBox="1"/>
          <p:nvPr/>
        </p:nvSpPr>
        <p:spPr>
          <a:xfrm>
            <a:off x="10633316" y="634148"/>
            <a:ext cx="12486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Folders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D5024AA-8BE6-07F2-8898-CCD2D8899988}"/>
              </a:ext>
            </a:extLst>
          </p:cNvPr>
          <p:cNvSpPr/>
          <p:nvPr/>
        </p:nvSpPr>
        <p:spPr>
          <a:xfrm>
            <a:off x="8589090" y="2170121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17EC918-D513-276B-C3D0-1CB76468833C}"/>
              </a:ext>
            </a:extLst>
          </p:cNvPr>
          <p:cNvSpPr/>
          <p:nvPr/>
        </p:nvSpPr>
        <p:spPr>
          <a:xfrm>
            <a:off x="8589090" y="4220503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Released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174E0B8-7B8F-625D-B446-A89AF7FE66A1}"/>
              </a:ext>
            </a:extLst>
          </p:cNvPr>
          <p:cNvSpPr txBox="1"/>
          <p:nvPr/>
        </p:nvSpPr>
        <p:spPr>
          <a:xfrm>
            <a:off x="8103465" y="5854520"/>
            <a:ext cx="1972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  <a:highlight>
                  <a:srgbClr val="00FF00"/>
                </a:highlight>
              </a:rPr>
              <a:t>03_GroundTruth</a:t>
            </a:r>
            <a:endParaRPr lang="de-DE" dirty="0">
              <a:highlight>
                <a:srgbClr val="00FF00"/>
              </a:highlight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D494A7F-1EDD-C63C-BC1F-A62AE85F7C30}"/>
              </a:ext>
            </a:extLst>
          </p:cNvPr>
          <p:cNvSpPr/>
          <p:nvPr/>
        </p:nvSpPr>
        <p:spPr>
          <a:xfrm>
            <a:off x="8589090" y="3328662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LastRun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FCD7F0A3-FB71-AD2B-3AFF-AFBC59533CF8}"/>
              </a:ext>
            </a:extLst>
          </p:cNvPr>
          <p:cNvCxnSpPr>
            <a:stCxn id="2" idx="2"/>
            <a:endCxn id="25" idx="0"/>
          </p:cNvCxnSpPr>
          <p:nvPr/>
        </p:nvCxnSpPr>
        <p:spPr>
          <a:xfrm>
            <a:off x="9213438" y="2703521"/>
            <a:ext cx="0" cy="625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Verbinder: gewinkelt 57">
            <a:extLst>
              <a:ext uri="{FF2B5EF4-FFF2-40B4-BE49-F238E27FC236}">
                <a16:creationId xmlns:a16="http://schemas.microsoft.com/office/drawing/2014/main" id="{3E906A47-43AE-F384-A023-B214BDA0AAAA}"/>
              </a:ext>
            </a:extLst>
          </p:cNvPr>
          <p:cNvCxnSpPr>
            <a:stCxn id="99" idx="3"/>
            <a:endCxn id="36" idx="1"/>
          </p:cNvCxnSpPr>
          <p:nvPr/>
        </p:nvCxnSpPr>
        <p:spPr>
          <a:xfrm flipV="1">
            <a:off x="1985419" y="1621438"/>
            <a:ext cx="2274471" cy="2180523"/>
          </a:xfrm>
          <a:prstGeom prst="bentConnector3">
            <a:avLst>
              <a:gd name="adj1" fmla="val 62104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487346C8-B49A-A49D-9BD5-79DA71CA93E9}"/>
              </a:ext>
            </a:extLst>
          </p:cNvPr>
          <p:cNvSpPr txBox="1"/>
          <p:nvPr/>
        </p:nvSpPr>
        <p:spPr>
          <a:xfrm>
            <a:off x="2531319" y="3479962"/>
            <a:ext cx="541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 err="1"/>
              <a:t>read</a:t>
            </a:r>
            <a:endParaRPr lang="de-DE" sz="1200" dirty="0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27ABCE04-E91A-A71C-77E8-ED5B71B8DB5F}"/>
              </a:ext>
            </a:extLst>
          </p:cNvPr>
          <p:cNvSpPr/>
          <p:nvPr/>
        </p:nvSpPr>
        <p:spPr>
          <a:xfrm>
            <a:off x="10838518" y="1361593"/>
            <a:ext cx="1043496" cy="500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9F907FB6-A418-D155-D74D-19628C58FDAF}"/>
              </a:ext>
            </a:extLst>
          </p:cNvPr>
          <p:cNvSpPr txBox="1"/>
          <p:nvPr/>
        </p:nvSpPr>
        <p:spPr>
          <a:xfrm>
            <a:off x="10898035" y="1387161"/>
            <a:ext cx="9244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b="1" dirty="0" err="1">
                <a:solidFill>
                  <a:schemeClr val="tx1"/>
                </a:solidFill>
              </a:rPr>
              <a:t>Compare</a:t>
            </a:r>
            <a:endParaRPr lang="de-DE" sz="1200" b="1" dirty="0">
              <a:solidFill>
                <a:schemeClr val="tx1"/>
              </a:solidFill>
            </a:endParaRPr>
          </a:p>
          <a:p>
            <a:r>
              <a:rPr lang="de-DE" sz="1200" b="1" dirty="0" err="1"/>
              <a:t>Script</a:t>
            </a:r>
            <a:r>
              <a:rPr lang="de-DE" sz="1200" b="1" dirty="0"/>
              <a:t>:</a:t>
            </a:r>
          </a:p>
          <a:p>
            <a:endParaRPr lang="de-DE" sz="1200" dirty="0"/>
          </a:p>
          <a:p>
            <a:r>
              <a:rPr lang="de-DE" sz="1200" dirty="0"/>
              <a:t>Promote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Released</a:t>
            </a:r>
            <a:endParaRPr lang="de-DE" sz="1200" dirty="0"/>
          </a:p>
        </p:txBody>
      </p:sp>
      <p:cxnSp>
        <p:nvCxnSpPr>
          <p:cNvPr id="73" name="Verbinder: gewinkelt 72">
            <a:extLst>
              <a:ext uri="{FF2B5EF4-FFF2-40B4-BE49-F238E27FC236}">
                <a16:creationId xmlns:a16="http://schemas.microsoft.com/office/drawing/2014/main" id="{C1DBB1D8-1F75-31F9-C1AD-F7E0D85E6FD0}"/>
              </a:ext>
            </a:extLst>
          </p:cNvPr>
          <p:cNvCxnSpPr>
            <a:stCxn id="2" idx="3"/>
            <a:endCxn id="21" idx="3"/>
          </p:cNvCxnSpPr>
          <p:nvPr/>
        </p:nvCxnSpPr>
        <p:spPr>
          <a:xfrm>
            <a:off x="9837786" y="2436821"/>
            <a:ext cx="12700" cy="2050382"/>
          </a:xfrm>
          <a:prstGeom prst="bentConnector3">
            <a:avLst>
              <a:gd name="adj1" fmla="val 11632260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8E236A17-104B-B5C8-1128-DA4AFCDE8209}"/>
              </a:ext>
            </a:extLst>
          </p:cNvPr>
          <p:cNvCxnSpPr>
            <a:cxnSpLocks/>
            <a:stCxn id="52" idx="3"/>
            <a:endCxn id="49" idx="0"/>
          </p:cNvCxnSpPr>
          <p:nvPr/>
        </p:nvCxnSpPr>
        <p:spPr>
          <a:xfrm>
            <a:off x="5798636" y="3333469"/>
            <a:ext cx="502996" cy="3073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feld 82">
            <a:extLst>
              <a:ext uri="{FF2B5EF4-FFF2-40B4-BE49-F238E27FC236}">
                <a16:creationId xmlns:a16="http://schemas.microsoft.com/office/drawing/2014/main" id="{74A97927-AD3B-973D-FD04-3724EC9FE63B}"/>
              </a:ext>
            </a:extLst>
          </p:cNvPr>
          <p:cNvSpPr txBox="1"/>
          <p:nvPr/>
        </p:nvSpPr>
        <p:spPr>
          <a:xfrm>
            <a:off x="7023826" y="5583532"/>
            <a:ext cx="87089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chemeClr val="tx1"/>
                </a:solidFill>
              </a:rPr>
              <a:t>*RD/Run</a:t>
            </a:r>
          </a:p>
          <a:p>
            <a:r>
              <a:rPr lang="de-DE" sz="900" dirty="0" err="1">
                <a:solidFill>
                  <a:schemeClr val="tx1"/>
                </a:solidFill>
              </a:rPr>
              <a:t>or</a:t>
            </a:r>
            <a:r>
              <a:rPr lang="de-DE" sz="900" dirty="0">
                <a:solidFill>
                  <a:schemeClr val="tx1"/>
                </a:solidFill>
              </a:rPr>
              <a:t> RD/</a:t>
            </a:r>
            <a:r>
              <a:rPr lang="de-DE" sz="900" dirty="0" err="1">
                <a:solidFill>
                  <a:schemeClr val="tx1"/>
                </a:solidFill>
              </a:rPr>
              <a:t>LastRun</a:t>
            </a:r>
            <a:endParaRPr lang="de-DE" sz="900" dirty="0">
              <a:solidFill>
                <a:schemeClr val="tx1"/>
              </a:solidFill>
            </a:endParaRPr>
          </a:p>
          <a:p>
            <a:r>
              <a:rPr lang="de-DE" sz="900" dirty="0" err="1"/>
              <a:t>or</a:t>
            </a:r>
            <a:endParaRPr lang="de-DE" sz="900" dirty="0"/>
          </a:p>
          <a:p>
            <a:r>
              <a:rPr lang="de-DE" sz="900" dirty="0"/>
              <a:t>RD/</a:t>
            </a:r>
            <a:r>
              <a:rPr lang="de-DE" sz="900" dirty="0" err="1"/>
              <a:t>Released</a:t>
            </a:r>
            <a:endParaRPr lang="de-DE" sz="900" dirty="0"/>
          </a:p>
        </p:txBody>
      </p:sp>
      <p:cxnSp>
        <p:nvCxnSpPr>
          <p:cNvPr id="86" name="Verbinder: gewinkelt 85">
            <a:extLst>
              <a:ext uri="{FF2B5EF4-FFF2-40B4-BE49-F238E27FC236}">
                <a16:creationId xmlns:a16="http://schemas.microsoft.com/office/drawing/2014/main" id="{57C82AA8-BF64-22CB-FD81-2FAB7E495E5A}"/>
              </a:ext>
            </a:extLst>
          </p:cNvPr>
          <p:cNvCxnSpPr>
            <a:stCxn id="77" idx="3"/>
            <a:endCxn id="2" idx="1"/>
          </p:cNvCxnSpPr>
          <p:nvPr/>
        </p:nvCxnSpPr>
        <p:spPr>
          <a:xfrm flipV="1">
            <a:off x="5507920" y="2436821"/>
            <a:ext cx="3081170" cy="19370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feld 97">
            <a:extLst>
              <a:ext uri="{FF2B5EF4-FFF2-40B4-BE49-F238E27FC236}">
                <a16:creationId xmlns:a16="http://schemas.microsoft.com/office/drawing/2014/main" id="{9EF82363-758C-2316-29AC-785E9968776E}"/>
              </a:ext>
            </a:extLst>
          </p:cNvPr>
          <p:cNvSpPr txBox="1"/>
          <p:nvPr/>
        </p:nvSpPr>
        <p:spPr>
          <a:xfrm>
            <a:off x="8080504" y="2178549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cxnSp>
        <p:nvCxnSpPr>
          <p:cNvPr id="100" name="Verbinder: gewinkelt 99">
            <a:extLst>
              <a:ext uri="{FF2B5EF4-FFF2-40B4-BE49-F238E27FC236}">
                <a16:creationId xmlns:a16="http://schemas.microsoft.com/office/drawing/2014/main" id="{F2205E0A-132D-9B28-F60B-F70B56572841}"/>
              </a:ext>
            </a:extLst>
          </p:cNvPr>
          <p:cNvCxnSpPr>
            <a:cxnSpLocks/>
            <a:stCxn id="72" idx="3"/>
            <a:endCxn id="25" idx="1"/>
          </p:cNvCxnSpPr>
          <p:nvPr/>
        </p:nvCxnSpPr>
        <p:spPr>
          <a:xfrm>
            <a:off x="5508586" y="863933"/>
            <a:ext cx="3080504" cy="2731429"/>
          </a:xfrm>
          <a:prstGeom prst="bentConnector3">
            <a:avLst>
              <a:gd name="adj1" fmla="val 646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hteck 121">
            <a:extLst>
              <a:ext uri="{FF2B5EF4-FFF2-40B4-BE49-F238E27FC236}">
                <a16:creationId xmlns:a16="http://schemas.microsoft.com/office/drawing/2014/main" id="{93DCB2DD-1B15-0C4F-2E6E-B586842D5DDF}"/>
              </a:ext>
            </a:extLst>
          </p:cNvPr>
          <p:cNvSpPr/>
          <p:nvPr/>
        </p:nvSpPr>
        <p:spPr>
          <a:xfrm>
            <a:off x="8659526" y="5050132"/>
            <a:ext cx="1184610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Rejected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28" name="Verbinder: gewinkelt 127">
            <a:extLst>
              <a:ext uri="{FF2B5EF4-FFF2-40B4-BE49-F238E27FC236}">
                <a16:creationId xmlns:a16="http://schemas.microsoft.com/office/drawing/2014/main" id="{18E1EB76-F2B5-61D5-F614-6FF327DCE4C0}"/>
              </a:ext>
            </a:extLst>
          </p:cNvPr>
          <p:cNvCxnSpPr>
            <a:stCxn id="49" idx="2"/>
            <a:endCxn id="122" idx="1"/>
          </p:cNvCxnSpPr>
          <p:nvPr/>
        </p:nvCxnSpPr>
        <p:spPr>
          <a:xfrm rot="16200000" flipH="1">
            <a:off x="6864855" y="3522160"/>
            <a:ext cx="1231449" cy="23578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feld 128">
            <a:extLst>
              <a:ext uri="{FF2B5EF4-FFF2-40B4-BE49-F238E27FC236}">
                <a16:creationId xmlns:a16="http://schemas.microsoft.com/office/drawing/2014/main" id="{2749EC56-7470-704B-B409-ACDE5FDAE6EA}"/>
              </a:ext>
            </a:extLst>
          </p:cNvPr>
          <p:cNvSpPr txBox="1"/>
          <p:nvPr/>
        </p:nvSpPr>
        <p:spPr>
          <a:xfrm>
            <a:off x="8088935" y="5070256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D8DB2750-FB51-633F-84B6-A7F72817DEE8}"/>
              </a:ext>
            </a:extLst>
          </p:cNvPr>
          <p:cNvSpPr txBox="1"/>
          <p:nvPr/>
        </p:nvSpPr>
        <p:spPr>
          <a:xfrm>
            <a:off x="8077739" y="3290019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1A9D2317-A7C7-EE15-99A1-3985ADCF3FCC}"/>
              </a:ext>
            </a:extLst>
          </p:cNvPr>
          <p:cNvCxnSpPr>
            <a:cxnSpLocks/>
            <a:stCxn id="72" idx="2"/>
            <a:endCxn id="36" idx="0"/>
          </p:cNvCxnSpPr>
          <p:nvPr/>
        </p:nvCxnSpPr>
        <p:spPr>
          <a:xfrm>
            <a:off x="4884238" y="1130633"/>
            <a:ext cx="0" cy="224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Gerade Verbindung mit Pfeil 149">
            <a:extLst>
              <a:ext uri="{FF2B5EF4-FFF2-40B4-BE49-F238E27FC236}">
                <a16:creationId xmlns:a16="http://schemas.microsoft.com/office/drawing/2014/main" id="{1035FA50-57C6-6195-F92A-9E3145D2F143}"/>
              </a:ext>
            </a:extLst>
          </p:cNvPr>
          <p:cNvCxnSpPr>
            <a:cxnSpLocks/>
            <a:stCxn id="52" idx="2"/>
            <a:endCxn id="77" idx="0"/>
          </p:cNvCxnSpPr>
          <p:nvPr/>
        </p:nvCxnSpPr>
        <p:spPr>
          <a:xfrm flipH="1">
            <a:off x="4883572" y="3757312"/>
            <a:ext cx="666" cy="349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1E5390DE-8F5E-ED90-0C54-F9BBFB08F3F2}"/>
              </a:ext>
            </a:extLst>
          </p:cNvPr>
          <p:cNvSpPr/>
          <p:nvPr/>
        </p:nvSpPr>
        <p:spPr>
          <a:xfrm>
            <a:off x="730553" y="2215602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Created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618942EF-2E7B-DC9A-FC93-CA098F5DCBCD}"/>
              </a:ext>
            </a:extLst>
          </p:cNvPr>
          <p:cNvCxnSpPr>
            <a:cxnSpLocks/>
            <a:stCxn id="3" idx="2"/>
            <a:endCxn id="99" idx="0"/>
          </p:cNvCxnSpPr>
          <p:nvPr/>
        </p:nvCxnSpPr>
        <p:spPr>
          <a:xfrm>
            <a:off x="1354901" y="2749002"/>
            <a:ext cx="6170" cy="786259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8FDAF0F3-A2CB-A052-AA34-FC0B72FFB55A}"/>
              </a:ext>
            </a:extLst>
          </p:cNvPr>
          <p:cNvSpPr txBox="1"/>
          <p:nvPr/>
        </p:nvSpPr>
        <p:spPr>
          <a:xfrm>
            <a:off x="639574" y="2838448"/>
            <a:ext cx="697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/>
              <a:t>Read/Write</a:t>
            </a:r>
          </a:p>
          <a:p>
            <a:r>
              <a:rPr lang="de-DE" dirty="0"/>
              <a:t>(</a:t>
            </a:r>
            <a:r>
              <a:rPr lang="de-DE" dirty="0" err="1"/>
              <a:t>opt</a:t>
            </a:r>
            <a:r>
              <a:rPr lang="de-DE" dirty="0"/>
              <a:t>.)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FC21004-FEA5-E668-345C-F92F06D07025}"/>
              </a:ext>
            </a:extLst>
          </p:cNvPr>
          <p:cNvSpPr txBox="1"/>
          <p:nvPr/>
        </p:nvSpPr>
        <p:spPr>
          <a:xfrm>
            <a:off x="439241" y="5910572"/>
            <a:ext cx="2574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 dirty="0">
                <a:solidFill>
                  <a:schemeClr val="tx1"/>
                </a:solidFill>
                <a:highlight>
                  <a:srgbClr val="00FF00"/>
                </a:highlight>
              </a:rPr>
              <a:t>02_Experiments</a:t>
            </a:r>
            <a:endParaRPr lang="de-DE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5023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3525E4B-55C8-5889-C1AF-E41B6BC55E69}"/>
              </a:ext>
            </a:extLst>
          </p:cNvPr>
          <p:cNvSpPr/>
          <p:nvPr/>
        </p:nvSpPr>
        <p:spPr>
          <a:xfrm>
            <a:off x="603978" y="1264752"/>
            <a:ext cx="2413351" cy="44858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AD407D5-D9F5-8E24-840D-2E61D0F8E94C}"/>
              </a:ext>
            </a:extLst>
          </p:cNvPr>
          <p:cNvSpPr/>
          <p:nvPr/>
        </p:nvSpPr>
        <p:spPr>
          <a:xfrm>
            <a:off x="1185400" y="1539552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F68D29A-7CE9-FC94-84AB-B65B31D3AF8E}"/>
              </a:ext>
            </a:extLst>
          </p:cNvPr>
          <p:cNvSpPr/>
          <p:nvPr/>
        </p:nvSpPr>
        <p:spPr>
          <a:xfrm>
            <a:off x="1185400" y="3589934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Released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B37E402-7A5E-618E-C4EF-15C540F5D992}"/>
              </a:ext>
            </a:extLst>
          </p:cNvPr>
          <p:cNvSpPr txBox="1"/>
          <p:nvPr/>
        </p:nvSpPr>
        <p:spPr>
          <a:xfrm>
            <a:off x="699775" y="5223951"/>
            <a:ext cx="1972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dirty="0">
                <a:solidFill>
                  <a:schemeClr val="tx1"/>
                </a:solidFill>
                <a:highlight>
                  <a:srgbClr val="00FF00"/>
                </a:highlight>
              </a:rPr>
              <a:t>03_GroundTruth</a:t>
            </a:r>
            <a:endParaRPr lang="de-DE" dirty="0">
              <a:highlight>
                <a:srgbClr val="00FF00"/>
              </a:highlight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C12A3F5-B63B-0FCF-6D10-6C9C18D22CA3}"/>
              </a:ext>
            </a:extLst>
          </p:cNvPr>
          <p:cNvSpPr/>
          <p:nvPr/>
        </p:nvSpPr>
        <p:spPr>
          <a:xfrm>
            <a:off x="1185400" y="2698093"/>
            <a:ext cx="1248696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LastRun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178DACE1-F3FD-99A3-5AEB-AE3AECD7D671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1809748" y="2072952"/>
            <a:ext cx="0" cy="625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erbinder: gewinkelt 7">
            <a:extLst>
              <a:ext uri="{FF2B5EF4-FFF2-40B4-BE49-F238E27FC236}">
                <a16:creationId xmlns:a16="http://schemas.microsoft.com/office/drawing/2014/main" id="{CF6D271D-5ED2-C5E8-1AA6-FF075378A4D5}"/>
              </a:ext>
            </a:extLst>
          </p:cNvPr>
          <p:cNvCxnSpPr>
            <a:stCxn id="3" idx="3"/>
            <a:endCxn id="4" idx="3"/>
          </p:cNvCxnSpPr>
          <p:nvPr/>
        </p:nvCxnSpPr>
        <p:spPr>
          <a:xfrm>
            <a:off x="2434096" y="1806252"/>
            <a:ext cx="12700" cy="2050382"/>
          </a:xfrm>
          <a:prstGeom prst="bentConnector3">
            <a:avLst>
              <a:gd name="adj1" fmla="val 8458071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9CDC2375-D356-EF8C-8291-6CEDCDF1A2A3}"/>
              </a:ext>
            </a:extLst>
          </p:cNvPr>
          <p:cNvSpPr txBox="1"/>
          <p:nvPr/>
        </p:nvSpPr>
        <p:spPr>
          <a:xfrm>
            <a:off x="676814" y="1547980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94D9E1E-B682-7B65-203E-3CE8D0CBE51E}"/>
              </a:ext>
            </a:extLst>
          </p:cNvPr>
          <p:cNvSpPr/>
          <p:nvPr/>
        </p:nvSpPr>
        <p:spPr>
          <a:xfrm>
            <a:off x="1255836" y="4419563"/>
            <a:ext cx="1184610" cy="533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Rejected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10C741C-5045-FC47-7848-E8A9F70FA121}"/>
              </a:ext>
            </a:extLst>
          </p:cNvPr>
          <p:cNvSpPr txBox="1"/>
          <p:nvPr/>
        </p:nvSpPr>
        <p:spPr>
          <a:xfrm>
            <a:off x="685245" y="4439687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9B09558-06D5-D85A-833D-CA01842554BF}"/>
              </a:ext>
            </a:extLst>
          </p:cNvPr>
          <p:cNvSpPr txBox="1"/>
          <p:nvPr/>
        </p:nvSpPr>
        <p:spPr>
          <a:xfrm>
            <a:off x="674049" y="2659450"/>
            <a:ext cx="5141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1200"/>
            </a:lvl1pPr>
          </a:lstStyle>
          <a:p>
            <a:r>
              <a:rPr lang="de-DE" dirty="0" err="1"/>
              <a:t>write</a:t>
            </a:r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6B393652-EED6-73E2-8113-36F177AA0940}"/>
              </a:ext>
            </a:extLst>
          </p:cNvPr>
          <p:cNvSpPr txBox="1"/>
          <p:nvPr/>
        </p:nvSpPr>
        <p:spPr>
          <a:xfrm>
            <a:off x="4483510" y="1347019"/>
            <a:ext cx="1793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03_GroundTruth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F98EA1F-E45A-A2B7-D981-CA5D22D7C0CF}"/>
              </a:ext>
            </a:extLst>
          </p:cNvPr>
          <p:cNvSpPr txBox="1"/>
          <p:nvPr/>
        </p:nvSpPr>
        <p:spPr>
          <a:xfrm>
            <a:off x="8711381" y="1317147"/>
            <a:ext cx="2171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Astronometria.Tests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9082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498F5-6807-E66E-5CBD-835B7193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hteck 306">
            <a:extLst>
              <a:ext uri="{FF2B5EF4-FFF2-40B4-BE49-F238E27FC236}">
                <a16:creationId xmlns:a16="http://schemas.microsoft.com/office/drawing/2014/main" id="{E9A67D94-987E-988A-A0DD-4452EFC642A5}"/>
              </a:ext>
            </a:extLst>
          </p:cNvPr>
          <p:cNvSpPr/>
          <p:nvPr/>
        </p:nvSpPr>
        <p:spPr>
          <a:xfrm>
            <a:off x="920051" y="713344"/>
            <a:ext cx="10216711" cy="20378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20324880-DC45-2E0D-1DD5-0E6EDBE3534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9098211" y="2198645"/>
            <a:ext cx="26748" cy="42498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AF787FAC-6189-0935-C9FF-AF9AF906AFEE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6275982" y="2287180"/>
            <a:ext cx="0" cy="27707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C039AFE3-FE76-0341-608B-C906158992EE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10216131" y="2801488"/>
            <a:ext cx="0" cy="36469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hteck 4">
            <a:extLst>
              <a:ext uri="{FF2B5EF4-FFF2-40B4-BE49-F238E27FC236}">
                <a16:creationId xmlns:a16="http://schemas.microsoft.com/office/drawing/2014/main" id="{64D13A02-F9B3-7716-F8E8-D60DF352D851}"/>
              </a:ext>
            </a:extLst>
          </p:cNvPr>
          <p:cNvSpPr/>
          <p:nvPr/>
        </p:nvSpPr>
        <p:spPr>
          <a:xfrm>
            <a:off x="2435736" y="78289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VSOP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52C3686-ED13-03B5-0C61-4F1AB4FE02EC}"/>
              </a:ext>
            </a:extLst>
          </p:cNvPr>
          <p:cNvCxnSpPr>
            <a:cxnSpLocks/>
          </p:cNvCxnSpPr>
          <p:nvPr/>
        </p:nvCxnSpPr>
        <p:spPr>
          <a:xfrm>
            <a:off x="25052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8D15B86-C46F-C277-C92B-4779BE1C4105}"/>
              </a:ext>
            </a:extLst>
          </p:cNvPr>
          <p:cNvCxnSpPr>
            <a:cxnSpLocks/>
          </p:cNvCxnSpPr>
          <p:nvPr/>
        </p:nvCxnSpPr>
        <p:spPr>
          <a:xfrm>
            <a:off x="28100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9627AA9-E48E-FC3A-AE1D-CD7EC1BF2BA8}"/>
              </a:ext>
            </a:extLst>
          </p:cNvPr>
          <p:cNvCxnSpPr>
            <a:cxnSpLocks/>
          </p:cNvCxnSpPr>
          <p:nvPr/>
        </p:nvCxnSpPr>
        <p:spPr>
          <a:xfrm>
            <a:off x="3114870" y="487925"/>
            <a:ext cx="0" cy="2949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BDB3A407-0D0E-51C3-6BB1-F7CE0E8C5DF9}"/>
              </a:ext>
            </a:extLst>
          </p:cNvPr>
          <p:cNvSpPr txBox="1"/>
          <p:nvPr/>
        </p:nvSpPr>
        <p:spPr>
          <a:xfrm>
            <a:off x="2335993" y="219912"/>
            <a:ext cx="3161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TX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B5FF12B-9D87-4A81-BBC4-7DDCB127FF5B}"/>
              </a:ext>
            </a:extLst>
          </p:cNvPr>
          <p:cNvSpPr txBox="1"/>
          <p:nvPr/>
        </p:nvSpPr>
        <p:spPr>
          <a:xfrm>
            <a:off x="2640793" y="219911"/>
            <a:ext cx="314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TY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A3D1E99-BE84-1717-8DA0-E0B5B4FEDC28}"/>
              </a:ext>
            </a:extLst>
          </p:cNvPr>
          <p:cNvSpPr txBox="1"/>
          <p:nvPr/>
        </p:nvSpPr>
        <p:spPr>
          <a:xfrm>
            <a:off x="2945593" y="219911"/>
            <a:ext cx="311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i="1" dirty="0"/>
              <a:t>TZ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1419319-7954-597F-3CB4-3C4C551089C9}"/>
              </a:ext>
            </a:extLst>
          </p:cNvPr>
          <p:cNvSpPr/>
          <p:nvPr/>
        </p:nvSpPr>
        <p:spPr>
          <a:xfrm>
            <a:off x="3591307" y="13099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HE2GE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B8FB3EC7-09FC-44BC-EA4F-B9C9170AA128}"/>
              </a:ext>
            </a:extLst>
          </p:cNvPr>
          <p:cNvSpPr/>
          <p:nvPr/>
        </p:nvSpPr>
        <p:spPr>
          <a:xfrm>
            <a:off x="4746878" y="1805244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GE2GA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2550581C-3702-E056-2AA5-A06A6D38BFC9}"/>
              </a:ext>
            </a:extLst>
          </p:cNvPr>
          <p:cNvSpPr/>
          <p:nvPr/>
        </p:nvSpPr>
        <p:spPr>
          <a:xfrm>
            <a:off x="9842598" y="2432156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Topo </a:t>
            </a:r>
            <a:r>
              <a:rPr lang="de-DE" sz="10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Projection</a:t>
            </a:r>
            <a:endParaRPr lang="de-DE" sz="1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Verbinder: gewinkelt 18">
            <a:extLst>
              <a:ext uri="{FF2B5EF4-FFF2-40B4-BE49-F238E27FC236}">
                <a16:creationId xmlns:a16="http://schemas.microsoft.com/office/drawing/2014/main" id="{876885E2-0228-8D39-FB4A-AF645FAAED27}"/>
              </a:ext>
            </a:extLst>
          </p:cNvPr>
          <p:cNvCxnSpPr>
            <a:stCxn id="5" idx="3"/>
            <a:endCxn id="15" idx="0"/>
          </p:cNvCxnSpPr>
          <p:nvPr/>
        </p:nvCxnSpPr>
        <p:spPr>
          <a:xfrm>
            <a:off x="3182801" y="967560"/>
            <a:ext cx="782039" cy="34238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159BB387-3596-49DB-3180-9F5C72BC918E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4338372" y="1494610"/>
            <a:ext cx="782039" cy="310634"/>
          </a:xfrm>
          <a:prstGeom prst="bentConnector2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EF07CC73-B623-6180-699D-01F7B801A38E}"/>
              </a:ext>
            </a:extLst>
          </p:cNvPr>
          <p:cNvSpPr txBox="1"/>
          <p:nvPr/>
        </p:nvSpPr>
        <p:spPr>
          <a:xfrm>
            <a:off x="3257887" y="975529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187B6F37-B082-CF8E-E872-DCCC56388373}"/>
              </a:ext>
            </a:extLst>
          </p:cNvPr>
          <p:cNvSpPr txBox="1"/>
          <p:nvPr/>
        </p:nvSpPr>
        <p:spPr>
          <a:xfrm>
            <a:off x="4353437" y="1475353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A7E59800-0756-6DBC-2132-72B05BC0ABB8}"/>
              </a:ext>
            </a:extLst>
          </p:cNvPr>
          <p:cNvSpPr txBox="1"/>
          <p:nvPr/>
        </p:nvSpPr>
        <p:spPr>
          <a:xfrm>
            <a:off x="5417314" y="2049418"/>
            <a:ext cx="8322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3572FD2E-562A-373D-F317-8CD6ED9F7CFE}"/>
              </a:ext>
            </a:extLst>
          </p:cNvPr>
          <p:cNvSpPr txBox="1"/>
          <p:nvPr/>
        </p:nvSpPr>
        <p:spPr>
          <a:xfrm>
            <a:off x="5690852" y="2918566"/>
            <a:ext cx="7601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(AZ, ALT)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TP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EB0EA23-065B-7002-558B-E89DBDB1CBD7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964840" y="1679276"/>
            <a:ext cx="0" cy="33786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4267749C-3D5D-2754-C4B5-93AB548F495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809269" y="1152226"/>
            <a:ext cx="0" cy="390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6B5EF73E-E643-19F7-866D-8941E33B55B9}"/>
              </a:ext>
            </a:extLst>
          </p:cNvPr>
          <p:cNvSpPr txBox="1"/>
          <p:nvPr/>
        </p:nvSpPr>
        <p:spPr>
          <a:xfrm>
            <a:off x="2126069" y="2840084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E4AF997E-9EBB-52D9-D1FE-5E4C0DDC5C93}"/>
              </a:ext>
            </a:extLst>
          </p:cNvPr>
          <p:cNvSpPr txBox="1"/>
          <p:nvPr/>
        </p:nvSpPr>
        <p:spPr>
          <a:xfrm>
            <a:off x="3238633" y="2840085"/>
            <a:ext cx="696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(X, Y, Z)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C85553CD-10ED-A2C8-6563-F2B52E8AA469}"/>
              </a:ext>
            </a:extLst>
          </p:cNvPr>
          <p:cNvSpPr txBox="1"/>
          <p:nvPr/>
        </p:nvSpPr>
        <p:spPr>
          <a:xfrm>
            <a:off x="4110439" y="2943852"/>
            <a:ext cx="13917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Spherical</a:t>
            </a:r>
            <a:r>
              <a:rPr lang="de-DE" sz="10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(RA, DEC)</a:t>
            </a:r>
            <a:r>
              <a:rPr lang="de-DE" sz="800" b="1" i="1" baseline="-25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GA</a:t>
            </a:r>
            <a:endParaRPr lang="de-DE" sz="1000" b="1" i="1" baseline="-25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B59BCC12-B040-3752-0296-69A30D2E8850}"/>
              </a:ext>
            </a:extLst>
          </p:cNvPr>
          <p:cNvCxnSpPr>
            <a:cxnSpLocks/>
          </p:cNvCxnSpPr>
          <p:nvPr/>
        </p:nvCxnSpPr>
        <p:spPr>
          <a:xfrm>
            <a:off x="920051" y="2832899"/>
            <a:ext cx="10919359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A1B50F1E-1023-723D-D881-C1585A4E3CE6}"/>
              </a:ext>
            </a:extLst>
          </p:cNvPr>
          <p:cNvCxnSpPr>
            <a:cxnSpLocks/>
          </p:cNvCxnSpPr>
          <p:nvPr/>
        </p:nvCxnSpPr>
        <p:spPr>
          <a:xfrm>
            <a:off x="1024648" y="3671099"/>
            <a:ext cx="10112114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14975B85-943B-CD21-B67B-311AFD4FB99F}"/>
              </a:ext>
            </a:extLst>
          </p:cNvPr>
          <p:cNvCxnSpPr>
            <a:cxnSpLocks/>
          </p:cNvCxnSpPr>
          <p:nvPr/>
        </p:nvCxnSpPr>
        <p:spPr>
          <a:xfrm>
            <a:off x="1024648" y="4404524"/>
            <a:ext cx="10462502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Gerade Verbindung mit Pfeil 94">
            <a:extLst>
              <a:ext uri="{FF2B5EF4-FFF2-40B4-BE49-F238E27FC236}">
                <a16:creationId xmlns:a16="http://schemas.microsoft.com/office/drawing/2014/main" id="{4F6DF923-DE4F-6503-4CA3-B38A1AB33023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120411" y="2174576"/>
            <a:ext cx="0" cy="2883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hteck 50">
            <a:extLst>
              <a:ext uri="{FF2B5EF4-FFF2-40B4-BE49-F238E27FC236}">
                <a16:creationId xmlns:a16="http://schemas.microsoft.com/office/drawing/2014/main" id="{6F61E636-D2CA-E9BA-A980-AC5266C4681C}"/>
              </a:ext>
            </a:extLst>
          </p:cNvPr>
          <p:cNvSpPr/>
          <p:nvPr/>
        </p:nvSpPr>
        <p:spPr>
          <a:xfrm>
            <a:off x="1978685" y="3142779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</a:rPr>
              <a:t>LightTime</a:t>
            </a:r>
            <a:endParaRPr lang="de-DE" sz="1200" dirty="0">
              <a:solidFill>
                <a:schemeClr val="tx1"/>
              </a:solidFill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6C5FEFE1-F3F0-7E23-EB4E-0A574A027C7D}"/>
              </a:ext>
            </a:extLst>
          </p:cNvPr>
          <p:cNvSpPr/>
          <p:nvPr/>
        </p:nvSpPr>
        <p:spPr>
          <a:xfrm>
            <a:off x="1950883" y="3867801"/>
            <a:ext cx="91580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Aberration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5A60FA2E-A8F4-2A64-04ED-669F2C3D636D}"/>
              </a:ext>
            </a:extLst>
          </p:cNvPr>
          <p:cNvSpPr txBox="1"/>
          <p:nvPr/>
        </p:nvSpPr>
        <p:spPr>
          <a:xfrm>
            <a:off x="1038814" y="306415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L1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55A9B365-72BD-1824-0CD2-74B362243E9D}"/>
              </a:ext>
            </a:extLst>
          </p:cNvPr>
          <p:cNvSpPr txBox="1"/>
          <p:nvPr/>
        </p:nvSpPr>
        <p:spPr>
          <a:xfrm>
            <a:off x="1054461" y="3832025"/>
            <a:ext cx="947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L2</a:t>
            </a:r>
          </a:p>
          <a:p>
            <a:r>
              <a:rPr lang="de-DE" dirty="0">
                <a:solidFill>
                  <a:schemeClr val="accent6"/>
                </a:solidFill>
              </a:rPr>
              <a:t>Physics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D87908D0-0746-61AD-B994-3BEB71FA0D3B}"/>
              </a:ext>
            </a:extLst>
          </p:cNvPr>
          <p:cNvSpPr txBox="1"/>
          <p:nvPr/>
        </p:nvSpPr>
        <p:spPr>
          <a:xfrm>
            <a:off x="2374195" y="2186514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AF65909A-BA63-F0A7-1873-2969AB6BC75C}"/>
              </a:ext>
            </a:extLst>
          </p:cNvPr>
          <p:cNvSpPr txBox="1"/>
          <p:nvPr/>
        </p:nvSpPr>
        <p:spPr>
          <a:xfrm>
            <a:off x="3569965" y="2196870"/>
            <a:ext cx="7457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VECTORS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0248DEA1-5397-F2F9-6904-1DA6EE62014B}"/>
              </a:ext>
            </a:extLst>
          </p:cNvPr>
          <p:cNvSpPr txBox="1"/>
          <p:nvPr/>
        </p:nvSpPr>
        <p:spPr>
          <a:xfrm>
            <a:off x="4288515" y="2791938"/>
            <a:ext cx="8258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OBSERVER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23E21F88-EC3A-3E2A-A8C7-42AE1C2A246D}"/>
              </a:ext>
            </a:extLst>
          </p:cNvPr>
          <p:cNvSpPr txBox="1"/>
          <p:nvPr/>
        </p:nvSpPr>
        <p:spPr>
          <a:xfrm>
            <a:off x="3311311" y="219911"/>
            <a:ext cx="22589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0000"/>
                </a:solidFill>
              </a:rPr>
              <a:t>PHYS. MEASUREMENT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EPHEM-TYPE = { VECTORS}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INSTRUMENT DIMENSION</a:t>
            </a:r>
          </a:p>
        </p:txBody>
      </p: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6C3EA3C9-50C2-2BBC-B403-3F830EC993FD}"/>
              </a:ext>
            </a:extLst>
          </p:cNvPr>
          <p:cNvCxnSpPr>
            <a:cxnSpLocks/>
          </p:cNvCxnSpPr>
          <p:nvPr/>
        </p:nvCxnSpPr>
        <p:spPr>
          <a:xfrm>
            <a:off x="3420931" y="582069"/>
            <a:ext cx="173662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feld 114">
            <a:extLst>
              <a:ext uri="{FF2B5EF4-FFF2-40B4-BE49-F238E27FC236}">
                <a16:creationId xmlns:a16="http://schemas.microsoft.com/office/drawing/2014/main" id="{E512F3F0-A9F2-3388-A2DD-0A6883ABE877}"/>
              </a:ext>
            </a:extLst>
          </p:cNvPr>
          <p:cNvSpPr txBox="1"/>
          <p:nvPr/>
        </p:nvSpPr>
        <p:spPr>
          <a:xfrm rot="16200000">
            <a:off x="-579776" y="2956433"/>
            <a:ext cx="219803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CORRECTION DIMENTION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DIMENISION</a:t>
            </a:r>
          </a:p>
          <a:p>
            <a:r>
              <a:rPr lang="de-DE" sz="1000" b="1" dirty="0">
                <a:solidFill>
                  <a:srgbClr val="FF0000"/>
                </a:solidFill>
              </a:rPr>
              <a:t>VECTOR_CORR = { NONE, LT, LT+S}</a:t>
            </a:r>
          </a:p>
          <a:p>
            <a:endParaRPr lang="de-DE" sz="1000" b="1" dirty="0">
              <a:solidFill>
                <a:srgbClr val="FF0000"/>
              </a:solidFill>
            </a:endParaRPr>
          </a:p>
          <a:p>
            <a:r>
              <a:rPr lang="de-DE" sz="1000" b="1" dirty="0">
                <a:solidFill>
                  <a:schemeClr val="accent6"/>
                </a:solidFill>
              </a:rPr>
              <a:t>LEVEL DIMENSION</a:t>
            </a:r>
          </a:p>
        </p:txBody>
      </p: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6AB95DB2-E41D-85AC-1E08-5741935C5DDC}"/>
              </a:ext>
            </a:extLst>
          </p:cNvPr>
          <p:cNvCxnSpPr>
            <a:cxnSpLocks/>
          </p:cNvCxnSpPr>
          <p:nvPr/>
        </p:nvCxnSpPr>
        <p:spPr>
          <a:xfrm>
            <a:off x="676278" y="2219281"/>
            <a:ext cx="0" cy="2838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B82DAE51-69B0-7529-1CEF-15A17D1C56B8}"/>
              </a:ext>
            </a:extLst>
          </p:cNvPr>
          <p:cNvGrpSpPr/>
          <p:nvPr/>
        </p:nvGrpSpPr>
        <p:grpSpPr>
          <a:xfrm>
            <a:off x="2555765" y="2392265"/>
            <a:ext cx="308098" cy="369332"/>
            <a:chOff x="7877175" y="1086127"/>
            <a:chExt cx="308098" cy="369332"/>
          </a:xfrm>
        </p:grpSpPr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EB67FA4F-AF61-9744-3FFF-36083CF8B384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4DA071F9-ABF8-10A0-4CCE-40B60A92C773}"/>
                </a:ext>
              </a:extLst>
            </p:cNvPr>
            <p:cNvSpPr txBox="1"/>
            <p:nvPr/>
          </p:nvSpPr>
          <p:spPr>
            <a:xfrm>
              <a:off x="7877175" y="108612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A8FD6A8F-45FC-8695-24A4-F5415588A031}"/>
              </a:ext>
            </a:extLst>
          </p:cNvPr>
          <p:cNvGrpSpPr/>
          <p:nvPr/>
        </p:nvGrpSpPr>
        <p:grpSpPr>
          <a:xfrm>
            <a:off x="3648928" y="2401200"/>
            <a:ext cx="308098" cy="369332"/>
            <a:chOff x="7877175" y="1094810"/>
            <a:chExt cx="308098" cy="369332"/>
          </a:xfrm>
        </p:grpSpPr>
        <p:sp>
          <p:nvSpPr>
            <p:cNvPr id="123" name="Ellipse 122">
              <a:extLst>
                <a:ext uri="{FF2B5EF4-FFF2-40B4-BE49-F238E27FC236}">
                  <a16:creationId xmlns:a16="http://schemas.microsoft.com/office/drawing/2014/main" id="{BB7322BE-68F7-5EFA-F042-9CCA5FA9317E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Textfeld 123">
              <a:extLst>
                <a:ext uri="{FF2B5EF4-FFF2-40B4-BE49-F238E27FC236}">
                  <a16:creationId xmlns:a16="http://schemas.microsoft.com/office/drawing/2014/main" id="{32A63A4C-FB57-49D9-9FE4-12A616FE2DD4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2</a:t>
              </a:r>
            </a:p>
          </p:txBody>
        </p:sp>
      </p:grpSp>
      <p:grpSp>
        <p:nvGrpSpPr>
          <p:cNvPr id="143" name="Gruppieren 142">
            <a:extLst>
              <a:ext uri="{FF2B5EF4-FFF2-40B4-BE49-F238E27FC236}">
                <a16:creationId xmlns:a16="http://schemas.microsoft.com/office/drawing/2014/main" id="{CB8E0EE4-414A-6779-E26C-B6E36FDC82C7}"/>
              </a:ext>
            </a:extLst>
          </p:cNvPr>
          <p:cNvGrpSpPr/>
          <p:nvPr/>
        </p:nvGrpSpPr>
        <p:grpSpPr>
          <a:xfrm>
            <a:off x="2510816" y="3547274"/>
            <a:ext cx="308098" cy="369332"/>
            <a:chOff x="7877175" y="1094810"/>
            <a:chExt cx="308098" cy="369332"/>
          </a:xfrm>
        </p:grpSpPr>
        <p:sp>
          <p:nvSpPr>
            <p:cNvPr id="144" name="Ellipse 143">
              <a:extLst>
                <a:ext uri="{FF2B5EF4-FFF2-40B4-BE49-F238E27FC236}">
                  <a16:creationId xmlns:a16="http://schemas.microsoft.com/office/drawing/2014/main" id="{78BAB792-D20D-AF53-261F-CC67654C4C78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20C1D5C9-848E-8B06-9AB1-776FB36B171D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5</a:t>
              </a:r>
            </a:p>
          </p:txBody>
        </p:sp>
      </p:grp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19621AA1-92CD-8CCF-C46D-523289E70857}"/>
              </a:ext>
            </a:extLst>
          </p:cNvPr>
          <p:cNvGrpSpPr/>
          <p:nvPr/>
        </p:nvGrpSpPr>
        <p:grpSpPr>
          <a:xfrm>
            <a:off x="3610627" y="3518193"/>
            <a:ext cx="308098" cy="369332"/>
            <a:chOff x="7877175" y="1094810"/>
            <a:chExt cx="308098" cy="369332"/>
          </a:xfrm>
        </p:grpSpPr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B8DCC23C-AF95-09A6-A4C5-7644D1C25815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4" name="Textfeld 163">
              <a:extLst>
                <a:ext uri="{FF2B5EF4-FFF2-40B4-BE49-F238E27FC236}">
                  <a16:creationId xmlns:a16="http://schemas.microsoft.com/office/drawing/2014/main" id="{30F9288A-849F-3438-4A83-C59E921AF6D2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6</a:t>
              </a:r>
            </a:p>
          </p:txBody>
        </p:sp>
      </p:grpSp>
      <p:grpSp>
        <p:nvGrpSpPr>
          <p:cNvPr id="173" name="Gruppieren 172">
            <a:extLst>
              <a:ext uri="{FF2B5EF4-FFF2-40B4-BE49-F238E27FC236}">
                <a16:creationId xmlns:a16="http://schemas.microsoft.com/office/drawing/2014/main" id="{1E7EE234-A967-DB05-A992-E8D984C7F250}"/>
              </a:ext>
            </a:extLst>
          </p:cNvPr>
          <p:cNvGrpSpPr/>
          <p:nvPr/>
        </p:nvGrpSpPr>
        <p:grpSpPr>
          <a:xfrm>
            <a:off x="2513995" y="4282776"/>
            <a:ext cx="308098" cy="369332"/>
            <a:chOff x="7877175" y="1094810"/>
            <a:chExt cx="308098" cy="369332"/>
          </a:xfrm>
        </p:grpSpPr>
        <p:sp>
          <p:nvSpPr>
            <p:cNvPr id="174" name="Ellipse 173">
              <a:extLst>
                <a:ext uri="{FF2B5EF4-FFF2-40B4-BE49-F238E27FC236}">
                  <a16:creationId xmlns:a16="http://schemas.microsoft.com/office/drawing/2014/main" id="{E18AD599-F736-1602-75BD-A87A3E1C4421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5" name="Textfeld 174">
              <a:extLst>
                <a:ext uri="{FF2B5EF4-FFF2-40B4-BE49-F238E27FC236}">
                  <a16:creationId xmlns:a16="http://schemas.microsoft.com/office/drawing/2014/main" id="{E8A10C44-E2AF-3943-7C5E-F35DC3A88013}"/>
                </a:ext>
              </a:extLst>
            </p:cNvPr>
            <p:cNvSpPr txBox="1"/>
            <p:nvPr/>
          </p:nvSpPr>
          <p:spPr>
            <a:xfrm>
              <a:off x="7877175" y="109481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9</a:t>
              </a:r>
            </a:p>
          </p:txBody>
        </p:sp>
      </p:grpSp>
      <p:grpSp>
        <p:nvGrpSpPr>
          <p:cNvPr id="176" name="Gruppieren 175">
            <a:extLst>
              <a:ext uri="{FF2B5EF4-FFF2-40B4-BE49-F238E27FC236}">
                <a16:creationId xmlns:a16="http://schemas.microsoft.com/office/drawing/2014/main" id="{57146E01-3612-ED70-54FE-4E514759E82F}"/>
              </a:ext>
            </a:extLst>
          </p:cNvPr>
          <p:cNvGrpSpPr/>
          <p:nvPr/>
        </p:nvGrpSpPr>
        <p:grpSpPr>
          <a:xfrm>
            <a:off x="3548912" y="4245636"/>
            <a:ext cx="431528" cy="369332"/>
            <a:chOff x="7821297" y="1094810"/>
            <a:chExt cx="431528" cy="369332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41125253-39B4-F3FD-5960-F0A879559E27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8" name="Textfeld 177">
              <a:extLst>
                <a:ext uri="{FF2B5EF4-FFF2-40B4-BE49-F238E27FC236}">
                  <a16:creationId xmlns:a16="http://schemas.microsoft.com/office/drawing/2014/main" id="{91BF2200-BA49-CFA1-72A8-088B0F43DB92}"/>
                </a:ext>
              </a:extLst>
            </p:cNvPr>
            <p:cNvSpPr txBox="1"/>
            <p:nvPr/>
          </p:nvSpPr>
          <p:spPr>
            <a:xfrm>
              <a:off x="7821297" y="1094810"/>
              <a:ext cx="4315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sp>
        <p:nvSpPr>
          <p:cNvPr id="202" name="Textfeld 201">
            <a:extLst>
              <a:ext uri="{FF2B5EF4-FFF2-40B4-BE49-F238E27FC236}">
                <a16:creationId xmlns:a16="http://schemas.microsoft.com/office/drawing/2014/main" id="{F2E3E2BA-A581-7D7A-4380-A4029571993C}"/>
              </a:ext>
            </a:extLst>
          </p:cNvPr>
          <p:cNvSpPr txBox="1"/>
          <p:nvPr/>
        </p:nvSpPr>
        <p:spPr>
          <a:xfrm>
            <a:off x="1006646" y="2097819"/>
            <a:ext cx="11755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6"/>
                </a:solidFill>
              </a:rPr>
              <a:t>L0</a:t>
            </a:r>
          </a:p>
          <a:p>
            <a:r>
              <a:rPr lang="de-DE" dirty="0">
                <a:solidFill>
                  <a:schemeClr val="accent6"/>
                </a:solidFill>
              </a:rPr>
              <a:t>Geometry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07EB7692-025F-7A5A-FAEF-15D6FFCCC5D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493943" y="1989910"/>
            <a:ext cx="6544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D30BF442-12C4-71D9-FEEF-F3E1EC282657}"/>
              </a:ext>
            </a:extLst>
          </p:cNvPr>
          <p:cNvSpPr/>
          <p:nvPr/>
        </p:nvSpPr>
        <p:spPr>
          <a:xfrm>
            <a:off x="6141585" y="1827538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6E3A98B-8B2F-9F7C-AE35-550CF3F00F19}"/>
              </a:ext>
            </a:extLst>
          </p:cNvPr>
          <p:cNvSpPr/>
          <p:nvPr/>
        </p:nvSpPr>
        <p:spPr>
          <a:xfrm>
            <a:off x="7425202" y="1828596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C3747F14-0F43-1084-AF11-339B034D41E0}"/>
              </a:ext>
            </a:extLst>
          </p:cNvPr>
          <p:cNvSpPr/>
          <p:nvPr/>
        </p:nvSpPr>
        <p:spPr>
          <a:xfrm>
            <a:off x="8708819" y="1829313"/>
            <a:ext cx="83227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GA+Prec+Nut+Obl</a:t>
            </a:r>
            <a:endParaRPr lang="de-DE" sz="12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EE41A5D-A9E1-B486-A10D-A9D301313B13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>
            <a:off x="6973864" y="2012204"/>
            <a:ext cx="451338" cy="1058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9AC8A25B-F6C0-320D-0CCC-A09B991AF3FB}"/>
              </a:ext>
            </a:extLst>
          </p:cNvPr>
          <p:cNvCxnSpPr>
            <a:cxnSpLocks/>
            <a:stCxn id="14" idx="3"/>
            <a:endCxn id="18" idx="1"/>
          </p:cNvCxnSpPr>
          <p:nvPr/>
        </p:nvCxnSpPr>
        <p:spPr>
          <a:xfrm>
            <a:off x="8257481" y="2013262"/>
            <a:ext cx="451338" cy="7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1EAEF351-B2A6-D3F9-0B14-E82222B24E46}"/>
              </a:ext>
            </a:extLst>
          </p:cNvPr>
          <p:cNvSpPr txBox="1"/>
          <p:nvPr/>
        </p:nvSpPr>
        <p:spPr>
          <a:xfrm>
            <a:off x="7328344" y="1096970"/>
            <a:ext cx="59503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FRAME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2C00FCCC-30EB-2A54-83B3-4ED9192EDB51}"/>
              </a:ext>
            </a:extLst>
          </p:cNvPr>
          <p:cNvCxnSpPr/>
          <p:nvPr/>
        </p:nvCxnSpPr>
        <p:spPr>
          <a:xfrm>
            <a:off x="6054711" y="1358823"/>
            <a:ext cx="3461895" cy="0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hteck 42">
            <a:extLst>
              <a:ext uri="{FF2B5EF4-FFF2-40B4-BE49-F238E27FC236}">
                <a16:creationId xmlns:a16="http://schemas.microsoft.com/office/drawing/2014/main" id="{51B4F63A-26D4-4A03-B935-D9689F8C1CF3}"/>
              </a:ext>
            </a:extLst>
          </p:cNvPr>
          <p:cNvSpPr/>
          <p:nvPr/>
        </p:nvSpPr>
        <p:spPr>
          <a:xfrm>
            <a:off x="5902449" y="2287180"/>
            <a:ext cx="74706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accent5"/>
                </a:solidFill>
              </a:rPr>
              <a:t>Topo </a:t>
            </a:r>
            <a:r>
              <a:rPr lang="de-DE" sz="1000" dirty="0" err="1">
                <a:solidFill>
                  <a:schemeClr val="accent5"/>
                </a:solidFill>
              </a:rPr>
              <a:t>Projection</a:t>
            </a:r>
            <a:endParaRPr lang="de-DE" sz="1000" dirty="0">
              <a:solidFill>
                <a:schemeClr val="accent5"/>
              </a:solidFill>
            </a:endParaRPr>
          </a:p>
        </p:txBody>
      </p: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5FDAD847-8A0F-3FD3-36EB-57C7B6636FD2}"/>
              </a:ext>
            </a:extLst>
          </p:cNvPr>
          <p:cNvCxnSpPr>
            <a:cxnSpLocks/>
            <a:stCxn id="16" idx="2"/>
            <a:endCxn id="43" idx="1"/>
          </p:cNvCxnSpPr>
          <p:nvPr/>
        </p:nvCxnSpPr>
        <p:spPr>
          <a:xfrm rot="16200000" flipH="1">
            <a:off x="5362795" y="1932192"/>
            <a:ext cx="297270" cy="7820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Verbinder: gewinkelt 54">
            <a:extLst>
              <a:ext uri="{FF2B5EF4-FFF2-40B4-BE49-F238E27FC236}">
                <a16:creationId xmlns:a16="http://schemas.microsoft.com/office/drawing/2014/main" id="{3ED67B49-A64E-2849-B54D-775C4CC735E9}"/>
              </a:ext>
            </a:extLst>
          </p:cNvPr>
          <p:cNvCxnSpPr>
            <a:stCxn id="18" idx="3"/>
            <a:endCxn id="17" idx="0"/>
          </p:cNvCxnSpPr>
          <p:nvPr/>
        </p:nvCxnSpPr>
        <p:spPr>
          <a:xfrm>
            <a:off x="9541098" y="2013979"/>
            <a:ext cx="675033" cy="4181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feld 60">
            <a:extLst>
              <a:ext uri="{FF2B5EF4-FFF2-40B4-BE49-F238E27FC236}">
                <a16:creationId xmlns:a16="http://schemas.microsoft.com/office/drawing/2014/main" id="{A62F2F24-E414-F13A-0BF2-D6B275E70FD8}"/>
              </a:ext>
            </a:extLst>
          </p:cNvPr>
          <p:cNvSpPr txBox="1"/>
          <p:nvPr/>
        </p:nvSpPr>
        <p:spPr>
          <a:xfrm>
            <a:off x="7574639" y="6480309"/>
            <a:ext cx="2188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(RA,DEC)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0A8C94CA-9487-2AF9-9AA1-F214CB09B89E}"/>
              </a:ext>
            </a:extLst>
          </p:cNvPr>
          <p:cNvSpPr txBox="1"/>
          <p:nvPr/>
        </p:nvSpPr>
        <p:spPr>
          <a:xfrm>
            <a:off x="9653423" y="6473891"/>
            <a:ext cx="2185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Apparent </a:t>
            </a:r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Position (AZ, ALT)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67E49208-2FE1-FAFE-A680-99E9DB6E7E12}"/>
              </a:ext>
            </a:extLst>
          </p:cNvPr>
          <p:cNvSpPr txBox="1"/>
          <p:nvPr/>
        </p:nvSpPr>
        <p:spPr>
          <a:xfrm>
            <a:off x="8157882" y="5721307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C7A17113-47D1-D4C5-8C15-4921256A85A8}"/>
              </a:ext>
            </a:extLst>
          </p:cNvPr>
          <p:cNvSpPr txBox="1"/>
          <p:nvPr/>
        </p:nvSpPr>
        <p:spPr>
          <a:xfrm>
            <a:off x="10346725" y="5550584"/>
            <a:ext cx="12795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VECTOR_CORR=LT+S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QUANTITIES=AZ; ALT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E3F70CBD-C6DF-B521-140F-4DEF3DFDB1D0}"/>
              </a:ext>
            </a:extLst>
          </p:cNvPr>
          <p:cNvCxnSpPr>
            <a:cxnSpLocks/>
          </p:cNvCxnSpPr>
          <p:nvPr/>
        </p:nvCxnSpPr>
        <p:spPr>
          <a:xfrm>
            <a:off x="4158966" y="943185"/>
            <a:ext cx="5357640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8">
            <a:extLst>
              <a:ext uri="{FF2B5EF4-FFF2-40B4-BE49-F238E27FC236}">
                <a16:creationId xmlns:a16="http://schemas.microsoft.com/office/drawing/2014/main" id="{5E612A3D-9623-B5C3-A78E-170D9006DBDE}"/>
              </a:ext>
            </a:extLst>
          </p:cNvPr>
          <p:cNvSpPr txBox="1"/>
          <p:nvPr/>
        </p:nvSpPr>
        <p:spPr>
          <a:xfrm>
            <a:off x="212921" y="5559334"/>
            <a:ext cx="30687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u="sng" dirty="0"/>
              <a:t>Legend:</a:t>
            </a:r>
          </a:p>
          <a:p>
            <a:r>
              <a:rPr lang="de-DE" sz="1200" dirty="0">
                <a:solidFill>
                  <a:schemeClr val="accent6"/>
                </a:solidFill>
              </a:rPr>
              <a:t>Grün: </a:t>
            </a:r>
            <a:r>
              <a:rPr lang="de-DE" sz="1200" dirty="0" err="1">
                <a:solidFill>
                  <a:schemeClr val="accent6"/>
                </a:solidFill>
              </a:rPr>
              <a:t>Correction</a:t>
            </a:r>
            <a:r>
              <a:rPr lang="de-DE" sz="1200" dirty="0">
                <a:solidFill>
                  <a:schemeClr val="accent6"/>
                </a:solidFill>
              </a:rPr>
              <a:t> Dimension</a:t>
            </a:r>
          </a:p>
          <a:p>
            <a:r>
              <a:rPr lang="de-DE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Blue: Frame Dimension</a:t>
            </a:r>
          </a:p>
          <a:p>
            <a:r>
              <a:rPr lang="de-DE" sz="1200" dirty="0">
                <a:solidFill>
                  <a:srgbClr val="FF0000"/>
                </a:solidFill>
              </a:rPr>
              <a:t>Rot: </a:t>
            </a:r>
            <a:r>
              <a:rPr lang="de-DE" sz="1200" dirty="0" err="1">
                <a:solidFill>
                  <a:srgbClr val="FF0000"/>
                </a:solidFill>
              </a:rPr>
              <a:t>physical</a:t>
            </a:r>
            <a:r>
              <a:rPr lang="de-DE" sz="1200" dirty="0">
                <a:solidFill>
                  <a:srgbClr val="FF0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rgbClr val="FFC000"/>
                </a:solidFill>
              </a:rPr>
              <a:t>Gelb: </a:t>
            </a:r>
            <a:r>
              <a:rPr lang="de-DE" sz="1200" dirty="0" err="1">
                <a:solidFill>
                  <a:srgbClr val="FFC000"/>
                </a:solidFill>
              </a:rPr>
              <a:t>derived</a:t>
            </a:r>
            <a:r>
              <a:rPr lang="de-DE" sz="1200" dirty="0">
                <a:solidFill>
                  <a:srgbClr val="FFC000"/>
                </a:solidFill>
              </a:rPr>
              <a:t> Horizons Measurement Points</a:t>
            </a:r>
          </a:p>
          <a:p>
            <a:r>
              <a:rPr lang="de-DE" sz="1200" dirty="0">
                <a:solidFill>
                  <a:schemeClr val="accent5"/>
                </a:solidFill>
              </a:rPr>
              <a:t>Lila: UI Outputs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FEF63178-C16F-5FB8-C76C-63A416638A5C}"/>
              </a:ext>
            </a:extLst>
          </p:cNvPr>
          <p:cNvSpPr txBox="1"/>
          <p:nvPr/>
        </p:nvSpPr>
        <p:spPr>
          <a:xfrm>
            <a:off x="10223635" y="138729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500@399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1007D5CE-1B8E-D538-07AD-C5C73C99B740}"/>
              </a:ext>
            </a:extLst>
          </p:cNvPr>
          <p:cNvSpPr txBox="1"/>
          <p:nvPr/>
        </p:nvSpPr>
        <p:spPr>
          <a:xfrm>
            <a:off x="10632171" y="2396133"/>
            <a:ext cx="1279517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VECTOR_CORR=NONE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CENTER=coord@399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SITE_COORD=‚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lat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6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elevation</a:t>
            </a:r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‘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COORD_TYPE=GEODETIC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EPHEM-TYPE=OBSERVER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EPOCH= NOW</a:t>
            </a:r>
          </a:p>
          <a:p>
            <a:r>
              <a:rPr lang="de-DE" sz="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REF_SYSTEM=ICRF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3B9D8CAC-3C2C-668A-FCDA-CC7442B73B0B}"/>
              </a:ext>
            </a:extLst>
          </p:cNvPr>
          <p:cNvSpPr txBox="1"/>
          <p:nvPr/>
        </p:nvSpPr>
        <p:spPr>
          <a:xfrm>
            <a:off x="1690447" y="181013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00" dirty="0">
                <a:solidFill>
                  <a:srgbClr val="FF0000"/>
                </a:solidFill>
              </a:rPr>
              <a:t>VECTOR_CORR=NONE</a:t>
            </a:r>
          </a:p>
          <a:p>
            <a:r>
              <a:rPr lang="de-DE" sz="600" dirty="0">
                <a:solidFill>
                  <a:srgbClr val="FF0000"/>
                </a:solidFill>
              </a:rPr>
              <a:t>500@10</a:t>
            </a:r>
          </a:p>
          <a:p>
            <a:r>
              <a:rPr lang="de-DE" sz="600" dirty="0">
                <a:solidFill>
                  <a:srgbClr val="FF0000"/>
                </a:solidFill>
              </a:rPr>
              <a:t>EPHEM-TYPE=VECTORS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AA1E5024-155B-2530-F6C4-E199BC751588}"/>
              </a:ext>
            </a:extLst>
          </p:cNvPr>
          <p:cNvSpPr txBox="1"/>
          <p:nvPr/>
        </p:nvSpPr>
        <p:spPr>
          <a:xfrm>
            <a:off x="3086573" y="1811372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/>
              <a:t>VECTOR_CORR=NONE</a:t>
            </a:r>
          </a:p>
          <a:p>
            <a:r>
              <a:rPr lang="de-DE" dirty="0"/>
              <a:t>500@399</a:t>
            </a:r>
          </a:p>
          <a:p>
            <a:r>
              <a:rPr lang="de-DE" dirty="0"/>
              <a:t>EPHEM-TYPE=VECTORS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99F4102A-2E89-D344-619D-FE62758E1B71}"/>
              </a:ext>
            </a:extLst>
          </p:cNvPr>
          <p:cNvSpPr txBox="1"/>
          <p:nvPr/>
        </p:nvSpPr>
        <p:spPr>
          <a:xfrm>
            <a:off x="4281299" y="2268045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rgbClr val="FFC000"/>
                </a:solidFill>
              </a:rPr>
              <a:t>VECTOR_CORR=NONE</a:t>
            </a:r>
          </a:p>
          <a:p>
            <a:r>
              <a:rPr lang="de-DE" dirty="0">
                <a:solidFill>
                  <a:srgbClr val="FFC000"/>
                </a:solidFill>
              </a:rPr>
              <a:t>EPHEM-TYPE=OBSERVER</a:t>
            </a:r>
          </a:p>
          <a:p>
            <a:r>
              <a:rPr lang="de-DE" dirty="0" err="1">
                <a:solidFill>
                  <a:srgbClr val="FFC000"/>
                </a:solidFill>
              </a:rPr>
              <a:t>REF_System</a:t>
            </a:r>
            <a:r>
              <a:rPr lang="de-DE" dirty="0">
                <a:solidFill>
                  <a:srgbClr val="FFC000"/>
                </a:solidFill>
              </a:rPr>
              <a:t>=ICRF</a:t>
            </a:r>
          </a:p>
          <a:p>
            <a:r>
              <a:rPr lang="de-DE" dirty="0">
                <a:solidFill>
                  <a:srgbClr val="FFC000"/>
                </a:solidFill>
              </a:rPr>
              <a:t>REF_PLANE=FRAME</a:t>
            </a:r>
          </a:p>
          <a:p>
            <a:r>
              <a:rPr lang="de-DE" dirty="0">
                <a:solidFill>
                  <a:srgbClr val="FFC000"/>
                </a:solidFill>
              </a:rPr>
              <a:t>QUANTITIES=1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D1BCBFF6-23D4-E64A-AF67-240A7ECFF0B7}"/>
              </a:ext>
            </a:extLst>
          </p:cNvPr>
          <p:cNvSpPr txBox="1"/>
          <p:nvPr/>
        </p:nvSpPr>
        <p:spPr>
          <a:xfrm>
            <a:off x="6850224" y="2430301"/>
            <a:ext cx="10358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defRPr sz="600">
                <a:solidFill>
                  <a:srgbClr val="FF0000"/>
                </a:solidFill>
              </a:defRPr>
            </a:lvl1pPr>
          </a:lstStyle>
          <a:p>
            <a:r>
              <a:rPr lang="de-DE" dirty="0">
                <a:solidFill>
                  <a:schemeClr val="accent5"/>
                </a:solidFill>
              </a:rPr>
              <a:t>VECTOR_CORR=NONE</a:t>
            </a:r>
          </a:p>
          <a:p>
            <a:r>
              <a:rPr lang="de-DE" dirty="0">
                <a:solidFill>
                  <a:schemeClr val="accent5"/>
                </a:solidFill>
              </a:rPr>
              <a:t>EPHEM-TYPE=OBSERVER</a:t>
            </a:r>
          </a:p>
          <a:p>
            <a:r>
              <a:rPr lang="de-DE" dirty="0" err="1">
                <a:solidFill>
                  <a:schemeClr val="accent5"/>
                </a:solidFill>
              </a:rPr>
              <a:t>REF_System</a:t>
            </a:r>
            <a:r>
              <a:rPr lang="de-DE" dirty="0">
                <a:solidFill>
                  <a:schemeClr val="accent5"/>
                </a:solidFill>
              </a:rPr>
              <a:t>=ICRF</a:t>
            </a:r>
          </a:p>
          <a:p>
            <a:r>
              <a:rPr lang="de-DE" dirty="0">
                <a:solidFill>
                  <a:schemeClr val="accent5"/>
                </a:solidFill>
              </a:rPr>
              <a:t>REF_PLANE=FRAME</a:t>
            </a:r>
          </a:p>
          <a:p>
            <a:r>
              <a:rPr lang="de-DE" dirty="0">
                <a:solidFill>
                  <a:schemeClr val="accent5"/>
                </a:solidFill>
              </a:rPr>
              <a:t>QUANTITIES=AZ;ALT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1C3B5B59-2455-F59B-3B50-248AA2D14828}"/>
              </a:ext>
            </a:extLst>
          </p:cNvPr>
          <p:cNvSpPr txBox="1"/>
          <p:nvPr/>
        </p:nvSpPr>
        <p:spPr>
          <a:xfrm>
            <a:off x="5754717" y="2628040"/>
            <a:ext cx="8947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OBSERVER+</a:t>
            </a:r>
          </a:p>
        </p:txBody>
      </p:sp>
      <p:cxnSp>
        <p:nvCxnSpPr>
          <p:cNvPr id="234" name="Gerade Verbindung mit Pfeil 233">
            <a:extLst>
              <a:ext uri="{FF2B5EF4-FFF2-40B4-BE49-F238E27FC236}">
                <a16:creationId xmlns:a16="http://schemas.microsoft.com/office/drawing/2014/main" id="{240B81D6-3995-DE79-9B3A-3684D830F12A}"/>
              </a:ext>
            </a:extLst>
          </p:cNvPr>
          <p:cNvCxnSpPr>
            <a:cxnSpLocks/>
          </p:cNvCxnSpPr>
          <p:nvPr/>
        </p:nvCxnSpPr>
        <p:spPr>
          <a:xfrm flipV="1">
            <a:off x="5259565" y="580119"/>
            <a:ext cx="2505215" cy="700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feld 239">
            <a:extLst>
              <a:ext uri="{FF2B5EF4-FFF2-40B4-BE49-F238E27FC236}">
                <a16:creationId xmlns:a16="http://schemas.microsoft.com/office/drawing/2014/main" id="{73DE6E10-948F-8D0E-53EC-2BB4DB9771F3}"/>
              </a:ext>
            </a:extLst>
          </p:cNvPr>
          <p:cNvSpPr txBox="1"/>
          <p:nvPr/>
        </p:nvSpPr>
        <p:spPr>
          <a:xfrm>
            <a:off x="5420044" y="219911"/>
            <a:ext cx="24272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rgbClr val="FFC000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rgbClr val="FFC000"/>
                </a:solidFill>
              </a:rPr>
              <a:t>EPHEM-TYPE = { OBSERVER}</a:t>
            </a:r>
          </a:p>
          <a:p>
            <a:endParaRPr lang="de-DE" sz="1000" b="1" dirty="0">
              <a:solidFill>
                <a:srgbClr val="FFC000"/>
              </a:solidFill>
            </a:endParaRPr>
          </a:p>
        </p:txBody>
      </p:sp>
      <p:grpSp>
        <p:nvGrpSpPr>
          <p:cNvPr id="246" name="Gruppieren 245">
            <a:extLst>
              <a:ext uri="{FF2B5EF4-FFF2-40B4-BE49-F238E27FC236}">
                <a16:creationId xmlns:a16="http://schemas.microsoft.com/office/drawing/2014/main" id="{AC6B986C-6B47-A748-62E3-E381889BF826}"/>
              </a:ext>
            </a:extLst>
          </p:cNvPr>
          <p:cNvGrpSpPr/>
          <p:nvPr/>
        </p:nvGrpSpPr>
        <p:grpSpPr>
          <a:xfrm>
            <a:off x="9790916" y="1644479"/>
            <a:ext cx="480147" cy="385178"/>
            <a:chOff x="6864273" y="4714937"/>
            <a:chExt cx="621045" cy="514285"/>
          </a:xfrm>
        </p:grpSpPr>
        <p:sp>
          <p:nvSpPr>
            <p:cNvPr id="244" name="Gleichschenkliges Dreieck 243">
              <a:extLst>
                <a:ext uri="{FF2B5EF4-FFF2-40B4-BE49-F238E27FC236}">
                  <a16:creationId xmlns:a16="http://schemas.microsoft.com/office/drawing/2014/main" id="{37CDBD93-ECDB-FCA7-023E-49B82837DF66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5" name="Textfeld 244">
              <a:extLst>
                <a:ext uri="{FF2B5EF4-FFF2-40B4-BE49-F238E27FC236}">
                  <a16:creationId xmlns:a16="http://schemas.microsoft.com/office/drawing/2014/main" id="{AE33FBB2-813C-BDEB-6ED2-482DDC563FA4}"/>
                </a:ext>
              </a:extLst>
            </p:cNvPr>
            <p:cNvSpPr txBox="1"/>
            <p:nvPr/>
          </p:nvSpPr>
          <p:spPr>
            <a:xfrm>
              <a:off x="6904745" y="4835822"/>
              <a:ext cx="431528" cy="3693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15</a:t>
              </a:r>
            </a:p>
          </p:txBody>
        </p:sp>
      </p:grpSp>
      <p:grpSp>
        <p:nvGrpSpPr>
          <p:cNvPr id="247" name="Gruppieren 246">
            <a:extLst>
              <a:ext uri="{FF2B5EF4-FFF2-40B4-BE49-F238E27FC236}">
                <a16:creationId xmlns:a16="http://schemas.microsoft.com/office/drawing/2014/main" id="{73354F37-9FFF-7EAA-0848-1D93C74218D6}"/>
              </a:ext>
            </a:extLst>
          </p:cNvPr>
          <p:cNvGrpSpPr/>
          <p:nvPr/>
        </p:nvGrpSpPr>
        <p:grpSpPr>
          <a:xfrm>
            <a:off x="9745041" y="2800181"/>
            <a:ext cx="480147" cy="459870"/>
            <a:chOff x="6864273" y="4714937"/>
            <a:chExt cx="621045" cy="614013"/>
          </a:xfrm>
        </p:grpSpPr>
        <p:sp>
          <p:nvSpPr>
            <p:cNvPr id="248" name="Gleichschenkliges Dreieck 247">
              <a:extLst>
                <a:ext uri="{FF2B5EF4-FFF2-40B4-BE49-F238E27FC236}">
                  <a16:creationId xmlns:a16="http://schemas.microsoft.com/office/drawing/2014/main" id="{426C32D3-13A7-A891-065A-27EF9FCC3392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49" name="Textfeld 248">
              <a:extLst>
                <a:ext uri="{FF2B5EF4-FFF2-40B4-BE49-F238E27FC236}">
                  <a16:creationId xmlns:a16="http://schemas.microsoft.com/office/drawing/2014/main" id="{3FA9411B-939A-58B0-8A52-EF6437707D9E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16</a:t>
              </a:r>
            </a:p>
          </p:txBody>
        </p:sp>
      </p:grpSp>
      <p:grpSp>
        <p:nvGrpSpPr>
          <p:cNvPr id="250" name="Gruppieren 249">
            <a:extLst>
              <a:ext uri="{FF2B5EF4-FFF2-40B4-BE49-F238E27FC236}">
                <a16:creationId xmlns:a16="http://schemas.microsoft.com/office/drawing/2014/main" id="{0235019C-0DAA-1C64-8D14-CD5688BC82D8}"/>
              </a:ext>
            </a:extLst>
          </p:cNvPr>
          <p:cNvGrpSpPr/>
          <p:nvPr/>
        </p:nvGrpSpPr>
        <p:grpSpPr>
          <a:xfrm>
            <a:off x="9031851" y="5719267"/>
            <a:ext cx="480147" cy="459870"/>
            <a:chOff x="6864273" y="4714937"/>
            <a:chExt cx="621045" cy="614013"/>
          </a:xfrm>
        </p:grpSpPr>
        <p:sp>
          <p:nvSpPr>
            <p:cNvPr id="251" name="Gleichschenkliges Dreieck 250">
              <a:extLst>
                <a:ext uri="{FF2B5EF4-FFF2-40B4-BE49-F238E27FC236}">
                  <a16:creationId xmlns:a16="http://schemas.microsoft.com/office/drawing/2014/main" id="{D8B78CF2-2F6A-24C3-A9CF-6BB8E1FAED38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2" name="Textfeld 251">
              <a:extLst>
                <a:ext uri="{FF2B5EF4-FFF2-40B4-BE49-F238E27FC236}">
                  <a16:creationId xmlns:a16="http://schemas.microsoft.com/office/drawing/2014/main" id="{36175BF5-5DA4-D132-612A-0A204DE07984}"/>
                </a:ext>
              </a:extLst>
            </p:cNvPr>
            <p:cNvSpPr txBox="1"/>
            <p:nvPr/>
          </p:nvSpPr>
          <p:spPr>
            <a:xfrm>
              <a:off x="6904745" y="4835822"/>
              <a:ext cx="558158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13</a:t>
              </a:r>
            </a:p>
          </p:txBody>
        </p:sp>
      </p:grpSp>
      <p:grpSp>
        <p:nvGrpSpPr>
          <p:cNvPr id="253" name="Gruppieren 252">
            <a:extLst>
              <a:ext uri="{FF2B5EF4-FFF2-40B4-BE49-F238E27FC236}">
                <a16:creationId xmlns:a16="http://schemas.microsoft.com/office/drawing/2014/main" id="{F9F9E20F-531A-30D7-CDFB-21AE9A2893BB}"/>
              </a:ext>
            </a:extLst>
          </p:cNvPr>
          <p:cNvGrpSpPr/>
          <p:nvPr/>
        </p:nvGrpSpPr>
        <p:grpSpPr>
          <a:xfrm>
            <a:off x="9842598" y="5678950"/>
            <a:ext cx="480147" cy="459870"/>
            <a:chOff x="6864273" y="4714937"/>
            <a:chExt cx="621045" cy="614013"/>
          </a:xfrm>
        </p:grpSpPr>
        <p:sp>
          <p:nvSpPr>
            <p:cNvPr id="254" name="Gleichschenkliges Dreieck 253">
              <a:extLst>
                <a:ext uri="{FF2B5EF4-FFF2-40B4-BE49-F238E27FC236}">
                  <a16:creationId xmlns:a16="http://schemas.microsoft.com/office/drawing/2014/main" id="{CCAE0FB5-091F-76E7-E5A9-1B57E5350F19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55" name="Textfeld 254">
              <a:extLst>
                <a:ext uri="{FF2B5EF4-FFF2-40B4-BE49-F238E27FC236}">
                  <a16:creationId xmlns:a16="http://schemas.microsoft.com/office/drawing/2014/main" id="{0DE60046-DFEC-BE6E-895F-03F238FA167D}"/>
                </a:ext>
              </a:extLst>
            </p:cNvPr>
            <p:cNvSpPr txBox="1"/>
            <p:nvPr/>
          </p:nvSpPr>
          <p:spPr>
            <a:xfrm>
              <a:off x="6904745" y="483582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14</a:t>
              </a:r>
            </a:p>
          </p:txBody>
        </p:sp>
      </p:grpSp>
      <p:grpSp>
        <p:nvGrpSpPr>
          <p:cNvPr id="256" name="Gruppieren 255">
            <a:extLst>
              <a:ext uri="{FF2B5EF4-FFF2-40B4-BE49-F238E27FC236}">
                <a16:creationId xmlns:a16="http://schemas.microsoft.com/office/drawing/2014/main" id="{2E01CD82-9687-09E0-DD7F-C701655E7E8C}"/>
              </a:ext>
            </a:extLst>
          </p:cNvPr>
          <p:cNvGrpSpPr/>
          <p:nvPr/>
        </p:nvGrpSpPr>
        <p:grpSpPr>
          <a:xfrm>
            <a:off x="5317160" y="2726550"/>
            <a:ext cx="490918" cy="1920042"/>
            <a:chOff x="7688005" y="1055895"/>
            <a:chExt cx="490918" cy="1920042"/>
          </a:xfrm>
        </p:grpSpPr>
        <p:sp>
          <p:nvSpPr>
            <p:cNvPr id="257" name="Ellipse 256">
              <a:extLst>
                <a:ext uri="{FF2B5EF4-FFF2-40B4-BE49-F238E27FC236}">
                  <a16:creationId xmlns:a16="http://schemas.microsoft.com/office/drawing/2014/main" id="{C3560295-217A-B4D7-129F-08E2CF7D1AD0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8" name="Textfeld 257">
              <a:extLst>
                <a:ext uri="{FF2B5EF4-FFF2-40B4-BE49-F238E27FC236}">
                  <a16:creationId xmlns:a16="http://schemas.microsoft.com/office/drawing/2014/main" id="{B2E50E32-CB55-EB3A-03B9-27BCBC3D9B06}"/>
                </a:ext>
              </a:extLst>
            </p:cNvPr>
            <p:cNvSpPr txBox="1"/>
            <p:nvPr/>
          </p:nvSpPr>
          <p:spPr>
            <a:xfrm>
              <a:off x="7704711" y="1055895"/>
              <a:ext cx="30809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3</a:t>
              </a:r>
            </a:p>
          </p:txBody>
        </p:sp>
        <p:sp>
          <p:nvSpPr>
            <p:cNvPr id="259" name="Textfeld 258">
              <a:extLst>
                <a:ext uri="{FF2B5EF4-FFF2-40B4-BE49-F238E27FC236}">
                  <a16:creationId xmlns:a16="http://schemas.microsoft.com/office/drawing/2014/main" id="{5835A641-4EFF-1931-D03F-F5227DED87CE}"/>
                </a:ext>
              </a:extLst>
            </p:cNvPr>
            <p:cNvSpPr txBox="1"/>
            <p:nvPr/>
          </p:nvSpPr>
          <p:spPr>
            <a:xfrm>
              <a:off x="7713578" y="1842615"/>
              <a:ext cx="30809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7</a:t>
              </a:r>
            </a:p>
          </p:txBody>
        </p:sp>
        <p:sp>
          <p:nvSpPr>
            <p:cNvPr id="260" name="Textfeld 259">
              <a:extLst>
                <a:ext uri="{FF2B5EF4-FFF2-40B4-BE49-F238E27FC236}">
                  <a16:creationId xmlns:a16="http://schemas.microsoft.com/office/drawing/2014/main" id="{DC4CC033-F4D3-60B2-9831-F658EE8A7FD0}"/>
                </a:ext>
              </a:extLst>
            </p:cNvPr>
            <p:cNvSpPr txBox="1"/>
            <p:nvPr/>
          </p:nvSpPr>
          <p:spPr>
            <a:xfrm>
              <a:off x="7688005" y="2606605"/>
              <a:ext cx="431528" cy="369332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</a:rPr>
                <a:t>11</a:t>
              </a:r>
            </a:p>
          </p:txBody>
        </p:sp>
      </p:grpSp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6174C4C5-6954-70CD-A82A-1A7CA5BD2602}"/>
              </a:ext>
            </a:extLst>
          </p:cNvPr>
          <p:cNvGrpSpPr/>
          <p:nvPr/>
        </p:nvGrpSpPr>
        <p:grpSpPr>
          <a:xfrm>
            <a:off x="6416839" y="2732706"/>
            <a:ext cx="480147" cy="402007"/>
            <a:chOff x="6864273" y="4714937"/>
            <a:chExt cx="621045" cy="536755"/>
          </a:xfrm>
        </p:grpSpPr>
        <p:sp>
          <p:nvSpPr>
            <p:cNvPr id="262" name="Gleichschenkliges Dreieck 261">
              <a:extLst>
                <a:ext uri="{FF2B5EF4-FFF2-40B4-BE49-F238E27FC236}">
                  <a16:creationId xmlns:a16="http://schemas.microsoft.com/office/drawing/2014/main" id="{E78048B9-7622-DC6C-3300-76E9D1AA83FC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3" name="Textfeld 262">
              <a:extLst>
                <a:ext uri="{FF2B5EF4-FFF2-40B4-BE49-F238E27FC236}">
                  <a16:creationId xmlns:a16="http://schemas.microsoft.com/office/drawing/2014/main" id="{AE61E07E-7BAD-E93B-1D74-5767427EF1C7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4</a:t>
              </a:r>
            </a:p>
          </p:txBody>
        </p:sp>
      </p:grpSp>
      <p:grpSp>
        <p:nvGrpSpPr>
          <p:cNvPr id="264" name="Gruppieren 263">
            <a:extLst>
              <a:ext uri="{FF2B5EF4-FFF2-40B4-BE49-F238E27FC236}">
                <a16:creationId xmlns:a16="http://schemas.microsoft.com/office/drawing/2014/main" id="{D035290E-36B7-05D5-3498-DFF892856C50}"/>
              </a:ext>
            </a:extLst>
          </p:cNvPr>
          <p:cNvGrpSpPr/>
          <p:nvPr/>
        </p:nvGrpSpPr>
        <p:grpSpPr>
          <a:xfrm>
            <a:off x="6401520" y="3499316"/>
            <a:ext cx="480147" cy="402007"/>
            <a:chOff x="6864273" y="4714937"/>
            <a:chExt cx="621045" cy="536755"/>
          </a:xfrm>
        </p:grpSpPr>
        <p:sp>
          <p:nvSpPr>
            <p:cNvPr id="265" name="Gleichschenkliges Dreieck 264">
              <a:extLst>
                <a:ext uri="{FF2B5EF4-FFF2-40B4-BE49-F238E27FC236}">
                  <a16:creationId xmlns:a16="http://schemas.microsoft.com/office/drawing/2014/main" id="{7B875121-FC47-1D19-8136-C462F36EC52A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6" name="Textfeld 265">
              <a:extLst>
                <a:ext uri="{FF2B5EF4-FFF2-40B4-BE49-F238E27FC236}">
                  <a16:creationId xmlns:a16="http://schemas.microsoft.com/office/drawing/2014/main" id="{424C5154-4F84-2ACA-063E-7FC199BD8FD1}"/>
                </a:ext>
              </a:extLst>
            </p:cNvPr>
            <p:cNvSpPr txBox="1"/>
            <p:nvPr/>
          </p:nvSpPr>
          <p:spPr>
            <a:xfrm>
              <a:off x="6975168" y="4758564"/>
              <a:ext cx="39850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8</a:t>
              </a:r>
            </a:p>
          </p:txBody>
        </p:sp>
      </p:grpSp>
      <p:grpSp>
        <p:nvGrpSpPr>
          <p:cNvPr id="267" name="Gruppieren 266">
            <a:extLst>
              <a:ext uri="{FF2B5EF4-FFF2-40B4-BE49-F238E27FC236}">
                <a16:creationId xmlns:a16="http://schemas.microsoft.com/office/drawing/2014/main" id="{8195080B-6A9E-25C8-6368-A2FFF93C1E0F}"/>
              </a:ext>
            </a:extLst>
          </p:cNvPr>
          <p:cNvGrpSpPr/>
          <p:nvPr/>
        </p:nvGrpSpPr>
        <p:grpSpPr>
          <a:xfrm>
            <a:off x="6413538" y="4302000"/>
            <a:ext cx="480147" cy="476527"/>
            <a:chOff x="6864273" y="4714937"/>
            <a:chExt cx="621045" cy="636253"/>
          </a:xfrm>
        </p:grpSpPr>
        <p:sp>
          <p:nvSpPr>
            <p:cNvPr id="268" name="Gleichschenkliges Dreieck 267">
              <a:extLst>
                <a:ext uri="{FF2B5EF4-FFF2-40B4-BE49-F238E27FC236}">
                  <a16:creationId xmlns:a16="http://schemas.microsoft.com/office/drawing/2014/main" id="{CD2FC6C4-8D1F-89A2-DA41-206086742FC2}"/>
                </a:ext>
              </a:extLst>
            </p:cNvPr>
            <p:cNvSpPr/>
            <p:nvPr/>
          </p:nvSpPr>
          <p:spPr>
            <a:xfrm>
              <a:off x="6864273" y="4714937"/>
              <a:ext cx="621045" cy="514285"/>
            </a:xfrm>
            <a:prstGeom prst="triangle">
              <a:avLst/>
            </a:pr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/>
            </a:p>
          </p:txBody>
        </p:sp>
        <p:sp>
          <p:nvSpPr>
            <p:cNvPr id="269" name="Textfeld 268">
              <a:extLst>
                <a:ext uri="{FF2B5EF4-FFF2-40B4-BE49-F238E27FC236}">
                  <a16:creationId xmlns:a16="http://schemas.microsoft.com/office/drawing/2014/main" id="{801B4621-84CB-1A9E-BA3D-6C6E1E08DC62}"/>
                </a:ext>
              </a:extLst>
            </p:cNvPr>
            <p:cNvSpPr txBox="1"/>
            <p:nvPr/>
          </p:nvSpPr>
          <p:spPr>
            <a:xfrm>
              <a:off x="6885465" y="4858062"/>
              <a:ext cx="558159" cy="4931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accent5"/>
                  </a:solidFill>
                </a:rPr>
                <a:t>12</a:t>
              </a:r>
            </a:p>
          </p:txBody>
        </p:sp>
      </p:grpSp>
      <p:sp>
        <p:nvSpPr>
          <p:cNvPr id="270" name="Textfeld 269">
            <a:extLst>
              <a:ext uri="{FF2B5EF4-FFF2-40B4-BE49-F238E27FC236}">
                <a16:creationId xmlns:a16="http://schemas.microsoft.com/office/drawing/2014/main" id="{229AF488-29EB-691B-11F9-4CEED6B9DFCC}"/>
              </a:ext>
            </a:extLst>
          </p:cNvPr>
          <p:cNvSpPr txBox="1"/>
          <p:nvPr/>
        </p:nvSpPr>
        <p:spPr>
          <a:xfrm>
            <a:off x="7866794" y="211807"/>
            <a:ext cx="26484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>
                <a:solidFill>
                  <a:schemeClr val="accent5"/>
                </a:solidFill>
              </a:rPr>
              <a:t>DERIVED MEASUREMENT DIMENISION</a:t>
            </a:r>
          </a:p>
          <a:p>
            <a:r>
              <a:rPr lang="de-DE" sz="1000" b="1" dirty="0">
                <a:solidFill>
                  <a:schemeClr val="accent5"/>
                </a:solidFill>
              </a:rPr>
              <a:t>EPHEM-TYPE = { OBSERVER} + QUANTITIES</a:t>
            </a:r>
          </a:p>
          <a:p>
            <a:endParaRPr lang="de-DE" sz="1000" b="1" dirty="0">
              <a:solidFill>
                <a:schemeClr val="accent5"/>
              </a:solidFill>
            </a:endParaRPr>
          </a:p>
        </p:txBody>
      </p:sp>
      <p:cxnSp>
        <p:nvCxnSpPr>
          <p:cNvPr id="272" name="Gerade Verbindung mit Pfeil 271">
            <a:extLst>
              <a:ext uri="{FF2B5EF4-FFF2-40B4-BE49-F238E27FC236}">
                <a16:creationId xmlns:a16="http://schemas.microsoft.com/office/drawing/2014/main" id="{CB1451C5-BF7B-4A10-8BB3-7003832F5F4B}"/>
              </a:ext>
            </a:extLst>
          </p:cNvPr>
          <p:cNvCxnSpPr>
            <a:cxnSpLocks/>
          </p:cNvCxnSpPr>
          <p:nvPr/>
        </p:nvCxnSpPr>
        <p:spPr>
          <a:xfrm>
            <a:off x="7764780" y="591804"/>
            <a:ext cx="2867490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Gerader Verbinder 274">
            <a:extLst>
              <a:ext uri="{FF2B5EF4-FFF2-40B4-BE49-F238E27FC236}">
                <a16:creationId xmlns:a16="http://schemas.microsoft.com/office/drawing/2014/main" id="{EF069BA1-1E82-ECDE-AFA6-4A425776BBCF}"/>
              </a:ext>
            </a:extLst>
          </p:cNvPr>
          <p:cNvCxnSpPr>
            <a:cxnSpLocks/>
          </p:cNvCxnSpPr>
          <p:nvPr/>
        </p:nvCxnSpPr>
        <p:spPr>
          <a:xfrm>
            <a:off x="267486" y="5562361"/>
            <a:ext cx="562928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Rechteck 279">
            <a:extLst>
              <a:ext uri="{FF2B5EF4-FFF2-40B4-BE49-F238E27FC236}">
                <a16:creationId xmlns:a16="http://schemas.microsoft.com/office/drawing/2014/main" id="{D2F1748B-24F0-5B15-1600-E7BFB7C29D52}"/>
              </a:ext>
            </a:extLst>
          </p:cNvPr>
          <p:cNvSpPr/>
          <p:nvPr/>
        </p:nvSpPr>
        <p:spPr>
          <a:xfrm>
            <a:off x="1933133" y="5078699"/>
            <a:ext cx="92036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Not Horizons;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Later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Relativity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Parallax</a:t>
            </a:r>
            <a:r>
              <a:rPr lang="de-DE" sz="1200" i="1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de-DE" sz="1200" i="1" dirty="0" err="1">
                <a:solidFill>
                  <a:schemeClr val="bg1">
                    <a:lumMod val="65000"/>
                  </a:schemeClr>
                </a:solidFill>
              </a:rPr>
              <a:t>Refraction</a:t>
            </a:r>
            <a:endParaRPr lang="de-DE" sz="12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7" name="Textfeld 286">
            <a:extLst>
              <a:ext uri="{FF2B5EF4-FFF2-40B4-BE49-F238E27FC236}">
                <a16:creationId xmlns:a16="http://schemas.microsoft.com/office/drawing/2014/main" id="{B4D8A679-0708-00D4-BF4F-543A7AFCDBCB}"/>
              </a:ext>
            </a:extLst>
          </p:cNvPr>
          <p:cNvSpPr txBox="1"/>
          <p:nvPr/>
        </p:nvSpPr>
        <p:spPr>
          <a:xfrm>
            <a:off x="3598850" y="5668639"/>
            <a:ext cx="184537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Boxes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Astronometria</a:t>
            </a:r>
            <a:r>
              <a:rPr lang="de-DE" sz="1200" dirty="0"/>
              <a:t> </a:t>
            </a:r>
          </a:p>
          <a:p>
            <a:r>
              <a:rPr lang="de-DE" sz="1200" dirty="0" err="1"/>
              <a:t>Algo</a:t>
            </a:r>
            <a:r>
              <a:rPr lang="de-DE" sz="1200" dirty="0"/>
              <a:t> </a:t>
            </a:r>
            <a:r>
              <a:rPr lang="de-DE" sz="1200" dirty="0" err="1"/>
              <a:t>parts</a:t>
            </a:r>
            <a:endParaRPr lang="de-DE" sz="1200" dirty="0"/>
          </a:p>
        </p:txBody>
      </p:sp>
      <p:sp>
        <p:nvSpPr>
          <p:cNvPr id="288" name="Textfeld 287">
            <a:extLst>
              <a:ext uri="{FF2B5EF4-FFF2-40B4-BE49-F238E27FC236}">
                <a16:creationId xmlns:a16="http://schemas.microsoft.com/office/drawing/2014/main" id="{F17287F8-2584-96AC-33AF-D1DB33788A92}"/>
              </a:ext>
            </a:extLst>
          </p:cNvPr>
          <p:cNvSpPr txBox="1"/>
          <p:nvPr/>
        </p:nvSpPr>
        <p:spPr>
          <a:xfrm>
            <a:off x="3595789" y="6243059"/>
            <a:ext cx="21808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sz="1200" dirty="0"/>
              <a:t>Numbers </a:t>
            </a:r>
            <a:r>
              <a:rPr lang="de-DE" sz="1200" dirty="0" err="1"/>
              <a:t>are</a:t>
            </a:r>
            <a:r>
              <a:rPr lang="de-DE" sz="1200" dirty="0"/>
              <a:t> </a:t>
            </a:r>
            <a:r>
              <a:rPr lang="de-DE" sz="1200" dirty="0" err="1"/>
              <a:t>any</a:t>
            </a:r>
            <a:r>
              <a:rPr lang="de-DE" sz="1200" dirty="0"/>
              <a:t> </a:t>
            </a:r>
            <a:r>
              <a:rPr lang="de-DE" sz="1200" dirty="0" err="1"/>
              <a:t>kind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</a:p>
          <a:p>
            <a:r>
              <a:rPr lang="de-DE" sz="1200" dirty="0"/>
              <a:t>Horizons Measurement Points</a:t>
            </a:r>
          </a:p>
        </p:txBody>
      </p:sp>
      <p:sp>
        <p:nvSpPr>
          <p:cNvPr id="290" name="Rechteck 289">
            <a:extLst>
              <a:ext uri="{FF2B5EF4-FFF2-40B4-BE49-F238E27FC236}">
                <a16:creationId xmlns:a16="http://schemas.microsoft.com/office/drawing/2014/main" id="{D93CBAF3-9AC3-AB5C-499D-3790104367BD}"/>
              </a:ext>
            </a:extLst>
          </p:cNvPr>
          <p:cNvSpPr/>
          <p:nvPr/>
        </p:nvSpPr>
        <p:spPr>
          <a:xfrm>
            <a:off x="6114098" y="6275305"/>
            <a:ext cx="198587" cy="19858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1" name="Gleichschenkliges Dreieck 290">
            <a:extLst>
              <a:ext uri="{FF2B5EF4-FFF2-40B4-BE49-F238E27FC236}">
                <a16:creationId xmlns:a16="http://schemas.microsoft.com/office/drawing/2014/main" id="{D179B9A9-6B2F-81CE-E72B-5A0E0DAA4DA4}"/>
              </a:ext>
            </a:extLst>
          </p:cNvPr>
          <p:cNvSpPr/>
          <p:nvPr/>
        </p:nvSpPr>
        <p:spPr>
          <a:xfrm>
            <a:off x="6448425" y="629327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92" name="Gruppieren 291">
            <a:extLst>
              <a:ext uri="{FF2B5EF4-FFF2-40B4-BE49-F238E27FC236}">
                <a16:creationId xmlns:a16="http://schemas.microsoft.com/office/drawing/2014/main" id="{8422D2DE-5825-71D9-6560-A340B12D7DED}"/>
              </a:ext>
            </a:extLst>
          </p:cNvPr>
          <p:cNvGrpSpPr/>
          <p:nvPr/>
        </p:nvGrpSpPr>
        <p:grpSpPr>
          <a:xfrm>
            <a:off x="5762467" y="6249683"/>
            <a:ext cx="219233" cy="276995"/>
            <a:chOff x="7877175" y="1094810"/>
            <a:chExt cx="301748" cy="369332"/>
          </a:xfrm>
        </p:grpSpPr>
        <p:sp>
          <p:nvSpPr>
            <p:cNvPr id="293" name="Ellipse 292">
              <a:extLst>
                <a:ext uri="{FF2B5EF4-FFF2-40B4-BE49-F238E27FC236}">
                  <a16:creationId xmlns:a16="http://schemas.microsoft.com/office/drawing/2014/main" id="{486B2506-C537-6AEE-4694-8E21F7D653DF}"/>
                </a:ext>
              </a:extLst>
            </p:cNvPr>
            <p:cNvSpPr/>
            <p:nvPr/>
          </p:nvSpPr>
          <p:spPr>
            <a:xfrm>
              <a:off x="7883954" y="1120130"/>
              <a:ext cx="294969" cy="29496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4" name="Textfeld 293">
              <a:extLst>
                <a:ext uri="{FF2B5EF4-FFF2-40B4-BE49-F238E27FC236}">
                  <a16:creationId xmlns:a16="http://schemas.microsoft.com/office/drawing/2014/main" id="{AB499FFA-B312-5072-5072-242A0F226786}"/>
                </a:ext>
              </a:extLst>
            </p:cNvPr>
            <p:cNvSpPr txBox="1"/>
            <p:nvPr/>
          </p:nvSpPr>
          <p:spPr>
            <a:xfrm>
              <a:off x="7877175" y="1094810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de-DE" dirty="0">
                <a:solidFill>
                  <a:srgbClr val="FF0000"/>
                </a:solidFill>
              </a:endParaRPr>
            </a:p>
          </p:txBody>
        </p:sp>
      </p:grpSp>
      <p:sp>
        <p:nvSpPr>
          <p:cNvPr id="295" name="Gleichschenkliges Dreieck 294">
            <a:extLst>
              <a:ext uri="{FF2B5EF4-FFF2-40B4-BE49-F238E27FC236}">
                <a16:creationId xmlns:a16="http://schemas.microsoft.com/office/drawing/2014/main" id="{301535C2-8EC9-49C2-E28E-DE621E12786D}"/>
              </a:ext>
            </a:extLst>
          </p:cNvPr>
          <p:cNvSpPr/>
          <p:nvPr/>
        </p:nvSpPr>
        <p:spPr>
          <a:xfrm>
            <a:off x="9653423" y="10341540"/>
            <a:ext cx="220118" cy="189757"/>
          </a:xfrm>
          <a:prstGeom prst="triangle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6" name="Textfeld 295">
            <a:extLst>
              <a:ext uri="{FF2B5EF4-FFF2-40B4-BE49-F238E27FC236}">
                <a16:creationId xmlns:a16="http://schemas.microsoft.com/office/drawing/2014/main" id="{4BC8B12C-949B-3956-3806-B0DE22C52FD9}"/>
              </a:ext>
            </a:extLst>
          </p:cNvPr>
          <p:cNvSpPr txBox="1"/>
          <p:nvPr/>
        </p:nvSpPr>
        <p:spPr>
          <a:xfrm rot="18888506">
            <a:off x="255446" y="505518"/>
            <a:ext cx="1329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highlight>
                  <a:srgbClr val="FFFF00"/>
                </a:highlight>
              </a:rPr>
              <a:t>FREEZE</a:t>
            </a:r>
          </a:p>
          <a:p>
            <a:pPr algn="ctr"/>
            <a:r>
              <a:rPr lang="de-DE" dirty="0">
                <a:highlight>
                  <a:srgbClr val="FFFF00"/>
                </a:highlight>
              </a:rPr>
              <a:t>2026-03-27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7FCD6100-926E-937A-A4F7-2235E8A84376}"/>
              </a:ext>
            </a:extLst>
          </p:cNvPr>
          <p:cNvSpPr/>
          <p:nvPr/>
        </p:nvSpPr>
        <p:spPr>
          <a:xfrm>
            <a:off x="5661255" y="1761103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1D054C9-34C7-58A5-77F3-BA464F0CC666}"/>
              </a:ext>
            </a:extLst>
          </p:cNvPr>
          <p:cNvSpPr/>
          <p:nvPr/>
        </p:nvSpPr>
        <p:spPr>
          <a:xfrm>
            <a:off x="4905905" y="1284996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EE51018-842F-F077-6B26-213F1C68ABA9}"/>
              </a:ext>
            </a:extLst>
          </p:cNvPr>
          <p:cNvSpPr/>
          <p:nvPr/>
        </p:nvSpPr>
        <p:spPr>
          <a:xfrm>
            <a:off x="6156272" y="2730689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3DEA2B9-A891-9E9E-7ED8-6F6A35AA5BB2}"/>
              </a:ext>
            </a:extLst>
          </p:cNvPr>
          <p:cNvSpPr/>
          <p:nvPr/>
        </p:nvSpPr>
        <p:spPr>
          <a:xfrm>
            <a:off x="6164877" y="3507074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C4B292F-3B4B-AA1B-0DEB-EAF8F20DE479}"/>
              </a:ext>
            </a:extLst>
          </p:cNvPr>
          <p:cNvSpPr/>
          <p:nvPr/>
        </p:nvSpPr>
        <p:spPr>
          <a:xfrm>
            <a:off x="6180089" y="4510192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A7AF974E-0883-6844-EEB9-116EFC6BFE24}"/>
              </a:ext>
            </a:extLst>
          </p:cNvPr>
          <p:cNvSpPr/>
          <p:nvPr/>
        </p:nvSpPr>
        <p:spPr>
          <a:xfrm>
            <a:off x="8933504" y="2740589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F5F1678-3A58-5995-97A1-8739F7C27560}"/>
              </a:ext>
            </a:extLst>
          </p:cNvPr>
          <p:cNvSpPr/>
          <p:nvPr/>
        </p:nvSpPr>
        <p:spPr>
          <a:xfrm>
            <a:off x="8977417" y="3566324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60877C0-9F2F-F7E7-0CC0-0BF3C505F894}"/>
              </a:ext>
            </a:extLst>
          </p:cNvPr>
          <p:cNvSpPr/>
          <p:nvPr/>
        </p:nvSpPr>
        <p:spPr>
          <a:xfrm>
            <a:off x="8998290" y="4525584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357A746-C25D-407D-DEDC-C7BD3B18D22D}"/>
              </a:ext>
            </a:extLst>
          </p:cNvPr>
          <p:cNvSpPr/>
          <p:nvPr/>
        </p:nvSpPr>
        <p:spPr>
          <a:xfrm>
            <a:off x="10241292" y="2809684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BB6B3060-9E68-803D-0C81-E55CC6AF59A6}"/>
              </a:ext>
            </a:extLst>
          </p:cNvPr>
          <p:cNvSpPr/>
          <p:nvPr/>
        </p:nvSpPr>
        <p:spPr>
          <a:xfrm>
            <a:off x="10285205" y="3635419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E9DDE351-D8B9-DB53-FA4E-D65F0E5FF761}"/>
              </a:ext>
            </a:extLst>
          </p:cNvPr>
          <p:cNvSpPr/>
          <p:nvPr/>
        </p:nvSpPr>
        <p:spPr>
          <a:xfrm>
            <a:off x="10306078" y="4594679"/>
            <a:ext cx="268336" cy="268336"/>
          </a:xfrm>
          <a:prstGeom prst="ellipse">
            <a:avLst/>
          </a:prstGeom>
          <a:solidFill>
            <a:srgbClr val="FFFF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7564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E54DE4C-7A4F-EB50-39EB-3779BF1A05F2}"/>
              </a:ext>
            </a:extLst>
          </p:cNvPr>
          <p:cNvSpPr/>
          <p:nvPr/>
        </p:nvSpPr>
        <p:spPr>
          <a:xfrm>
            <a:off x="1494503" y="2032205"/>
            <a:ext cx="1474839" cy="8455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A997479-22B7-6DEC-9879-6786FFCBFB78}"/>
              </a:ext>
            </a:extLst>
          </p:cNvPr>
          <p:cNvSpPr txBox="1"/>
          <p:nvPr/>
        </p:nvSpPr>
        <p:spPr>
          <a:xfrm>
            <a:off x="1595748" y="2305350"/>
            <a:ext cx="1335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AstronoLab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761F7B68-F7C6-33C6-22E6-581F995B861C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931242" y="2490016"/>
            <a:ext cx="13735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B1BF237F-EDB4-F156-EAC9-52FAD069B761}"/>
              </a:ext>
            </a:extLst>
          </p:cNvPr>
          <p:cNvSpPr txBox="1"/>
          <p:nvPr/>
        </p:nvSpPr>
        <p:spPr>
          <a:xfrm>
            <a:off x="4228635" y="194637"/>
            <a:ext cx="6096000" cy="666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700" dirty="0"/>
              <a:t>{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SchemaVersion</a:t>
            </a:r>
            <a:r>
              <a:rPr lang="de-DE" sz="700" dirty="0"/>
              <a:t>": "1.0",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ScenarioID</a:t>
            </a:r>
            <a:r>
              <a:rPr lang="de-DE" sz="700" dirty="0"/>
              <a:t>": "HELIO-TDB-2443872.704-2443874.704-1H",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CatalogNumber</a:t>
            </a:r>
            <a:r>
              <a:rPr lang="de-DE" sz="700" dirty="0"/>
              <a:t>": "AS-000003",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CoreHash</a:t>
            </a:r>
            <a:r>
              <a:rPr lang="de-DE" sz="700" dirty="0"/>
              <a:t>": "6A62F226",</a:t>
            </a:r>
          </a:p>
          <a:p>
            <a:endParaRPr lang="de-DE" sz="700" dirty="0"/>
          </a:p>
          <a:p>
            <a:r>
              <a:rPr lang="de-DE" sz="700" dirty="0"/>
              <a:t> "Core": {</a:t>
            </a:r>
          </a:p>
          <a:p>
            <a:r>
              <a:rPr lang="de-DE" sz="700" dirty="0"/>
              <a:t>    "Time": {</a:t>
            </a:r>
          </a:p>
          <a:p>
            <a:r>
              <a:rPr lang="de-DE" sz="700" dirty="0"/>
              <a:t>      "</a:t>
            </a:r>
            <a:r>
              <a:rPr lang="de-DE" sz="700" dirty="0" err="1"/>
              <a:t>StartJD</a:t>
            </a:r>
            <a:r>
              <a:rPr lang="de-DE" sz="700" dirty="0"/>
              <a:t>": 2443872.7039999999,</a:t>
            </a:r>
          </a:p>
          <a:p>
            <a:r>
              <a:rPr lang="de-DE" sz="700" dirty="0"/>
              <a:t>      "</a:t>
            </a:r>
            <a:r>
              <a:rPr lang="de-DE" sz="700" dirty="0" err="1"/>
              <a:t>StopJD</a:t>
            </a:r>
            <a:r>
              <a:rPr lang="de-DE" sz="700" dirty="0"/>
              <a:t>": 2443874.7039999999,</a:t>
            </a:r>
          </a:p>
          <a:p>
            <a:r>
              <a:rPr lang="de-DE" sz="700" dirty="0"/>
              <a:t>      "</a:t>
            </a:r>
            <a:r>
              <a:rPr lang="de-DE" sz="700" dirty="0" err="1"/>
              <a:t>StepDays</a:t>
            </a:r>
            <a:r>
              <a:rPr lang="de-DE" sz="700" dirty="0"/>
              <a:t>": "1H",</a:t>
            </a:r>
          </a:p>
          <a:p>
            <a:r>
              <a:rPr lang="de-DE" sz="700" dirty="0"/>
              <a:t>      "</a:t>
            </a:r>
            <a:r>
              <a:rPr lang="de-DE" sz="700" dirty="0" err="1"/>
              <a:t>TimeScale</a:t>
            </a:r>
            <a:r>
              <a:rPr lang="de-DE" sz="700" dirty="0"/>
              <a:t>": "TDB"</a:t>
            </a:r>
          </a:p>
          <a:p>
            <a:r>
              <a:rPr lang="de-DE" sz="700" dirty="0"/>
              <a:t>    },</a:t>
            </a:r>
          </a:p>
          <a:p>
            <a:r>
              <a:rPr lang="de-DE" sz="700" dirty="0"/>
              <a:t>    "Observer": {</a:t>
            </a:r>
          </a:p>
          <a:p>
            <a:r>
              <a:rPr lang="de-DE" sz="700" dirty="0"/>
              <a:t>      "Type": "</a:t>
            </a:r>
            <a:r>
              <a:rPr lang="de-DE" sz="700" dirty="0" err="1"/>
              <a:t>Heliocentric</a:t>
            </a:r>
            <a:r>
              <a:rPr lang="de-DE" sz="700" dirty="0"/>
              <a:t>",</a:t>
            </a:r>
          </a:p>
          <a:p>
            <a:r>
              <a:rPr lang="de-DE" sz="700" dirty="0"/>
              <a:t>      "Body": "Sun",</a:t>
            </a:r>
          </a:p>
          <a:p>
            <a:r>
              <a:rPr lang="de-DE" sz="700" dirty="0"/>
              <a:t>      "Location": {</a:t>
            </a:r>
          </a:p>
          <a:p>
            <a:r>
              <a:rPr lang="de-DE" sz="700" dirty="0"/>
              <a:t>        "Lat": 0.000000,</a:t>
            </a:r>
          </a:p>
          <a:p>
            <a:r>
              <a:rPr lang="de-DE" sz="700" dirty="0"/>
              <a:t>        "Lon": 0.000000,</a:t>
            </a:r>
          </a:p>
          <a:p>
            <a:r>
              <a:rPr lang="de-DE" sz="700" dirty="0"/>
              <a:t>        "Elevation": 0.000000,</a:t>
            </a:r>
          </a:p>
          <a:p>
            <a:r>
              <a:rPr lang="de-DE" sz="700" dirty="0"/>
              <a:t>        "</a:t>
            </a:r>
            <a:r>
              <a:rPr lang="de-DE" sz="700" dirty="0" err="1"/>
              <a:t>SiteName</a:t>
            </a:r>
            <a:r>
              <a:rPr lang="de-DE" sz="700" dirty="0"/>
              <a:t>": "</a:t>
            </a:r>
            <a:r>
              <a:rPr lang="de-DE" sz="700" dirty="0" err="1"/>
              <a:t>CenterOfObservingBody</a:t>
            </a:r>
            <a:r>
              <a:rPr lang="de-DE" sz="700" dirty="0"/>
              <a:t>"</a:t>
            </a:r>
          </a:p>
          <a:p>
            <a:r>
              <a:rPr lang="de-DE" sz="700" dirty="0"/>
              <a:t>      }</a:t>
            </a:r>
          </a:p>
          <a:p>
            <a:r>
              <a:rPr lang="de-DE" sz="700" dirty="0"/>
              <a:t>    },</a:t>
            </a:r>
          </a:p>
          <a:p>
            <a:r>
              <a:rPr lang="de-DE" sz="700" dirty="0"/>
              <a:t>    "Targets": [</a:t>
            </a:r>
          </a:p>
          <a:p>
            <a:r>
              <a:rPr lang="de-DE" sz="700" dirty="0"/>
              <a:t>      "Venus"</a:t>
            </a:r>
          </a:p>
          <a:p>
            <a:r>
              <a:rPr lang="de-DE" sz="700" dirty="0"/>
              <a:t>    ],</a:t>
            </a:r>
          </a:p>
          <a:p>
            <a:r>
              <a:rPr lang="de-DE" sz="700" dirty="0"/>
              <a:t>    "Frame": {</a:t>
            </a:r>
          </a:p>
          <a:p>
            <a:r>
              <a:rPr lang="de-DE" sz="700" dirty="0"/>
              <a:t>      "Type": "</a:t>
            </a:r>
            <a:r>
              <a:rPr lang="de-DE" sz="700" dirty="0" err="1"/>
              <a:t>HelioEcliptic</a:t>
            </a:r>
            <a:r>
              <a:rPr lang="de-DE" sz="700" dirty="0"/>
              <a:t>",</a:t>
            </a:r>
          </a:p>
          <a:p>
            <a:r>
              <a:rPr lang="de-DE" sz="700" dirty="0"/>
              <a:t>      "</a:t>
            </a:r>
            <a:r>
              <a:rPr lang="de-DE" sz="700" dirty="0" err="1"/>
              <a:t>Epoch</a:t>
            </a:r>
            <a:r>
              <a:rPr lang="de-DE" sz="700" dirty="0"/>
              <a:t>": "J2000"</a:t>
            </a:r>
          </a:p>
          <a:p>
            <a:r>
              <a:rPr lang="de-DE" sz="700" dirty="0"/>
              <a:t>    },</a:t>
            </a:r>
          </a:p>
          <a:p>
            <a:r>
              <a:rPr lang="de-DE" sz="700" dirty="0"/>
              <a:t>    "</a:t>
            </a:r>
            <a:r>
              <a:rPr lang="de-DE" sz="700" dirty="0" err="1"/>
              <a:t>Corrections</a:t>
            </a:r>
            <a:r>
              <a:rPr lang="de-DE" sz="700" dirty="0"/>
              <a:t>": {</a:t>
            </a:r>
          </a:p>
          <a:p>
            <a:r>
              <a:rPr lang="de-DE" sz="700" dirty="0"/>
              <a:t>      "</a:t>
            </a:r>
            <a:r>
              <a:rPr lang="de-DE" sz="700" dirty="0" err="1"/>
              <a:t>LightTime</a:t>
            </a:r>
            <a:r>
              <a:rPr lang="de-DE" sz="700" dirty="0"/>
              <a:t>": </a:t>
            </a:r>
            <a:r>
              <a:rPr lang="de-DE" sz="700" dirty="0" err="1"/>
              <a:t>false</a:t>
            </a:r>
            <a:r>
              <a:rPr lang="de-DE" sz="700" dirty="0"/>
              <a:t>,</a:t>
            </a:r>
          </a:p>
          <a:p>
            <a:r>
              <a:rPr lang="de-DE" sz="700" dirty="0"/>
              <a:t>      "Aberration": </a:t>
            </a:r>
            <a:r>
              <a:rPr lang="de-DE" sz="700" dirty="0" err="1"/>
              <a:t>false</a:t>
            </a:r>
            <a:r>
              <a:rPr lang="de-DE" sz="700" dirty="0"/>
              <a:t>,</a:t>
            </a:r>
          </a:p>
          <a:p>
            <a:r>
              <a:rPr lang="de-DE" sz="700" dirty="0"/>
              <a:t>      "</a:t>
            </a:r>
            <a:r>
              <a:rPr lang="de-DE" sz="700" dirty="0" err="1"/>
              <a:t>Precession</a:t>
            </a:r>
            <a:r>
              <a:rPr lang="de-DE" sz="700" dirty="0"/>
              <a:t>": </a:t>
            </a:r>
            <a:r>
              <a:rPr lang="de-DE" sz="700" dirty="0" err="1"/>
              <a:t>false</a:t>
            </a:r>
            <a:r>
              <a:rPr lang="de-DE" sz="700" dirty="0"/>
              <a:t>,</a:t>
            </a:r>
          </a:p>
          <a:p>
            <a:r>
              <a:rPr lang="de-DE" sz="700" dirty="0"/>
              <a:t>      "Nutation": </a:t>
            </a:r>
            <a:r>
              <a:rPr lang="de-DE" sz="700" dirty="0" err="1"/>
              <a:t>false</a:t>
            </a:r>
            <a:endParaRPr lang="de-DE" sz="700" dirty="0"/>
          </a:p>
          <a:p>
            <a:r>
              <a:rPr lang="de-DE" sz="700" dirty="0"/>
              <a:t>    }</a:t>
            </a:r>
          </a:p>
          <a:p>
            <a:r>
              <a:rPr lang="de-DE" sz="700" dirty="0"/>
              <a:t>  },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Author</a:t>
            </a:r>
            <a:r>
              <a:rPr lang="de-DE" sz="700" dirty="0"/>
              <a:t>": "Marcus Hiemer",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Extensions</a:t>
            </a:r>
            <a:r>
              <a:rPr lang="de-DE" sz="700" dirty="0"/>
              <a:t>": "</a:t>
            </a:r>
            <a:r>
              <a:rPr lang="de-DE" sz="700" dirty="0" err="1"/>
              <a:t>based</a:t>
            </a:r>
            <a:r>
              <a:rPr lang="de-DE" sz="700" dirty="0"/>
              <a:t> on </a:t>
            </a:r>
            <a:r>
              <a:rPr lang="de-DE" sz="700" dirty="0" err="1"/>
              <a:t>book</a:t>
            </a:r>
            <a:r>
              <a:rPr lang="de-DE" sz="700" dirty="0"/>
              <a:t> </a:t>
            </a:r>
            <a:r>
              <a:rPr lang="de-DE" sz="700" dirty="0" err="1"/>
              <a:t>of</a:t>
            </a:r>
            <a:r>
              <a:rPr lang="de-DE" sz="700" dirty="0"/>
              <a:t> Jean </a:t>
            </a:r>
            <a:r>
              <a:rPr lang="de-DE" sz="700" dirty="0" err="1"/>
              <a:t>Meeus</a:t>
            </a:r>
            <a:r>
              <a:rPr lang="de-DE" sz="700" dirty="0"/>
              <a:t>, </a:t>
            </a:r>
            <a:r>
              <a:rPr lang="de-DE" sz="700" dirty="0" err="1"/>
              <a:t>see</a:t>
            </a:r>
            <a:r>
              <a:rPr lang="de-DE" sz="700" dirty="0"/>
              <a:t> </a:t>
            </a:r>
            <a:r>
              <a:rPr lang="de-DE" sz="700" dirty="0" err="1"/>
              <a:t>citation</a:t>
            </a:r>
            <a:r>
              <a:rPr lang="de-DE" sz="700" dirty="0"/>
              <a:t> </a:t>
            </a:r>
            <a:r>
              <a:rPr lang="de-DE" sz="700" dirty="0" err="1"/>
              <a:t>below</a:t>
            </a:r>
            <a:r>
              <a:rPr lang="de-DE" sz="700" dirty="0"/>
              <a:t>",</a:t>
            </a:r>
          </a:p>
          <a:p>
            <a:r>
              <a:rPr lang="de-DE" sz="700" dirty="0"/>
              <a:t>  "Status": {</a:t>
            </a:r>
          </a:p>
          <a:p>
            <a:r>
              <a:rPr lang="de-DE" sz="700" dirty="0"/>
              <a:t>    "</a:t>
            </a:r>
            <a:r>
              <a:rPr lang="de-DE" sz="700" dirty="0" err="1"/>
              <a:t>maturity</a:t>
            </a:r>
            <a:r>
              <a:rPr lang="de-DE" sz="700" dirty="0"/>
              <a:t>": "</a:t>
            </a:r>
            <a:r>
              <a:rPr lang="de-DE" sz="700" dirty="0" err="1"/>
              <a:t>released</a:t>
            </a:r>
            <a:r>
              <a:rPr lang="de-DE" sz="700" dirty="0"/>
              <a:t>",</a:t>
            </a:r>
          </a:p>
          <a:p>
            <a:r>
              <a:rPr lang="de-DE" sz="700" dirty="0"/>
              <a:t>    "</a:t>
            </a:r>
            <a:r>
              <a:rPr lang="de-DE" sz="700" dirty="0" err="1"/>
              <a:t>visibility</a:t>
            </a:r>
            <a:r>
              <a:rPr lang="de-DE" sz="700" dirty="0"/>
              <a:t>": "private"</a:t>
            </a:r>
          </a:p>
          <a:p>
            <a:r>
              <a:rPr lang="de-DE" sz="700" dirty="0"/>
              <a:t>  },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ScenarioType</a:t>
            </a:r>
            <a:r>
              <a:rPr lang="de-DE" sz="700" dirty="0"/>
              <a:t>": "</a:t>
            </a:r>
            <a:r>
              <a:rPr lang="de-DE" sz="700" dirty="0" err="1"/>
              <a:t>NumericalEdgeCase</a:t>
            </a:r>
            <a:r>
              <a:rPr lang="de-DE" sz="700" dirty="0"/>
              <a:t>",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ScenarioCategory</a:t>
            </a:r>
            <a:r>
              <a:rPr lang="de-DE" sz="700" dirty="0"/>
              <a:t>": "</a:t>
            </a:r>
            <a:r>
              <a:rPr lang="de-DE" sz="700" dirty="0" err="1"/>
              <a:t>Perihelion</a:t>
            </a:r>
            <a:r>
              <a:rPr lang="de-DE" sz="700" dirty="0"/>
              <a:t>",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EventComment</a:t>
            </a:r>
            <a:r>
              <a:rPr lang="de-DE" sz="700" dirty="0"/>
              <a:t>": "d/</a:t>
            </a:r>
            <a:r>
              <a:rPr lang="de-DE" sz="700" dirty="0" err="1"/>
              <a:t>dt</a:t>
            </a:r>
            <a:r>
              <a:rPr lang="de-DE" sz="700" dirty="0"/>
              <a:t> Delta R </a:t>
            </a:r>
            <a:r>
              <a:rPr lang="de-DE" sz="700" dirty="0" err="1"/>
              <a:t>has</a:t>
            </a:r>
            <a:r>
              <a:rPr lang="de-DE" sz="700" dirty="0"/>
              <a:t> </a:t>
            </a:r>
            <a:r>
              <a:rPr lang="de-DE" sz="700" dirty="0" err="1"/>
              <a:t>zero</a:t>
            </a:r>
            <a:r>
              <a:rPr lang="de-DE" sz="700" dirty="0"/>
              <a:t> </a:t>
            </a:r>
            <a:r>
              <a:rPr lang="de-DE" sz="700" dirty="0" err="1"/>
              <a:t>crossing</a:t>
            </a:r>
            <a:r>
              <a:rPr lang="de-DE" sz="700" dirty="0"/>
              <a:t> in </a:t>
            </a:r>
            <a:r>
              <a:rPr lang="de-DE" sz="700" dirty="0" err="1"/>
              <a:t>Heliocentric</a:t>
            </a:r>
            <a:r>
              <a:rPr lang="de-DE" sz="700" dirty="0"/>
              <a:t> </a:t>
            </a:r>
            <a:r>
              <a:rPr lang="de-DE" sz="700" dirty="0" err="1"/>
              <a:t>Coordinates</a:t>
            </a:r>
            <a:r>
              <a:rPr lang="de-DE" sz="700" dirty="0"/>
              <a:t>",</a:t>
            </a:r>
          </a:p>
          <a:p>
            <a:r>
              <a:rPr lang="de-DE" sz="700" dirty="0"/>
              <a:t>  "Description": null,</a:t>
            </a:r>
          </a:p>
          <a:p>
            <a:r>
              <a:rPr lang="de-DE" sz="700" dirty="0"/>
              <a:t>  "Rationale": {</a:t>
            </a:r>
          </a:p>
          <a:p>
            <a:r>
              <a:rPr lang="de-DE" sz="700" dirty="0"/>
              <a:t>    "</a:t>
            </a:r>
            <a:r>
              <a:rPr lang="de-DE" sz="700" dirty="0" err="1"/>
              <a:t>Phenomenon</a:t>
            </a:r>
            <a:r>
              <a:rPr lang="de-DE" sz="700" dirty="0"/>
              <a:t>": "</a:t>
            </a:r>
            <a:r>
              <a:rPr lang="de-DE" sz="700" dirty="0" err="1"/>
              <a:t>special</a:t>
            </a:r>
            <a:r>
              <a:rPr lang="de-DE" sz="700" dirty="0"/>
              <a:t> planet </a:t>
            </a:r>
            <a:r>
              <a:rPr lang="de-DE" sz="700" dirty="0" err="1"/>
              <a:t>constellation</a:t>
            </a:r>
            <a:r>
              <a:rPr lang="de-DE" sz="700" dirty="0"/>
              <a:t>: </a:t>
            </a:r>
            <a:r>
              <a:rPr lang="de-DE" sz="700" dirty="0" err="1"/>
              <a:t>minimum</a:t>
            </a:r>
            <a:r>
              <a:rPr lang="de-DE" sz="700" dirty="0"/>
              <a:t> </a:t>
            </a:r>
            <a:r>
              <a:rPr lang="de-DE" sz="700" dirty="0" err="1"/>
              <a:t>distance</a:t>
            </a:r>
            <a:r>
              <a:rPr lang="de-DE" sz="700" dirty="0"/>
              <a:t> planet - </a:t>
            </a:r>
            <a:r>
              <a:rPr lang="de-DE" sz="700" dirty="0" err="1"/>
              <a:t>sun</a:t>
            </a:r>
            <a:r>
              <a:rPr lang="de-DE" sz="700" dirty="0"/>
              <a:t>",</a:t>
            </a:r>
          </a:p>
          <a:p>
            <a:r>
              <a:rPr lang="de-DE" sz="700" dirty="0"/>
              <a:t>    "</a:t>
            </a:r>
            <a:r>
              <a:rPr lang="de-DE" sz="700" dirty="0" err="1"/>
              <a:t>NumericalRisk</a:t>
            </a:r>
            <a:r>
              <a:rPr lang="de-DE" sz="700" dirty="0"/>
              <a:t>": "1. </a:t>
            </a:r>
            <a:r>
              <a:rPr lang="de-DE" sz="700" dirty="0" err="1"/>
              <a:t>Sign</a:t>
            </a:r>
            <a:r>
              <a:rPr lang="de-DE" sz="700" dirty="0"/>
              <a:t> Transition Delta R",</a:t>
            </a:r>
          </a:p>
          <a:p>
            <a:r>
              <a:rPr lang="de-DE" sz="700" dirty="0"/>
              <a:t>    "</a:t>
            </a:r>
            <a:r>
              <a:rPr lang="de-DE" sz="700" dirty="0" err="1"/>
              <a:t>Validates</a:t>
            </a:r>
            <a:r>
              <a:rPr lang="de-DE" sz="700" dirty="0"/>
              <a:t>": [</a:t>
            </a:r>
          </a:p>
          <a:p>
            <a:r>
              <a:rPr lang="de-DE" sz="700" dirty="0"/>
              <a:t>      "</a:t>
            </a:r>
            <a:r>
              <a:rPr lang="de-DE" sz="700" dirty="0" err="1"/>
              <a:t>DistanceStability</a:t>
            </a:r>
            <a:r>
              <a:rPr lang="de-DE" sz="700" dirty="0"/>
              <a:t>"</a:t>
            </a:r>
          </a:p>
          <a:p>
            <a:r>
              <a:rPr lang="de-DE" sz="700" dirty="0"/>
              <a:t>    ]</a:t>
            </a:r>
          </a:p>
          <a:p>
            <a:r>
              <a:rPr lang="de-DE" sz="700" dirty="0"/>
              <a:t>  },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ScientificPurpose</a:t>
            </a:r>
            <a:r>
              <a:rPr lang="de-DE" sz="700" dirty="0"/>
              <a:t>": "</a:t>
            </a:r>
            <a:r>
              <a:rPr lang="de-DE" sz="700" dirty="0" err="1"/>
              <a:t>basis</a:t>
            </a:r>
            <a:r>
              <a:rPr lang="de-DE" sz="700" dirty="0"/>
              <a:t> </a:t>
            </a:r>
            <a:r>
              <a:rPr lang="de-DE" sz="700" dirty="0" err="1"/>
              <a:t>for</a:t>
            </a:r>
            <a:r>
              <a:rPr lang="de-DE" sz="700" dirty="0"/>
              <a:t> a </a:t>
            </a:r>
            <a:r>
              <a:rPr lang="de-DE" sz="700" dirty="0" err="1"/>
              <a:t>close</a:t>
            </a:r>
            <a:r>
              <a:rPr lang="de-DE" sz="700" dirty="0"/>
              <a:t> </a:t>
            </a:r>
            <a:r>
              <a:rPr lang="de-DE" sz="700" dirty="0" err="1"/>
              <a:t>opposition</a:t>
            </a:r>
            <a:r>
              <a:rPr lang="de-DE" sz="700" dirty="0"/>
              <a:t> </a:t>
            </a:r>
            <a:r>
              <a:rPr lang="de-DE" sz="700" dirty="0" err="1"/>
              <a:t>scenario</a:t>
            </a:r>
            <a:r>
              <a:rPr lang="de-DE" sz="700" dirty="0"/>
              <a:t> </a:t>
            </a:r>
            <a:r>
              <a:rPr lang="de-DE" sz="700" dirty="0" err="1"/>
              <a:t>for</a:t>
            </a:r>
            <a:r>
              <a:rPr lang="de-DE" sz="700" dirty="0"/>
              <a:t> </a:t>
            </a:r>
            <a:r>
              <a:rPr lang="de-DE" sz="700" dirty="0" err="1"/>
              <a:t>outer</a:t>
            </a:r>
            <a:r>
              <a:rPr lang="de-DE" sz="700" dirty="0"/>
              <a:t> </a:t>
            </a:r>
            <a:r>
              <a:rPr lang="de-DE" sz="700" dirty="0" err="1"/>
              <a:t>planets</a:t>
            </a:r>
            <a:r>
              <a:rPr lang="de-DE" sz="700" dirty="0"/>
              <a:t>",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Priority</a:t>
            </a:r>
            <a:r>
              <a:rPr lang="de-DE" sz="700" dirty="0"/>
              <a:t>": "1",</a:t>
            </a:r>
          </a:p>
          <a:p>
            <a:r>
              <a:rPr lang="de-DE" sz="700" dirty="0"/>
              <a:t>  "</a:t>
            </a:r>
            <a:r>
              <a:rPr lang="de-DE" sz="700" dirty="0" err="1"/>
              <a:t>ScenarioCitation</a:t>
            </a:r>
            <a:r>
              <a:rPr lang="de-DE" sz="700" dirty="0"/>
              <a:t>": {</a:t>
            </a:r>
          </a:p>
          <a:p>
            <a:r>
              <a:rPr lang="de-DE" sz="700" dirty="0"/>
              <a:t>    "</a:t>
            </a:r>
            <a:r>
              <a:rPr lang="de-DE" sz="700" dirty="0" err="1"/>
              <a:t>Author</a:t>
            </a:r>
            <a:r>
              <a:rPr lang="de-DE" sz="700" dirty="0"/>
              <a:t>": "Jean </a:t>
            </a:r>
            <a:r>
              <a:rPr lang="de-DE" sz="700" dirty="0" err="1"/>
              <a:t>Meeus</a:t>
            </a:r>
            <a:r>
              <a:rPr lang="de-DE" sz="700" dirty="0"/>
              <a:t>",</a:t>
            </a:r>
          </a:p>
          <a:p>
            <a:r>
              <a:rPr lang="de-DE" sz="700" dirty="0"/>
              <a:t>    "Source": "Book: ISBN (2nd Edition): 978-0943396613",</a:t>
            </a:r>
          </a:p>
          <a:p>
            <a:r>
              <a:rPr lang="de-DE" sz="700" dirty="0"/>
              <a:t>    "</a:t>
            </a:r>
            <a:r>
              <a:rPr lang="de-DE" sz="700" dirty="0" err="1"/>
              <a:t>Citation</a:t>
            </a:r>
            <a:r>
              <a:rPr lang="de-DE" sz="700" dirty="0"/>
              <a:t>": "</a:t>
            </a:r>
            <a:r>
              <a:rPr lang="de-DE" sz="700" dirty="0" err="1"/>
              <a:t>Meeus</a:t>
            </a:r>
            <a:r>
              <a:rPr lang="de-DE" sz="700" dirty="0"/>
              <a:t>, J. (1998). Astronomical </a:t>
            </a:r>
            <a:r>
              <a:rPr lang="de-DE" sz="700" dirty="0" err="1"/>
              <a:t>Algorithms</a:t>
            </a:r>
            <a:r>
              <a:rPr lang="de-DE" sz="700" dirty="0"/>
              <a:t> (2nd ed.). Richmond, VA: Willmann-Bell, Ex. 38a, p. 270"</a:t>
            </a:r>
          </a:p>
          <a:p>
            <a:r>
              <a:rPr lang="de-DE" sz="700" dirty="0"/>
              <a:t>  },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A9567809-88EC-FE4E-333C-8199A920D44C}"/>
              </a:ext>
            </a:extLst>
          </p:cNvPr>
          <p:cNvSpPr/>
          <p:nvPr/>
        </p:nvSpPr>
        <p:spPr>
          <a:xfrm>
            <a:off x="4304835" y="889820"/>
            <a:ext cx="4353390" cy="58729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F2E24203-1143-87E2-3992-5338561C47E3}"/>
              </a:ext>
            </a:extLst>
          </p:cNvPr>
          <p:cNvSpPr/>
          <p:nvPr/>
        </p:nvSpPr>
        <p:spPr>
          <a:xfrm>
            <a:off x="4304835" y="299270"/>
            <a:ext cx="4353390" cy="5619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1F26948-1E66-F1FB-9916-70181C3733CE}"/>
              </a:ext>
            </a:extLst>
          </p:cNvPr>
          <p:cNvSpPr/>
          <p:nvPr/>
        </p:nvSpPr>
        <p:spPr>
          <a:xfrm>
            <a:off x="9438353" y="305108"/>
            <a:ext cx="1474839" cy="4762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DE84121-B3D8-92D8-971A-00BB0C5EE00B}"/>
              </a:ext>
            </a:extLst>
          </p:cNvPr>
          <p:cNvSpPr txBox="1"/>
          <p:nvPr/>
        </p:nvSpPr>
        <p:spPr>
          <a:xfrm>
            <a:off x="9460294" y="329987"/>
            <a:ext cx="145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AstronoCert</a:t>
            </a:r>
            <a:endParaRPr lang="de-DE" dirty="0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9EA6236-F67E-645B-3CDB-6891B69BF52D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8658225" y="514653"/>
            <a:ext cx="802069" cy="65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441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981</Words>
  <Application>Microsoft Office PowerPoint</Application>
  <PresentationFormat>Breitbild</PresentationFormat>
  <Paragraphs>265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Marcus Hiemer</dc:creator>
  <cp:lastModifiedBy>Marcus Hiemer</cp:lastModifiedBy>
  <cp:revision>16</cp:revision>
  <dcterms:created xsi:type="dcterms:W3CDTF">2026-03-29T15:37:58Z</dcterms:created>
  <dcterms:modified xsi:type="dcterms:W3CDTF">2026-04-03T15:56:49Z</dcterms:modified>
</cp:coreProperties>
</file>