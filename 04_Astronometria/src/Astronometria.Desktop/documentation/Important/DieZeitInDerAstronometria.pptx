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4A55A-D8C3-95BD-FBFB-2FCEB4D3E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94B9DA-CC45-A912-F14B-CC8BB1146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37D077-F18E-6567-D0F7-5644BF4D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DE8A0E-F9A9-04E5-F211-6F1562BB3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594DDD-36A5-D414-B2B6-4B0AC14A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284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437E58-7705-E2A9-E02F-AB4BF541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C9A24A-E5AF-AD01-06F1-51A61AAA8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A68422-3BD2-66D2-E9F2-A4BC48251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20E4D2-48D4-2344-F4DF-E108E7C36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DEE3B9-ABEF-9406-4D1F-A3A65F8E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87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E66928-3DDD-6D40-0844-AD2120FE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CE27D1-87F2-C487-D715-3E5EB2252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594945-3B49-763A-EF3F-C58DFBBE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519974-E2F8-9F8B-9A44-2A9497E36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F260B3-761F-15DB-14C7-C6F5A2C4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9291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DA816-B4A7-74BD-EBE3-8A70A276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7F32B1-5F1E-918A-632F-978E5344B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A472FD-1EF5-ABE5-CFF2-942E48326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17B38C-F5D1-4E86-8089-82F00BC74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26A5A0-B0A1-E2F8-4143-EA786710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B9B430-1945-2B5F-4446-65E5BF86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90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CA35CF-0403-C724-1AD7-212EB8DE7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53EEE-710C-E469-61CE-BFC1BD4ED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ADE455-9AE9-90F1-0F45-59EC06E8F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6AE5EEC-A7FE-915F-C798-C965FD80B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AC2792-CDDC-B69F-B70C-C11C9FFD9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7A3D93C-0EE3-3928-64BE-CD68FA99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140329E-413F-EB5A-04DA-0C663C31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D44234D-B6B7-054B-7B1D-03EEC1D4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197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00A10-CEC9-E0DA-A9A5-32F82398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1B1985-20D8-2620-87F8-7E2E0B99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868C85-CD59-B36D-EA54-003EA9BE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66B714-0342-24FE-4AA7-6BC28409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4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5B29396-ADF7-F334-9143-9A0C3F70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2721A0-D106-5986-9325-589B09E1B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F39575-225E-58E7-B613-FAFB2518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0707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1AB3F-D8A7-D290-DCAB-8730A74A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8010D3-2275-BF9B-30A0-35DDAECDE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AD0D584-30BE-31B4-91B8-94578B603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251C8-DC22-74AC-8BD8-0EB401D40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ED0FD4-F8AF-6099-DF8A-1D008BF77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207ED4-D1D1-865C-B988-29FF1124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66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3F75D-BC2B-3979-29D8-97ABB6E27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B99962E-C6DD-E953-869D-FAB049515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DC2D727-8F24-2E3C-2FC8-835D1973E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E23338-3947-C906-5DD8-68F1475E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8AC6BE-FE4C-8399-AD97-387102F3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BCA441-4ED7-D020-EF52-E91A7701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320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551EA-556C-9A7A-C120-B8C2A6651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FEAE27-2FE5-5408-CB2F-6BBB88627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D9D550-941A-7430-56AC-2041AAD84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7DF526-0C66-F3C7-486C-A2BBF14A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BA76A1-0C65-A38C-3F09-8F92ADCA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23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F8315D8-618B-0430-3676-CA54B52DB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8F74BE-FE31-EE08-DFE6-C347C865C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4AF987-C414-30FD-D8C0-579A25C25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AFF6D8-1E54-7DE1-970F-72E04E80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83AC1E-7830-A598-0560-9A9AD7379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856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8C74D-343F-AD19-746D-23E43BE15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E75BE0-2612-7C91-E332-E3000ED1C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AA0505-E4AC-970A-B380-0057AAB7B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BD27A-C055-46E4-BBF0-C588A7E32E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F50D8A-6B0D-8E14-D584-BFB5B57FF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3F07DF-6280-3375-748D-3BB88EA80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109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DC6FE6-3EE1-02CD-CC63-2F4B16973F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Die  Zeit in der </a:t>
            </a:r>
            <a:r>
              <a:rPr lang="de-DE" dirty="0" err="1"/>
              <a:t>Astronometria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CE8041-8142-E4EB-03D7-3EB8AB50F6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UTC, TT, TBC</a:t>
            </a:r>
          </a:p>
        </p:txBody>
      </p:sp>
    </p:spTree>
    <p:extLst>
      <p:ext uri="{BB962C8B-B14F-4D97-AF65-F5344CB8AC3E}">
        <p14:creationId xmlns:p14="http://schemas.microsoft.com/office/powerpoint/2010/main" val="2835979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hteck 87">
            <a:extLst>
              <a:ext uri="{FF2B5EF4-FFF2-40B4-BE49-F238E27FC236}">
                <a16:creationId xmlns:a16="http://schemas.microsoft.com/office/drawing/2014/main" id="{935FAE98-6794-B962-2D81-C0075A9E7296}"/>
              </a:ext>
            </a:extLst>
          </p:cNvPr>
          <p:cNvSpPr/>
          <p:nvPr/>
        </p:nvSpPr>
        <p:spPr>
          <a:xfrm>
            <a:off x="2605549" y="2470374"/>
            <a:ext cx="6934692" cy="27712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8A7AC85-0FB2-EA6B-AD59-C80B571B2ADD}"/>
              </a:ext>
            </a:extLst>
          </p:cNvPr>
          <p:cNvSpPr/>
          <p:nvPr/>
        </p:nvSpPr>
        <p:spPr>
          <a:xfrm>
            <a:off x="4454012" y="381000"/>
            <a:ext cx="700056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0355653B-D828-63F6-EDDA-34D171455FC1}"/>
              </a:ext>
            </a:extLst>
          </p:cNvPr>
          <p:cNvSpPr/>
          <p:nvPr/>
        </p:nvSpPr>
        <p:spPr>
          <a:xfrm rot="5400000">
            <a:off x="8054798" y="3156127"/>
            <a:ext cx="620655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B79CFBA-E821-2C07-3465-2E946D677DDC}"/>
              </a:ext>
            </a:extLst>
          </p:cNvPr>
          <p:cNvSpPr/>
          <p:nvPr/>
        </p:nvSpPr>
        <p:spPr>
          <a:xfrm>
            <a:off x="5021006" y="174791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4567D6F-7051-326F-EED5-35006FE64CD2}"/>
              </a:ext>
            </a:extLst>
          </p:cNvPr>
          <p:cNvSpPr txBox="1"/>
          <p:nvPr/>
        </p:nvSpPr>
        <p:spPr>
          <a:xfrm>
            <a:off x="5256690" y="1872838"/>
            <a:ext cx="164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Data Layer (Parser)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1D2291C-B7BD-E26E-DF77-E2ADE6B1D5B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060910" y="2009544"/>
            <a:ext cx="2960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0B69940-85C7-04A5-E29A-96B9272CCABE}"/>
              </a:ext>
            </a:extLst>
          </p:cNvPr>
          <p:cNvCxnSpPr>
            <a:cxnSpLocks/>
          </p:cNvCxnSpPr>
          <p:nvPr/>
        </p:nvCxnSpPr>
        <p:spPr>
          <a:xfrm>
            <a:off x="5358290" y="1037304"/>
            <a:ext cx="0" cy="71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9DD84C6C-836B-9144-D85D-D845CE58C40E}"/>
              </a:ext>
            </a:extLst>
          </p:cNvPr>
          <p:cNvSpPr txBox="1"/>
          <p:nvPr/>
        </p:nvSpPr>
        <p:spPr>
          <a:xfrm>
            <a:off x="4822726" y="511950"/>
            <a:ext cx="4750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 / CLI: Input Data – </a:t>
            </a:r>
            <a:r>
              <a:rPr lang="de-DE" sz="1400" i="1" dirty="0"/>
              <a:t>Time </a:t>
            </a:r>
            <a:r>
              <a:rPr lang="de-DE" sz="1400" i="1" dirty="0" err="1"/>
              <a:t>from</a:t>
            </a:r>
            <a:r>
              <a:rPr lang="de-DE" sz="1400" i="1" dirty="0"/>
              <a:t> </a:t>
            </a:r>
            <a:r>
              <a:rPr lang="de-DE" sz="1400" i="1" dirty="0" err="1"/>
              <a:t>To</a:t>
            </a:r>
            <a:r>
              <a:rPr lang="de-DE" sz="1400" i="1" dirty="0"/>
              <a:t>, Observation Point, etc.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6584B9D-564E-D72D-66CC-0FFFB2428FD6}"/>
              </a:ext>
            </a:extLst>
          </p:cNvPr>
          <p:cNvSpPr/>
          <p:nvPr/>
        </p:nvSpPr>
        <p:spPr>
          <a:xfrm>
            <a:off x="5021006" y="278145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C21E7E6-D441-6B5B-DE7B-5A110CF9936D}"/>
              </a:ext>
            </a:extLst>
          </p:cNvPr>
          <p:cNvSpPr/>
          <p:nvPr/>
        </p:nvSpPr>
        <p:spPr>
          <a:xfrm>
            <a:off x="5021006" y="357746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3D78747-59F8-09B6-149E-8E2DE93A3247}"/>
              </a:ext>
            </a:extLst>
          </p:cNvPr>
          <p:cNvSpPr/>
          <p:nvPr/>
        </p:nvSpPr>
        <p:spPr>
          <a:xfrm>
            <a:off x="5013268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C580043-B45A-570B-D9ED-2196D1832C52}"/>
              </a:ext>
            </a:extLst>
          </p:cNvPr>
          <p:cNvSpPr/>
          <p:nvPr/>
        </p:nvSpPr>
        <p:spPr>
          <a:xfrm>
            <a:off x="7449472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E799E31-B1C9-0617-27D2-3346FC62F133}"/>
              </a:ext>
            </a:extLst>
          </p:cNvPr>
          <p:cNvSpPr/>
          <p:nvPr/>
        </p:nvSpPr>
        <p:spPr>
          <a:xfrm>
            <a:off x="2690633" y="4608519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D997A11-F591-5DB0-A6ED-A07C8CCCD3C1}"/>
              </a:ext>
            </a:extLst>
          </p:cNvPr>
          <p:cNvSpPr txBox="1"/>
          <p:nvPr/>
        </p:nvSpPr>
        <p:spPr>
          <a:xfrm>
            <a:off x="3053716" y="4697889"/>
            <a:ext cx="1164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Report Layer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1F5EDE2B-4868-3463-39AE-C8A895423B88}"/>
              </a:ext>
            </a:extLst>
          </p:cNvPr>
          <p:cNvCxnSpPr>
            <a:cxnSpLocks/>
          </p:cNvCxnSpPr>
          <p:nvPr/>
        </p:nvCxnSpPr>
        <p:spPr>
          <a:xfrm flipH="1">
            <a:off x="4332092" y="4342588"/>
            <a:ext cx="3" cy="264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65278C78-47C2-4028-1BB0-47BBECB82F35}"/>
              </a:ext>
            </a:extLst>
          </p:cNvPr>
          <p:cNvCxnSpPr>
            <a:cxnSpLocks/>
          </p:cNvCxnSpPr>
          <p:nvPr/>
        </p:nvCxnSpPr>
        <p:spPr>
          <a:xfrm>
            <a:off x="7795240" y="4342588"/>
            <a:ext cx="0" cy="272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26009BB2-2056-5BA9-B76D-EB6D2271A4B3}"/>
              </a:ext>
            </a:extLst>
          </p:cNvPr>
          <p:cNvCxnSpPr/>
          <p:nvPr/>
        </p:nvCxnSpPr>
        <p:spPr>
          <a:xfrm>
            <a:off x="4332092" y="4342588"/>
            <a:ext cx="3463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3F2F823-16E4-4031-6D92-C5C739B82335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3695720" y="5131778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E8674B05-ADD4-633F-978F-1465923F2F3F}"/>
              </a:ext>
            </a:extLst>
          </p:cNvPr>
          <p:cNvSpPr/>
          <p:nvPr/>
        </p:nvSpPr>
        <p:spPr>
          <a:xfrm>
            <a:off x="3175636" y="5906917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C2854A37-B315-2E40-094B-E8EE9BA315AD}"/>
              </a:ext>
            </a:extLst>
          </p:cNvPr>
          <p:cNvSpPr/>
          <p:nvPr/>
        </p:nvSpPr>
        <p:spPr>
          <a:xfrm>
            <a:off x="3082205" y="599287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AE8DA76D-5758-A831-C920-A062BE02E5EF}"/>
              </a:ext>
            </a:extLst>
          </p:cNvPr>
          <p:cNvSpPr/>
          <p:nvPr/>
        </p:nvSpPr>
        <p:spPr>
          <a:xfrm>
            <a:off x="2988773" y="608224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E784850E-52D4-A57D-8718-8FB293FEB3FF}"/>
              </a:ext>
            </a:extLst>
          </p:cNvPr>
          <p:cNvCxnSpPr>
            <a:cxnSpLocks/>
            <a:stCxn id="25" idx="1"/>
            <a:endCxn id="30" idx="3"/>
          </p:cNvCxnSpPr>
          <p:nvPr/>
        </p:nvCxnSpPr>
        <p:spPr>
          <a:xfrm flipH="1">
            <a:off x="4700806" y="4868260"/>
            <a:ext cx="312462" cy="188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C1440680-AD23-62B3-A059-B52750C217F1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7023441" y="4868260"/>
            <a:ext cx="42603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7CB0CD82-785D-36B2-A856-5B2717705871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8454559" y="5129889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3531C7E8-C397-337F-9398-AEBAD30E8716}"/>
              </a:ext>
            </a:extLst>
          </p:cNvPr>
          <p:cNvSpPr/>
          <p:nvPr/>
        </p:nvSpPr>
        <p:spPr>
          <a:xfrm>
            <a:off x="7571392" y="5931254"/>
            <a:ext cx="388318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FE706C-CCF6-AD33-DB2A-AA5FE590725D}"/>
              </a:ext>
            </a:extLst>
          </p:cNvPr>
          <p:cNvSpPr txBox="1"/>
          <p:nvPr/>
        </p:nvSpPr>
        <p:spPr>
          <a:xfrm>
            <a:off x="5388101" y="3685200"/>
            <a:ext cx="1019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Core Layer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3F3A8DD-1CA0-4D2D-18F4-0AB558A0C92A}"/>
              </a:ext>
            </a:extLst>
          </p:cNvPr>
          <p:cNvSpPr txBox="1"/>
          <p:nvPr/>
        </p:nvSpPr>
        <p:spPr>
          <a:xfrm>
            <a:off x="5192627" y="2872418"/>
            <a:ext cx="1670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/>
              <a:t>Ephemerides</a:t>
            </a:r>
            <a:r>
              <a:rPr lang="de-DE" sz="1400" dirty="0"/>
              <a:t> Layer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CB498B1-4AC2-D235-143D-BA40E347DBF9}"/>
              </a:ext>
            </a:extLst>
          </p:cNvPr>
          <p:cNvSpPr txBox="1"/>
          <p:nvPr/>
        </p:nvSpPr>
        <p:spPr>
          <a:xfrm>
            <a:off x="5276676" y="4697889"/>
            <a:ext cx="1483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Simulation Layer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338CE7FB-F4A8-BE04-22A9-0DAC8531019C}"/>
              </a:ext>
            </a:extLst>
          </p:cNvPr>
          <p:cNvCxnSpPr>
            <a:cxnSpLocks/>
            <a:stCxn id="3" idx="2"/>
            <a:endCxn id="23" idx="0"/>
          </p:cNvCxnSpPr>
          <p:nvPr/>
        </p:nvCxnSpPr>
        <p:spPr>
          <a:xfrm>
            <a:off x="6026093" y="2271173"/>
            <a:ext cx="0" cy="510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F8960BA-C47A-4A09-2375-52B20579FBA8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6026093" y="3304713"/>
            <a:ext cx="0" cy="272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9AE94F41-225B-DDE8-D749-057B723C2688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6018355" y="4100719"/>
            <a:ext cx="7738" cy="50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F6AD2147-10E0-BD5D-D2CB-FE830588742B}"/>
              </a:ext>
            </a:extLst>
          </p:cNvPr>
          <p:cNvSpPr txBox="1"/>
          <p:nvPr/>
        </p:nvSpPr>
        <p:spPr>
          <a:xfrm>
            <a:off x="7712880" y="4697889"/>
            <a:ext cx="1434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/>
              <a:t>Projection</a:t>
            </a:r>
            <a:r>
              <a:rPr lang="de-DE" sz="1400" dirty="0"/>
              <a:t> Layer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E9475A7F-06FD-F495-5D3C-54D2D5D21FF7}"/>
              </a:ext>
            </a:extLst>
          </p:cNvPr>
          <p:cNvSpPr txBox="1"/>
          <p:nvPr/>
        </p:nvSpPr>
        <p:spPr>
          <a:xfrm>
            <a:off x="7816696" y="6074740"/>
            <a:ext cx="3322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GUI: Output Data – </a:t>
            </a:r>
            <a:r>
              <a:rPr lang="de-DE" sz="1400" i="1" dirty="0"/>
              <a:t>Maps, </a:t>
            </a:r>
            <a:r>
              <a:rPr lang="de-DE" sz="1400" i="1" dirty="0" err="1"/>
              <a:t>Trajectories</a:t>
            </a:r>
            <a:r>
              <a:rPr lang="de-DE" sz="1400" dirty="0"/>
              <a:t>, …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69E7B7A2-B4A7-8F5D-0B1C-0C8F4A980E21}"/>
              </a:ext>
            </a:extLst>
          </p:cNvPr>
          <p:cNvSpPr txBox="1"/>
          <p:nvPr/>
        </p:nvSpPr>
        <p:spPr>
          <a:xfrm>
            <a:off x="7169417" y="2070264"/>
            <a:ext cx="166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Parser, Catalog,  Orbital </a:t>
            </a:r>
          </a:p>
          <a:p>
            <a:r>
              <a:rPr lang="de-DE" sz="1000" i="1" dirty="0" err="1"/>
              <a:t>elements</a:t>
            </a:r>
            <a:r>
              <a:rPr lang="de-DE" sz="1000" i="1" dirty="0"/>
              <a:t>, VSOP </a:t>
            </a:r>
            <a:r>
              <a:rPr lang="de-DE" sz="1000" i="1" dirty="0" err="1"/>
              <a:t>Loader</a:t>
            </a:r>
            <a:r>
              <a:rPr lang="de-DE" sz="1000" i="1" dirty="0"/>
              <a:t>, …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6C22F3AB-84ED-FF6C-859A-2264EF8AB2F2}"/>
              </a:ext>
            </a:extLst>
          </p:cNvPr>
          <p:cNvSpPr txBox="1"/>
          <p:nvPr/>
        </p:nvSpPr>
        <p:spPr>
          <a:xfrm>
            <a:off x="7202800" y="2780085"/>
            <a:ext cx="2400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VSOP, Aberration, </a:t>
            </a:r>
            <a:r>
              <a:rPr lang="de-DE" sz="1000" i="1" dirty="0" err="1"/>
              <a:t>Nutaiton</a:t>
            </a:r>
            <a:r>
              <a:rPr lang="de-DE" sz="1000" i="1" dirty="0"/>
              <a:t>, </a:t>
            </a:r>
            <a:r>
              <a:rPr lang="de-DE" sz="1000" i="1" dirty="0" err="1"/>
              <a:t>Precession</a:t>
            </a:r>
            <a:r>
              <a:rPr lang="de-DE" sz="1000" i="1" dirty="0"/>
              <a:t>,</a:t>
            </a:r>
          </a:p>
          <a:p>
            <a:r>
              <a:rPr lang="de-DE" sz="1000" i="1" dirty="0"/>
              <a:t>Light-</a:t>
            </a:r>
            <a:r>
              <a:rPr lang="de-DE" sz="1000" i="1" dirty="0" err="1"/>
              <a:t>Runtime</a:t>
            </a:r>
            <a:endParaRPr lang="de-DE" sz="1000" i="1" dirty="0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0858559F-393D-6E29-8852-F97D89B80B32}"/>
              </a:ext>
            </a:extLst>
          </p:cNvPr>
          <p:cNvSpPr txBox="1"/>
          <p:nvPr/>
        </p:nvSpPr>
        <p:spPr>
          <a:xfrm>
            <a:off x="7236851" y="3577460"/>
            <a:ext cx="2133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/>
              <a:t>Planets</a:t>
            </a:r>
            <a:r>
              <a:rPr lang="de-DE" sz="1000" i="1" dirty="0"/>
              <a:t>, Moon, Stars, Sun, Comets,</a:t>
            </a:r>
          </a:p>
          <a:p>
            <a:r>
              <a:rPr lang="de-DE" sz="1000" i="1" dirty="0"/>
              <a:t>„Sky Objects“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F0347BB8-6957-C016-A1DD-B98CC9FBD0B1}"/>
              </a:ext>
            </a:extLst>
          </p:cNvPr>
          <p:cNvSpPr txBox="1"/>
          <p:nvPr/>
        </p:nvSpPr>
        <p:spPr>
          <a:xfrm>
            <a:off x="388022" y="1392609"/>
            <a:ext cx="1774488" cy="12003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External</a:t>
            </a:r>
          </a:p>
          <a:p>
            <a:r>
              <a:rPr lang="de-DE" sz="1200" dirty="0"/>
              <a:t>Data Sources: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BS-Catalog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VSOP </a:t>
            </a:r>
            <a:r>
              <a:rPr lang="de-DE" sz="1200" dirty="0" err="1"/>
              <a:t>data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Tycho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…</a:t>
            </a:r>
          </a:p>
        </p:txBody>
      </p:sp>
      <p:sp>
        <p:nvSpPr>
          <p:cNvPr id="81" name="Freihandform: Form 80">
            <a:extLst>
              <a:ext uri="{FF2B5EF4-FFF2-40B4-BE49-F238E27FC236}">
                <a16:creationId xmlns:a16="http://schemas.microsoft.com/office/drawing/2014/main" id="{772A5DE2-028C-F366-84F0-CA82FB3F41F0}"/>
              </a:ext>
            </a:extLst>
          </p:cNvPr>
          <p:cNvSpPr/>
          <p:nvPr/>
        </p:nvSpPr>
        <p:spPr>
          <a:xfrm rot="13075697">
            <a:off x="1645105" y="803072"/>
            <a:ext cx="236372" cy="845574"/>
          </a:xfrm>
          <a:custGeom>
            <a:avLst/>
            <a:gdLst>
              <a:gd name="csX0" fmla="*/ 236372 w 236372"/>
              <a:gd name="csY0" fmla="*/ 0 h 845574"/>
              <a:gd name="csX1" fmla="*/ 398 w 236372"/>
              <a:gd name="csY1" fmla="*/ 501445 h 845574"/>
              <a:gd name="csX2" fmla="*/ 177379 w 236372"/>
              <a:gd name="csY2" fmla="*/ 688258 h 845574"/>
              <a:gd name="csX3" fmla="*/ 69224 w 236372"/>
              <a:gd name="csY3" fmla="*/ 845574 h 845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6372" h="845574">
                <a:moveTo>
                  <a:pt x="236372" y="0"/>
                </a:moveTo>
                <a:cubicBezTo>
                  <a:pt x="123301" y="193367"/>
                  <a:pt x="10230" y="386735"/>
                  <a:pt x="398" y="501445"/>
                </a:cubicBezTo>
                <a:cubicBezTo>
                  <a:pt x="-9434" y="616155"/>
                  <a:pt x="165908" y="630903"/>
                  <a:pt x="177379" y="688258"/>
                </a:cubicBezTo>
                <a:cubicBezTo>
                  <a:pt x="188850" y="745613"/>
                  <a:pt x="129037" y="795593"/>
                  <a:pt x="69224" y="84557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1BDDC956-B3D4-DA0F-CFCC-C2044779ECF1}"/>
              </a:ext>
            </a:extLst>
          </p:cNvPr>
          <p:cNvSpPr txBox="1"/>
          <p:nvPr/>
        </p:nvSpPr>
        <p:spPr>
          <a:xfrm>
            <a:off x="2075813" y="572370"/>
            <a:ext cx="104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Time </a:t>
            </a:r>
            <a:r>
              <a:rPr lang="de-DE" sz="1200" i="1" dirty="0" err="1"/>
              <a:t>domain</a:t>
            </a:r>
            <a:endParaRPr lang="de-DE" sz="1200" i="1" dirty="0"/>
          </a:p>
          <a:p>
            <a:r>
              <a:rPr lang="de-DE" sz="1200" i="1" dirty="0" err="1"/>
              <a:t>unclear</a:t>
            </a:r>
            <a:endParaRPr lang="de-DE" sz="1200" i="1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8DF5961B-FBA9-6306-9302-82FD8409058E}"/>
              </a:ext>
            </a:extLst>
          </p:cNvPr>
          <p:cNvSpPr txBox="1"/>
          <p:nvPr/>
        </p:nvSpPr>
        <p:spPr>
          <a:xfrm>
            <a:off x="10797789" y="381000"/>
            <a:ext cx="1155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User Domain </a:t>
            </a:r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C3DA2C98-12D5-8FC8-2720-EA115154737C}"/>
              </a:ext>
            </a:extLst>
          </p:cNvPr>
          <p:cNvSpPr txBox="1"/>
          <p:nvPr/>
        </p:nvSpPr>
        <p:spPr>
          <a:xfrm>
            <a:off x="2933822" y="3180195"/>
            <a:ext cx="929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TT, TDC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80508AA4-3D3A-2193-E54D-B561F21B7262}"/>
              </a:ext>
            </a:extLst>
          </p:cNvPr>
          <p:cNvSpPr txBox="1"/>
          <p:nvPr/>
        </p:nvSpPr>
        <p:spPr>
          <a:xfrm>
            <a:off x="10847992" y="5735203"/>
            <a:ext cx="62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A7C1A844-3AE3-29FE-3520-F12852C23DCD}"/>
              </a:ext>
            </a:extLst>
          </p:cNvPr>
          <p:cNvSpPr txBox="1"/>
          <p:nvPr/>
        </p:nvSpPr>
        <p:spPr>
          <a:xfrm>
            <a:off x="3032649" y="6231625"/>
            <a:ext cx="62017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C01E39DE-5EA0-A4E5-6109-1EFB4DE9BF83}"/>
              </a:ext>
            </a:extLst>
          </p:cNvPr>
          <p:cNvSpPr/>
          <p:nvPr/>
        </p:nvSpPr>
        <p:spPr>
          <a:xfrm>
            <a:off x="2269535" y="1452714"/>
            <a:ext cx="7524706" cy="4161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58C68D02-C0DA-89A2-4669-A1572543A924}"/>
              </a:ext>
            </a:extLst>
          </p:cNvPr>
          <p:cNvSpPr txBox="1"/>
          <p:nvPr/>
        </p:nvSpPr>
        <p:spPr>
          <a:xfrm>
            <a:off x="2881293" y="2448345"/>
            <a:ext cx="1544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Astro</a:t>
            </a:r>
            <a:r>
              <a:rPr lang="de-DE" dirty="0">
                <a:solidFill>
                  <a:srgbClr val="00B050"/>
                </a:solidFill>
              </a:rPr>
              <a:t> Domain</a:t>
            </a:r>
          </a:p>
        </p:txBody>
      </p:sp>
    </p:spTree>
    <p:extLst>
      <p:ext uri="{BB962C8B-B14F-4D97-AF65-F5344CB8AC3E}">
        <p14:creationId xmlns:p14="http://schemas.microsoft.com/office/powerpoint/2010/main" val="115038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03D7-CC41-BD93-14B9-968B76443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030B9F5-56A0-2EC8-F53F-2C701DD82B13}"/>
              </a:ext>
            </a:extLst>
          </p:cNvPr>
          <p:cNvSpPr/>
          <p:nvPr/>
        </p:nvSpPr>
        <p:spPr>
          <a:xfrm>
            <a:off x="2269535" y="1452714"/>
            <a:ext cx="7524706" cy="4161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71F63A4F-E94B-06A2-B122-64155A745263}"/>
              </a:ext>
            </a:extLst>
          </p:cNvPr>
          <p:cNvSpPr/>
          <p:nvPr/>
        </p:nvSpPr>
        <p:spPr>
          <a:xfrm>
            <a:off x="2605549" y="2470374"/>
            <a:ext cx="6934692" cy="27712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9D8ECF8-A9D6-5522-CCC9-FCE54FFD677E}"/>
              </a:ext>
            </a:extLst>
          </p:cNvPr>
          <p:cNvSpPr/>
          <p:nvPr/>
        </p:nvSpPr>
        <p:spPr>
          <a:xfrm>
            <a:off x="4454012" y="381000"/>
            <a:ext cx="700056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4341F189-689A-B38E-9D3C-77E5236A994E}"/>
              </a:ext>
            </a:extLst>
          </p:cNvPr>
          <p:cNvSpPr/>
          <p:nvPr/>
        </p:nvSpPr>
        <p:spPr>
          <a:xfrm rot="5400000">
            <a:off x="8054798" y="3156127"/>
            <a:ext cx="620655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80EDB2B-3F34-D5D2-D7AF-46DB8C79BFB3}"/>
              </a:ext>
            </a:extLst>
          </p:cNvPr>
          <p:cNvCxnSpPr>
            <a:cxnSpLocks/>
          </p:cNvCxnSpPr>
          <p:nvPr/>
        </p:nvCxnSpPr>
        <p:spPr>
          <a:xfrm>
            <a:off x="5358290" y="1037304"/>
            <a:ext cx="0" cy="71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8108C00C-A32E-B498-D667-D42E5BF5F999}"/>
              </a:ext>
            </a:extLst>
          </p:cNvPr>
          <p:cNvSpPr txBox="1"/>
          <p:nvPr/>
        </p:nvSpPr>
        <p:spPr>
          <a:xfrm>
            <a:off x="4822726" y="511950"/>
            <a:ext cx="1828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 / CLI: Input Data</a:t>
            </a:r>
            <a:endParaRPr lang="de-DE" sz="1400" i="1" dirty="0"/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13B09015-3C5E-1D0C-841E-2FF8D728E463}"/>
              </a:ext>
            </a:extLst>
          </p:cNvPr>
          <p:cNvCxnSpPr>
            <a:cxnSpLocks/>
          </p:cNvCxnSpPr>
          <p:nvPr/>
        </p:nvCxnSpPr>
        <p:spPr>
          <a:xfrm>
            <a:off x="3817640" y="5243538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73D9504B-F9DC-7493-3C45-F9773EBBCBF0}"/>
              </a:ext>
            </a:extLst>
          </p:cNvPr>
          <p:cNvSpPr/>
          <p:nvPr/>
        </p:nvSpPr>
        <p:spPr>
          <a:xfrm>
            <a:off x="3175636" y="5906917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2A7CBF55-E4C6-8519-4068-CEEBB4E71276}"/>
              </a:ext>
            </a:extLst>
          </p:cNvPr>
          <p:cNvSpPr/>
          <p:nvPr/>
        </p:nvSpPr>
        <p:spPr>
          <a:xfrm>
            <a:off x="3082205" y="599287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8287DBA1-B598-FBF4-E085-91B6BCBAC318}"/>
              </a:ext>
            </a:extLst>
          </p:cNvPr>
          <p:cNvSpPr/>
          <p:nvPr/>
        </p:nvSpPr>
        <p:spPr>
          <a:xfrm>
            <a:off x="2988773" y="608224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1DE282F2-48AB-8BC1-F973-88332A0F6B83}"/>
              </a:ext>
            </a:extLst>
          </p:cNvPr>
          <p:cNvCxnSpPr>
            <a:cxnSpLocks/>
          </p:cNvCxnSpPr>
          <p:nvPr/>
        </p:nvCxnSpPr>
        <p:spPr>
          <a:xfrm>
            <a:off x="8576479" y="5241649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F4F1546D-E594-12C5-CBBC-44D3DBD10A98}"/>
              </a:ext>
            </a:extLst>
          </p:cNvPr>
          <p:cNvSpPr/>
          <p:nvPr/>
        </p:nvSpPr>
        <p:spPr>
          <a:xfrm>
            <a:off x="7571392" y="5931254"/>
            <a:ext cx="388318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475DD024-09CE-AE67-B772-67C758A37C1A}"/>
              </a:ext>
            </a:extLst>
          </p:cNvPr>
          <p:cNvSpPr txBox="1"/>
          <p:nvPr/>
        </p:nvSpPr>
        <p:spPr>
          <a:xfrm>
            <a:off x="7816696" y="6074740"/>
            <a:ext cx="3322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GUI: Output Data – </a:t>
            </a:r>
            <a:r>
              <a:rPr lang="de-DE" sz="1400" i="1" dirty="0"/>
              <a:t>Maps, </a:t>
            </a:r>
            <a:r>
              <a:rPr lang="de-DE" sz="1400" i="1" dirty="0" err="1"/>
              <a:t>Trajectories</a:t>
            </a:r>
            <a:r>
              <a:rPr lang="de-DE" sz="1400" dirty="0"/>
              <a:t>, …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957107D5-3E5C-0F0D-8DF6-DA317698ED8F}"/>
              </a:ext>
            </a:extLst>
          </p:cNvPr>
          <p:cNvSpPr txBox="1"/>
          <p:nvPr/>
        </p:nvSpPr>
        <p:spPr>
          <a:xfrm>
            <a:off x="5320581" y="2641444"/>
            <a:ext cx="1614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rgbClr val="00B050"/>
                </a:solidFill>
              </a:rPr>
              <a:t>Astro</a:t>
            </a:r>
            <a:r>
              <a:rPr lang="de-DE" b="1" dirty="0">
                <a:solidFill>
                  <a:srgbClr val="00B050"/>
                </a:solidFill>
              </a:rPr>
              <a:t> Domain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942593E1-3238-332E-C78D-63E8201386BC}"/>
              </a:ext>
            </a:extLst>
          </p:cNvPr>
          <p:cNvSpPr txBox="1"/>
          <p:nvPr/>
        </p:nvSpPr>
        <p:spPr>
          <a:xfrm>
            <a:off x="388022" y="1392609"/>
            <a:ext cx="1774488" cy="12003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External</a:t>
            </a:r>
          </a:p>
          <a:p>
            <a:r>
              <a:rPr lang="de-DE" sz="1200" dirty="0"/>
              <a:t>Data Sources: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BS-Catalog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VSOP </a:t>
            </a:r>
            <a:r>
              <a:rPr lang="de-DE" sz="1200" dirty="0" err="1"/>
              <a:t>data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Tycho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…</a:t>
            </a:r>
          </a:p>
        </p:txBody>
      </p:sp>
      <p:sp>
        <p:nvSpPr>
          <p:cNvPr id="81" name="Freihandform: Form 80">
            <a:extLst>
              <a:ext uri="{FF2B5EF4-FFF2-40B4-BE49-F238E27FC236}">
                <a16:creationId xmlns:a16="http://schemas.microsoft.com/office/drawing/2014/main" id="{2E0CD5DB-9003-6127-E352-E38397A7A11F}"/>
              </a:ext>
            </a:extLst>
          </p:cNvPr>
          <p:cNvSpPr/>
          <p:nvPr/>
        </p:nvSpPr>
        <p:spPr>
          <a:xfrm rot="13075697">
            <a:off x="1645105" y="803072"/>
            <a:ext cx="236372" cy="845574"/>
          </a:xfrm>
          <a:custGeom>
            <a:avLst/>
            <a:gdLst>
              <a:gd name="csX0" fmla="*/ 236372 w 236372"/>
              <a:gd name="csY0" fmla="*/ 0 h 845574"/>
              <a:gd name="csX1" fmla="*/ 398 w 236372"/>
              <a:gd name="csY1" fmla="*/ 501445 h 845574"/>
              <a:gd name="csX2" fmla="*/ 177379 w 236372"/>
              <a:gd name="csY2" fmla="*/ 688258 h 845574"/>
              <a:gd name="csX3" fmla="*/ 69224 w 236372"/>
              <a:gd name="csY3" fmla="*/ 845574 h 845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6372" h="845574">
                <a:moveTo>
                  <a:pt x="236372" y="0"/>
                </a:moveTo>
                <a:cubicBezTo>
                  <a:pt x="123301" y="193367"/>
                  <a:pt x="10230" y="386735"/>
                  <a:pt x="398" y="501445"/>
                </a:cubicBezTo>
                <a:cubicBezTo>
                  <a:pt x="-9434" y="616155"/>
                  <a:pt x="165908" y="630903"/>
                  <a:pt x="177379" y="688258"/>
                </a:cubicBezTo>
                <a:cubicBezTo>
                  <a:pt x="188850" y="745613"/>
                  <a:pt x="129037" y="795593"/>
                  <a:pt x="69224" y="84557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9B7500FD-1759-34A3-4827-E7857EECB08C}"/>
              </a:ext>
            </a:extLst>
          </p:cNvPr>
          <p:cNvSpPr txBox="1"/>
          <p:nvPr/>
        </p:nvSpPr>
        <p:spPr>
          <a:xfrm>
            <a:off x="2075813" y="572370"/>
            <a:ext cx="104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Time </a:t>
            </a:r>
            <a:r>
              <a:rPr lang="de-DE" sz="1200" i="1" dirty="0" err="1"/>
              <a:t>domain</a:t>
            </a:r>
            <a:endParaRPr lang="de-DE" sz="1200" i="1" dirty="0"/>
          </a:p>
          <a:p>
            <a:r>
              <a:rPr lang="de-DE" sz="1200" i="1" dirty="0" err="1"/>
              <a:t>unclear</a:t>
            </a:r>
            <a:endParaRPr lang="de-DE" sz="1200" i="1" dirty="0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22E51CED-9114-3318-AA65-72C518B26A0B}"/>
              </a:ext>
            </a:extLst>
          </p:cNvPr>
          <p:cNvSpPr txBox="1"/>
          <p:nvPr/>
        </p:nvSpPr>
        <p:spPr>
          <a:xfrm>
            <a:off x="2915341" y="2795648"/>
            <a:ext cx="1764513" cy="101566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b="1" dirty="0">
                <a:solidFill>
                  <a:srgbClr val="00B050"/>
                </a:solidFill>
              </a:rPr>
              <a:t>Class </a:t>
            </a:r>
            <a:r>
              <a:rPr lang="de-DE" sz="1000" b="1" dirty="0" err="1">
                <a:solidFill>
                  <a:srgbClr val="00B050"/>
                </a:solidFill>
              </a:rPr>
              <a:t>AstroTime</a:t>
            </a:r>
            <a:endParaRPr lang="de-DE" sz="1000" b="1" dirty="0">
              <a:solidFill>
                <a:srgbClr val="00B050"/>
              </a:solidFill>
            </a:endParaRPr>
          </a:p>
          <a:p>
            <a:r>
              <a:rPr lang="de-DE" sz="1000" b="1" dirty="0">
                <a:solidFill>
                  <a:srgbClr val="00B050"/>
                </a:solidFill>
              </a:rPr>
              <a:t>{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TT; 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TDB;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Delta T;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}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B66BAF6F-D68C-CF25-F3F1-CA3F902FC5FC}"/>
              </a:ext>
            </a:extLst>
          </p:cNvPr>
          <p:cNvSpPr txBox="1"/>
          <p:nvPr/>
        </p:nvSpPr>
        <p:spPr>
          <a:xfrm>
            <a:off x="10847992" y="5735203"/>
            <a:ext cx="62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A65EB4C3-13F4-3AD0-07DD-9514BAC3666F}"/>
              </a:ext>
            </a:extLst>
          </p:cNvPr>
          <p:cNvSpPr txBox="1"/>
          <p:nvPr/>
        </p:nvSpPr>
        <p:spPr>
          <a:xfrm>
            <a:off x="3032649" y="6231625"/>
            <a:ext cx="62017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8A198FC-36C6-4D29-F1E6-031B1745CA35}"/>
              </a:ext>
            </a:extLst>
          </p:cNvPr>
          <p:cNvCxnSpPr>
            <a:cxnSpLocks/>
          </p:cNvCxnSpPr>
          <p:nvPr/>
        </p:nvCxnSpPr>
        <p:spPr>
          <a:xfrm>
            <a:off x="6127693" y="2271173"/>
            <a:ext cx="0" cy="220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B2C58653-DF68-FBE6-6F67-CC0D74B1F751}"/>
              </a:ext>
            </a:extLst>
          </p:cNvPr>
          <p:cNvSpPr txBox="1"/>
          <p:nvPr/>
        </p:nvSpPr>
        <p:spPr>
          <a:xfrm>
            <a:off x="10797789" y="381000"/>
            <a:ext cx="1155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User Domain </a:t>
            </a:r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49EE4A1-9FEB-9E02-31AB-52FDD469196D}"/>
              </a:ext>
            </a:extLst>
          </p:cNvPr>
          <p:cNvSpPr/>
          <p:nvPr/>
        </p:nvSpPr>
        <p:spPr>
          <a:xfrm>
            <a:off x="5021006" y="174791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543A5B5-E430-1159-B824-B6128C61808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060910" y="2009544"/>
            <a:ext cx="2960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369E5492-FC4D-9908-11E4-FD2A7DEEF67B}"/>
              </a:ext>
            </a:extLst>
          </p:cNvPr>
          <p:cNvSpPr txBox="1"/>
          <p:nvPr/>
        </p:nvSpPr>
        <p:spPr>
          <a:xfrm>
            <a:off x="5256690" y="1872838"/>
            <a:ext cx="164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Data Layer (Parser)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9618F0FB-A940-0E4B-EF2C-7633E7C323FB}"/>
              </a:ext>
            </a:extLst>
          </p:cNvPr>
          <p:cNvSpPr txBox="1"/>
          <p:nvPr/>
        </p:nvSpPr>
        <p:spPr>
          <a:xfrm>
            <a:off x="7665314" y="2549434"/>
            <a:ext cx="1764513" cy="1107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FF0000"/>
                </a:solidFill>
              </a:rPr>
              <a:t>Class </a:t>
            </a:r>
            <a:r>
              <a:rPr lang="de-DE" sz="1100" b="1" dirty="0" err="1">
                <a:solidFill>
                  <a:srgbClr val="FF0000"/>
                </a:solidFill>
              </a:rPr>
              <a:t>iAstroTimeInterface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FF0000"/>
                </a:solidFill>
              </a:rPr>
              <a:t>{</a:t>
            </a:r>
          </a:p>
          <a:p>
            <a:r>
              <a:rPr lang="de-DE" sz="1100" b="1" dirty="0" err="1">
                <a:solidFill>
                  <a:srgbClr val="FF0000"/>
                </a:solidFill>
              </a:rPr>
              <a:t>Get_UTC</a:t>
            </a:r>
            <a:r>
              <a:rPr lang="de-DE" sz="1100" b="1" dirty="0">
                <a:solidFill>
                  <a:srgbClr val="FF0000"/>
                </a:solidFill>
              </a:rPr>
              <a:t>(TT)</a:t>
            </a:r>
          </a:p>
          <a:p>
            <a:r>
              <a:rPr lang="de-DE" sz="1100" b="1" dirty="0" err="1">
                <a:solidFill>
                  <a:srgbClr val="FF0000"/>
                </a:solidFill>
              </a:rPr>
              <a:t>Get_TT</a:t>
            </a:r>
            <a:r>
              <a:rPr lang="de-DE" sz="1100" b="1" dirty="0">
                <a:solidFill>
                  <a:srgbClr val="FF0000"/>
                </a:solidFill>
              </a:rPr>
              <a:t>(UTC)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D639FBBC-D3F3-1C9C-E220-41C0FC5290E1}"/>
              </a:ext>
            </a:extLst>
          </p:cNvPr>
          <p:cNvSpPr txBox="1"/>
          <p:nvPr/>
        </p:nvSpPr>
        <p:spPr>
          <a:xfrm>
            <a:off x="9922465" y="1153719"/>
            <a:ext cx="2072602" cy="116955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b="1" dirty="0">
                <a:solidFill>
                  <a:srgbClr val="00B0F0"/>
                </a:solidFill>
              </a:rPr>
              <a:t>Class </a:t>
            </a:r>
            <a:r>
              <a:rPr lang="de-DE" sz="1000" b="1" dirty="0" err="1">
                <a:solidFill>
                  <a:srgbClr val="00B0F0"/>
                </a:solidFill>
              </a:rPr>
              <a:t>UserTime</a:t>
            </a:r>
            <a:endParaRPr lang="de-DE" sz="1000" b="1" dirty="0">
              <a:solidFill>
                <a:srgbClr val="00B0F0"/>
              </a:solidFill>
            </a:endParaRPr>
          </a:p>
          <a:p>
            <a:r>
              <a:rPr lang="de-DE" sz="1000" b="1" dirty="0">
                <a:solidFill>
                  <a:srgbClr val="00B0F0"/>
                </a:solidFill>
              </a:rPr>
              <a:t>{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UTC; 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time shift;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</a:t>
            </a:r>
            <a:r>
              <a:rPr lang="de-DE" sz="1000" b="1" dirty="0" err="1">
                <a:solidFill>
                  <a:srgbClr val="00B0F0"/>
                </a:solidFill>
              </a:rPr>
              <a:t>DaylightSavings</a:t>
            </a:r>
            <a:r>
              <a:rPr lang="de-DE" sz="1000" b="1" dirty="0">
                <a:solidFill>
                  <a:srgbClr val="00B0F0"/>
                </a:solidFill>
              </a:rPr>
              <a:t>;</a:t>
            </a:r>
          </a:p>
          <a:p>
            <a:r>
              <a:rPr lang="de-DE" sz="1000" b="1" dirty="0" err="1">
                <a:solidFill>
                  <a:srgbClr val="00B0F0"/>
                </a:solidFill>
              </a:rPr>
              <a:t>JD_UTC_to_GregorianDate</a:t>
            </a:r>
            <a:endParaRPr lang="de-DE" sz="1000" b="1" dirty="0">
              <a:solidFill>
                <a:srgbClr val="00B0F0"/>
              </a:solidFill>
            </a:endParaRPr>
          </a:p>
          <a:p>
            <a:r>
              <a:rPr lang="de-DE" sz="1000" b="1" dirty="0">
                <a:solidFill>
                  <a:srgbClr val="00B0F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357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6DCF4-C64D-BF97-DF35-CA0F85DA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hteck 87">
            <a:extLst>
              <a:ext uri="{FF2B5EF4-FFF2-40B4-BE49-F238E27FC236}">
                <a16:creationId xmlns:a16="http://schemas.microsoft.com/office/drawing/2014/main" id="{AFABE324-3B2E-F711-A454-5EE0E8B68DC8}"/>
              </a:ext>
            </a:extLst>
          </p:cNvPr>
          <p:cNvSpPr/>
          <p:nvPr/>
        </p:nvSpPr>
        <p:spPr>
          <a:xfrm>
            <a:off x="2605549" y="2470374"/>
            <a:ext cx="6934692" cy="27712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FEDF901-937A-9676-1385-5AB08154BBDF}"/>
              </a:ext>
            </a:extLst>
          </p:cNvPr>
          <p:cNvSpPr/>
          <p:nvPr/>
        </p:nvSpPr>
        <p:spPr>
          <a:xfrm>
            <a:off x="4454012" y="381000"/>
            <a:ext cx="700056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50C35944-FA83-5B86-69D2-F2E9719AE052}"/>
              </a:ext>
            </a:extLst>
          </p:cNvPr>
          <p:cNvSpPr/>
          <p:nvPr/>
        </p:nvSpPr>
        <p:spPr>
          <a:xfrm rot="5400000">
            <a:off x="8054798" y="3156127"/>
            <a:ext cx="620655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19B1D07-EA8E-1A9E-4E22-E0B8F20D23DA}"/>
              </a:ext>
            </a:extLst>
          </p:cNvPr>
          <p:cNvSpPr/>
          <p:nvPr/>
        </p:nvSpPr>
        <p:spPr>
          <a:xfrm>
            <a:off x="5021006" y="174791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4295AA2-5451-16AC-E828-3053FA4EB1DE}"/>
              </a:ext>
            </a:extLst>
          </p:cNvPr>
          <p:cNvSpPr txBox="1"/>
          <p:nvPr/>
        </p:nvSpPr>
        <p:spPr>
          <a:xfrm>
            <a:off x="5256690" y="1872838"/>
            <a:ext cx="164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Data Layer (Parser)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A125DC3C-DEB2-A98A-3750-9A8E75AA31D6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060910" y="2009544"/>
            <a:ext cx="2960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E46545F3-E7E3-1323-3B61-6AF5C1AABBD1}"/>
              </a:ext>
            </a:extLst>
          </p:cNvPr>
          <p:cNvCxnSpPr>
            <a:cxnSpLocks/>
          </p:cNvCxnSpPr>
          <p:nvPr/>
        </p:nvCxnSpPr>
        <p:spPr>
          <a:xfrm>
            <a:off x="5358290" y="1037304"/>
            <a:ext cx="0" cy="71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6D4F79F7-A4F0-18C8-691F-45A926C5CCDB}"/>
              </a:ext>
            </a:extLst>
          </p:cNvPr>
          <p:cNvSpPr txBox="1"/>
          <p:nvPr/>
        </p:nvSpPr>
        <p:spPr>
          <a:xfrm>
            <a:off x="4822726" y="511950"/>
            <a:ext cx="4750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 / CLI: Input Data – </a:t>
            </a:r>
            <a:r>
              <a:rPr lang="de-DE" sz="1400" i="1" dirty="0"/>
              <a:t>Time </a:t>
            </a:r>
            <a:r>
              <a:rPr lang="de-DE" sz="1400" i="1" dirty="0" err="1"/>
              <a:t>from</a:t>
            </a:r>
            <a:r>
              <a:rPr lang="de-DE" sz="1400" i="1" dirty="0"/>
              <a:t> </a:t>
            </a:r>
            <a:r>
              <a:rPr lang="de-DE" sz="1400" i="1" dirty="0" err="1"/>
              <a:t>To</a:t>
            </a:r>
            <a:r>
              <a:rPr lang="de-DE" sz="1400" i="1" dirty="0"/>
              <a:t>, Observation Point, etc.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C94C8B1-B6EB-94C0-F329-78B73DDF2556}"/>
              </a:ext>
            </a:extLst>
          </p:cNvPr>
          <p:cNvSpPr/>
          <p:nvPr/>
        </p:nvSpPr>
        <p:spPr>
          <a:xfrm>
            <a:off x="5021006" y="278145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7DF7AA5-A3C4-87B3-7754-35330E9423A5}"/>
              </a:ext>
            </a:extLst>
          </p:cNvPr>
          <p:cNvSpPr/>
          <p:nvPr/>
        </p:nvSpPr>
        <p:spPr>
          <a:xfrm>
            <a:off x="5021006" y="357746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669DB1B-61AC-631C-F766-2E27C786085A}"/>
              </a:ext>
            </a:extLst>
          </p:cNvPr>
          <p:cNvSpPr/>
          <p:nvPr/>
        </p:nvSpPr>
        <p:spPr>
          <a:xfrm>
            <a:off x="5013268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D82BA77-9EC6-5B03-EA1B-9FD57546DE61}"/>
              </a:ext>
            </a:extLst>
          </p:cNvPr>
          <p:cNvSpPr/>
          <p:nvPr/>
        </p:nvSpPr>
        <p:spPr>
          <a:xfrm>
            <a:off x="7449472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1B73274-2DE5-C02D-72E6-A6CB849921C0}"/>
              </a:ext>
            </a:extLst>
          </p:cNvPr>
          <p:cNvSpPr/>
          <p:nvPr/>
        </p:nvSpPr>
        <p:spPr>
          <a:xfrm>
            <a:off x="2690633" y="4608519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3EBD88E-5183-2422-1FF1-833E67202474}"/>
              </a:ext>
            </a:extLst>
          </p:cNvPr>
          <p:cNvSpPr txBox="1"/>
          <p:nvPr/>
        </p:nvSpPr>
        <p:spPr>
          <a:xfrm>
            <a:off x="3053716" y="4697889"/>
            <a:ext cx="1164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85000"/>
                  </a:schemeClr>
                </a:solidFill>
              </a:rPr>
              <a:t>Report Layer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B2808113-29FD-BD33-9E37-58FABCC429EE}"/>
              </a:ext>
            </a:extLst>
          </p:cNvPr>
          <p:cNvCxnSpPr>
            <a:cxnSpLocks/>
          </p:cNvCxnSpPr>
          <p:nvPr/>
        </p:nvCxnSpPr>
        <p:spPr>
          <a:xfrm flipH="1">
            <a:off x="4332092" y="4342588"/>
            <a:ext cx="3" cy="264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490379A9-CF6E-4CAE-BE0A-F5DAFCF429B1}"/>
              </a:ext>
            </a:extLst>
          </p:cNvPr>
          <p:cNvCxnSpPr>
            <a:cxnSpLocks/>
          </p:cNvCxnSpPr>
          <p:nvPr/>
        </p:nvCxnSpPr>
        <p:spPr>
          <a:xfrm>
            <a:off x="7795240" y="4342588"/>
            <a:ext cx="0" cy="272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0FF3CE82-28AC-DCA4-57A0-34C79444DFA0}"/>
              </a:ext>
            </a:extLst>
          </p:cNvPr>
          <p:cNvCxnSpPr/>
          <p:nvPr/>
        </p:nvCxnSpPr>
        <p:spPr>
          <a:xfrm>
            <a:off x="4332092" y="4342588"/>
            <a:ext cx="34631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087842C1-3728-52D8-1158-780FDCD951A9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3695720" y="5131778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20129FE6-97B4-9713-5FAF-2FF28480CE34}"/>
              </a:ext>
            </a:extLst>
          </p:cNvPr>
          <p:cNvSpPr/>
          <p:nvPr/>
        </p:nvSpPr>
        <p:spPr>
          <a:xfrm>
            <a:off x="3175636" y="5906917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160A4C1-B9D9-6696-20B2-6237FE5FB4E2}"/>
              </a:ext>
            </a:extLst>
          </p:cNvPr>
          <p:cNvSpPr/>
          <p:nvPr/>
        </p:nvSpPr>
        <p:spPr>
          <a:xfrm>
            <a:off x="3082205" y="599287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CB60D3EB-E858-4AC8-E695-DA321E27ACBD}"/>
              </a:ext>
            </a:extLst>
          </p:cNvPr>
          <p:cNvSpPr/>
          <p:nvPr/>
        </p:nvSpPr>
        <p:spPr>
          <a:xfrm>
            <a:off x="2988773" y="608224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9D298230-D38D-94C5-79A5-17AC636EA2A9}"/>
              </a:ext>
            </a:extLst>
          </p:cNvPr>
          <p:cNvCxnSpPr>
            <a:cxnSpLocks/>
            <a:stCxn id="25" idx="1"/>
            <a:endCxn id="30" idx="3"/>
          </p:cNvCxnSpPr>
          <p:nvPr/>
        </p:nvCxnSpPr>
        <p:spPr>
          <a:xfrm flipH="1">
            <a:off x="4700806" y="4868260"/>
            <a:ext cx="312462" cy="188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F585BAAB-A07B-9078-35E8-4E831D6747AA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7023441" y="4868260"/>
            <a:ext cx="42603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7CAF8879-C627-7726-1B8A-841BDC56DA8A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8454559" y="5129889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F8B6563C-E609-8C76-EDC4-0F0892604E4F}"/>
              </a:ext>
            </a:extLst>
          </p:cNvPr>
          <p:cNvSpPr/>
          <p:nvPr/>
        </p:nvSpPr>
        <p:spPr>
          <a:xfrm>
            <a:off x="7571392" y="5931254"/>
            <a:ext cx="388318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E8C037-3D32-373F-5D61-471277C36688}"/>
              </a:ext>
            </a:extLst>
          </p:cNvPr>
          <p:cNvSpPr txBox="1"/>
          <p:nvPr/>
        </p:nvSpPr>
        <p:spPr>
          <a:xfrm>
            <a:off x="5388101" y="3685200"/>
            <a:ext cx="1019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85000"/>
                  </a:schemeClr>
                </a:solidFill>
              </a:rPr>
              <a:t>Core Layer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86D2709-C2D8-2316-0F51-A5BAF66D1106}"/>
              </a:ext>
            </a:extLst>
          </p:cNvPr>
          <p:cNvSpPr txBox="1"/>
          <p:nvPr/>
        </p:nvSpPr>
        <p:spPr>
          <a:xfrm>
            <a:off x="5192627" y="2872418"/>
            <a:ext cx="1670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solidFill>
                  <a:schemeClr val="bg1">
                    <a:lumMod val="85000"/>
                  </a:schemeClr>
                </a:solidFill>
              </a:rPr>
              <a:t>Ephemerides</a:t>
            </a:r>
            <a:r>
              <a:rPr lang="de-DE" sz="1400" dirty="0">
                <a:solidFill>
                  <a:schemeClr val="bg1">
                    <a:lumMod val="85000"/>
                  </a:schemeClr>
                </a:solidFill>
              </a:rPr>
              <a:t> Layer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95B627D-9D09-6D4D-0899-896CB9BB177F}"/>
              </a:ext>
            </a:extLst>
          </p:cNvPr>
          <p:cNvSpPr txBox="1"/>
          <p:nvPr/>
        </p:nvSpPr>
        <p:spPr>
          <a:xfrm>
            <a:off x="5276676" y="4697889"/>
            <a:ext cx="1483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85000"/>
                  </a:schemeClr>
                </a:solidFill>
              </a:rPr>
              <a:t>Simulation Layer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72B223C0-FD2F-3137-EEC2-98950D00D7A0}"/>
              </a:ext>
            </a:extLst>
          </p:cNvPr>
          <p:cNvCxnSpPr>
            <a:cxnSpLocks/>
            <a:stCxn id="3" idx="2"/>
            <a:endCxn id="23" idx="0"/>
          </p:cNvCxnSpPr>
          <p:nvPr/>
        </p:nvCxnSpPr>
        <p:spPr>
          <a:xfrm>
            <a:off x="6026093" y="2271173"/>
            <a:ext cx="0" cy="51028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3E0B474-9CA8-F6EF-FCE1-1EF8F5B7917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6026093" y="3304713"/>
            <a:ext cx="0" cy="27274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50914A2B-D373-0A60-9644-A138A24942A0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6018355" y="4100719"/>
            <a:ext cx="7738" cy="50591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A14217C5-8E25-705B-34A6-D6866705C10F}"/>
              </a:ext>
            </a:extLst>
          </p:cNvPr>
          <p:cNvSpPr txBox="1"/>
          <p:nvPr/>
        </p:nvSpPr>
        <p:spPr>
          <a:xfrm>
            <a:off x="7712880" y="4697889"/>
            <a:ext cx="1434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solidFill>
                  <a:schemeClr val="bg1">
                    <a:lumMod val="85000"/>
                  </a:schemeClr>
                </a:solidFill>
              </a:rPr>
              <a:t>Projection</a:t>
            </a:r>
            <a:r>
              <a:rPr lang="de-DE" sz="1400" dirty="0">
                <a:solidFill>
                  <a:schemeClr val="bg1">
                    <a:lumMod val="85000"/>
                  </a:schemeClr>
                </a:solidFill>
              </a:rPr>
              <a:t> Layer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83CDEED9-A407-1A22-79D0-B045FF2CFFA4}"/>
              </a:ext>
            </a:extLst>
          </p:cNvPr>
          <p:cNvSpPr txBox="1"/>
          <p:nvPr/>
        </p:nvSpPr>
        <p:spPr>
          <a:xfrm>
            <a:off x="7816696" y="6074740"/>
            <a:ext cx="3322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GUI: Output Data – </a:t>
            </a:r>
            <a:r>
              <a:rPr lang="de-DE" sz="1400" i="1" dirty="0"/>
              <a:t>Maps, </a:t>
            </a:r>
            <a:r>
              <a:rPr lang="de-DE" sz="1400" i="1" dirty="0" err="1"/>
              <a:t>Trajectories</a:t>
            </a:r>
            <a:r>
              <a:rPr lang="de-DE" sz="1400" dirty="0"/>
              <a:t>, …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07085B5A-83D8-755F-5C74-5954838CBEBF}"/>
              </a:ext>
            </a:extLst>
          </p:cNvPr>
          <p:cNvSpPr txBox="1"/>
          <p:nvPr/>
        </p:nvSpPr>
        <p:spPr>
          <a:xfrm>
            <a:off x="2881293" y="2448345"/>
            <a:ext cx="1544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Astro</a:t>
            </a:r>
            <a:r>
              <a:rPr lang="de-DE" dirty="0">
                <a:solidFill>
                  <a:srgbClr val="00B050"/>
                </a:solidFill>
              </a:rPr>
              <a:t> Domain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55AA77F8-9B42-85FA-8A21-D68301315199}"/>
              </a:ext>
            </a:extLst>
          </p:cNvPr>
          <p:cNvSpPr txBox="1"/>
          <p:nvPr/>
        </p:nvSpPr>
        <p:spPr>
          <a:xfrm>
            <a:off x="388022" y="1392609"/>
            <a:ext cx="1774488" cy="12003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External</a:t>
            </a:r>
          </a:p>
          <a:p>
            <a:r>
              <a:rPr lang="de-DE" sz="1200" dirty="0"/>
              <a:t>Data Sources: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BS-Catalog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VSOP </a:t>
            </a:r>
            <a:r>
              <a:rPr lang="de-DE" sz="1200" dirty="0" err="1"/>
              <a:t>data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Tycho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…</a:t>
            </a:r>
          </a:p>
        </p:txBody>
      </p:sp>
      <p:sp>
        <p:nvSpPr>
          <p:cNvPr id="81" name="Freihandform: Form 80">
            <a:extLst>
              <a:ext uri="{FF2B5EF4-FFF2-40B4-BE49-F238E27FC236}">
                <a16:creationId xmlns:a16="http://schemas.microsoft.com/office/drawing/2014/main" id="{E0E7ED5E-D485-192C-F9CE-988DA1672AE8}"/>
              </a:ext>
            </a:extLst>
          </p:cNvPr>
          <p:cNvSpPr/>
          <p:nvPr/>
        </p:nvSpPr>
        <p:spPr>
          <a:xfrm rot="13075697">
            <a:off x="1645105" y="803072"/>
            <a:ext cx="236372" cy="845574"/>
          </a:xfrm>
          <a:custGeom>
            <a:avLst/>
            <a:gdLst>
              <a:gd name="csX0" fmla="*/ 236372 w 236372"/>
              <a:gd name="csY0" fmla="*/ 0 h 845574"/>
              <a:gd name="csX1" fmla="*/ 398 w 236372"/>
              <a:gd name="csY1" fmla="*/ 501445 h 845574"/>
              <a:gd name="csX2" fmla="*/ 177379 w 236372"/>
              <a:gd name="csY2" fmla="*/ 688258 h 845574"/>
              <a:gd name="csX3" fmla="*/ 69224 w 236372"/>
              <a:gd name="csY3" fmla="*/ 845574 h 845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6372" h="845574">
                <a:moveTo>
                  <a:pt x="236372" y="0"/>
                </a:moveTo>
                <a:cubicBezTo>
                  <a:pt x="123301" y="193367"/>
                  <a:pt x="10230" y="386735"/>
                  <a:pt x="398" y="501445"/>
                </a:cubicBezTo>
                <a:cubicBezTo>
                  <a:pt x="-9434" y="616155"/>
                  <a:pt x="165908" y="630903"/>
                  <a:pt x="177379" y="688258"/>
                </a:cubicBezTo>
                <a:cubicBezTo>
                  <a:pt x="188850" y="745613"/>
                  <a:pt x="129037" y="795593"/>
                  <a:pt x="69224" y="84557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C9F705D6-28E3-1B0C-DF74-00378C414811}"/>
              </a:ext>
            </a:extLst>
          </p:cNvPr>
          <p:cNvSpPr txBox="1"/>
          <p:nvPr/>
        </p:nvSpPr>
        <p:spPr>
          <a:xfrm>
            <a:off x="2075813" y="572370"/>
            <a:ext cx="104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Time </a:t>
            </a:r>
            <a:r>
              <a:rPr lang="de-DE" sz="1200" i="1" dirty="0" err="1"/>
              <a:t>domain</a:t>
            </a:r>
            <a:endParaRPr lang="de-DE" sz="1200" i="1" dirty="0"/>
          </a:p>
          <a:p>
            <a:r>
              <a:rPr lang="de-DE" sz="1200" i="1" dirty="0" err="1"/>
              <a:t>unclear</a:t>
            </a:r>
            <a:endParaRPr lang="de-DE" sz="1200" i="1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7739FC8F-0781-B2B7-A9DF-9730DC24FF06}"/>
              </a:ext>
            </a:extLst>
          </p:cNvPr>
          <p:cNvSpPr txBox="1"/>
          <p:nvPr/>
        </p:nvSpPr>
        <p:spPr>
          <a:xfrm>
            <a:off x="10797789" y="381000"/>
            <a:ext cx="1155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User Domain </a:t>
            </a:r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45B4B6A4-D138-F9B6-1125-DF848361629A}"/>
              </a:ext>
            </a:extLst>
          </p:cNvPr>
          <p:cNvSpPr txBox="1"/>
          <p:nvPr/>
        </p:nvSpPr>
        <p:spPr>
          <a:xfrm>
            <a:off x="10847992" y="5735203"/>
            <a:ext cx="62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68A368C4-25B2-E75C-3B0B-5C05FE854CB8}"/>
              </a:ext>
            </a:extLst>
          </p:cNvPr>
          <p:cNvSpPr txBox="1"/>
          <p:nvPr/>
        </p:nvSpPr>
        <p:spPr>
          <a:xfrm>
            <a:off x="3032649" y="6231625"/>
            <a:ext cx="62017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544C93B3-9B19-DC89-7576-98DE6F69D833}"/>
              </a:ext>
            </a:extLst>
          </p:cNvPr>
          <p:cNvSpPr/>
          <p:nvPr/>
        </p:nvSpPr>
        <p:spPr>
          <a:xfrm>
            <a:off x="2269535" y="1452714"/>
            <a:ext cx="7524706" cy="4161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EAA05E-DB80-86E7-52C2-F020853E73A0}"/>
              </a:ext>
            </a:extLst>
          </p:cNvPr>
          <p:cNvSpPr txBox="1"/>
          <p:nvPr/>
        </p:nvSpPr>
        <p:spPr>
          <a:xfrm>
            <a:off x="7665314" y="2549434"/>
            <a:ext cx="1764513" cy="1107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FF0000"/>
                </a:solidFill>
              </a:rPr>
              <a:t>Class </a:t>
            </a:r>
            <a:r>
              <a:rPr lang="de-DE" sz="1100" b="1" dirty="0" err="1">
                <a:solidFill>
                  <a:srgbClr val="FF0000"/>
                </a:solidFill>
              </a:rPr>
              <a:t>iAstroTimeInterface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FF0000"/>
                </a:solidFill>
              </a:rPr>
              <a:t>{</a:t>
            </a:r>
          </a:p>
          <a:p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 err="1">
                <a:solidFill>
                  <a:srgbClr val="FF0000"/>
                </a:solidFill>
              </a:rPr>
              <a:t>Get_TT</a:t>
            </a:r>
            <a:r>
              <a:rPr lang="de-DE" sz="1100" b="1" dirty="0">
                <a:solidFill>
                  <a:srgbClr val="FF0000"/>
                </a:solidFill>
              </a:rPr>
              <a:t>(UTC)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}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82EFC5C-0073-9ABA-6620-E68DB1B76351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7031179" y="3043084"/>
            <a:ext cx="634135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B810339-9EE8-DDEF-796C-87CF1790336F}"/>
              </a:ext>
            </a:extLst>
          </p:cNvPr>
          <p:cNvCxnSpPr>
            <a:cxnSpLocks/>
          </p:cNvCxnSpPr>
          <p:nvPr/>
        </p:nvCxnSpPr>
        <p:spPr>
          <a:xfrm flipV="1">
            <a:off x="7031179" y="3577460"/>
            <a:ext cx="634135" cy="249066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B1BB581-58CA-B134-E58C-96628A36E295}"/>
              </a:ext>
            </a:extLst>
          </p:cNvPr>
          <p:cNvCxnSpPr>
            <a:cxnSpLocks/>
            <a:stCxn id="27" idx="0"/>
            <a:endCxn id="2" idx="2"/>
          </p:cNvCxnSpPr>
          <p:nvPr/>
        </p:nvCxnSpPr>
        <p:spPr>
          <a:xfrm flipV="1">
            <a:off x="8454559" y="3657430"/>
            <a:ext cx="93012" cy="94920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E65A6D5-34B7-CF89-405D-7E0CBB0EB0F2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6660760" y="3657430"/>
            <a:ext cx="1886811" cy="949199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32CE5112-57ED-ECF5-CD6C-01326CF9AF98}"/>
              </a:ext>
            </a:extLst>
          </p:cNvPr>
          <p:cNvSpPr txBox="1"/>
          <p:nvPr/>
        </p:nvSpPr>
        <p:spPr>
          <a:xfrm>
            <a:off x="10186156" y="2638741"/>
            <a:ext cx="1893907" cy="9387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FF0000"/>
                </a:solidFill>
              </a:rPr>
              <a:t>Class </a:t>
            </a:r>
            <a:r>
              <a:rPr lang="de-DE" sz="1100" b="1" dirty="0" err="1">
                <a:solidFill>
                  <a:srgbClr val="FF0000"/>
                </a:solidFill>
              </a:rPr>
              <a:t>iUserTimeInterface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FF0000"/>
                </a:solidFill>
              </a:rPr>
              <a:t>{</a:t>
            </a:r>
          </a:p>
          <a:p>
            <a:r>
              <a:rPr lang="de-DE" sz="1100" b="1" dirty="0" err="1">
                <a:solidFill>
                  <a:srgbClr val="FF0000"/>
                </a:solidFill>
              </a:rPr>
              <a:t>Get_JD_UTC</a:t>
            </a:r>
            <a:r>
              <a:rPr lang="de-DE" sz="1100" b="1" dirty="0">
                <a:solidFill>
                  <a:srgbClr val="FF0000"/>
                </a:solidFill>
              </a:rPr>
              <a:t>(JD_ TT)</a:t>
            </a:r>
          </a:p>
          <a:p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FF0000"/>
                </a:solidFill>
              </a:rPr>
              <a:t>}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0F010412-9805-96C4-ADBB-2214A200E7A7}"/>
              </a:ext>
            </a:extLst>
          </p:cNvPr>
          <p:cNvCxnSpPr>
            <a:cxnSpLocks/>
            <a:stCxn id="2" idx="3"/>
            <a:endCxn id="22" idx="1"/>
          </p:cNvCxnSpPr>
          <p:nvPr/>
        </p:nvCxnSpPr>
        <p:spPr>
          <a:xfrm>
            <a:off x="9429827" y="3103432"/>
            <a:ext cx="756329" cy="4669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DC92E15A-8603-73BA-06DD-DC6508DFDBDA}"/>
              </a:ext>
            </a:extLst>
          </p:cNvPr>
          <p:cNvSpPr txBox="1"/>
          <p:nvPr/>
        </p:nvSpPr>
        <p:spPr>
          <a:xfrm>
            <a:off x="9922465" y="1153719"/>
            <a:ext cx="2072602" cy="116955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b="1" dirty="0">
                <a:solidFill>
                  <a:srgbClr val="00B0F0"/>
                </a:solidFill>
              </a:rPr>
              <a:t>Class </a:t>
            </a:r>
            <a:r>
              <a:rPr lang="de-DE" sz="1000" b="1" dirty="0" err="1">
                <a:solidFill>
                  <a:srgbClr val="00B0F0"/>
                </a:solidFill>
              </a:rPr>
              <a:t>UserTime</a:t>
            </a:r>
            <a:endParaRPr lang="de-DE" sz="1000" b="1" dirty="0">
              <a:solidFill>
                <a:srgbClr val="00B0F0"/>
              </a:solidFill>
            </a:endParaRPr>
          </a:p>
          <a:p>
            <a:r>
              <a:rPr lang="de-DE" sz="1000" b="1" dirty="0">
                <a:solidFill>
                  <a:srgbClr val="00B0F0"/>
                </a:solidFill>
              </a:rPr>
              <a:t>{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UTC; 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time shift;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</a:t>
            </a:r>
            <a:r>
              <a:rPr lang="de-DE" sz="1000" b="1" dirty="0" err="1">
                <a:solidFill>
                  <a:srgbClr val="00B0F0"/>
                </a:solidFill>
              </a:rPr>
              <a:t>DaylightSavings</a:t>
            </a:r>
            <a:r>
              <a:rPr lang="de-DE" sz="1000" b="1" dirty="0">
                <a:solidFill>
                  <a:srgbClr val="00B0F0"/>
                </a:solidFill>
              </a:rPr>
              <a:t>;</a:t>
            </a:r>
          </a:p>
          <a:p>
            <a:r>
              <a:rPr lang="de-DE" sz="1000" b="1" dirty="0" err="1">
                <a:solidFill>
                  <a:srgbClr val="00B0F0"/>
                </a:solidFill>
              </a:rPr>
              <a:t>JD_UTC_to_GregorianDate</a:t>
            </a:r>
            <a:endParaRPr lang="de-DE" sz="1000" b="1" dirty="0">
              <a:solidFill>
                <a:srgbClr val="00B0F0"/>
              </a:solidFill>
            </a:endParaRPr>
          </a:p>
          <a:p>
            <a:r>
              <a:rPr lang="de-DE" sz="1000" b="1" dirty="0"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EF4EA6CA-1790-906F-0A27-2CA41B4523F8}"/>
              </a:ext>
            </a:extLst>
          </p:cNvPr>
          <p:cNvSpPr txBox="1"/>
          <p:nvPr/>
        </p:nvSpPr>
        <p:spPr>
          <a:xfrm>
            <a:off x="2915341" y="2795648"/>
            <a:ext cx="1764513" cy="11695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b="1" dirty="0">
                <a:solidFill>
                  <a:srgbClr val="00B050"/>
                </a:solidFill>
              </a:rPr>
              <a:t>Class </a:t>
            </a:r>
            <a:r>
              <a:rPr lang="de-DE" sz="1000" b="1" dirty="0" err="1">
                <a:solidFill>
                  <a:srgbClr val="00B050"/>
                </a:solidFill>
              </a:rPr>
              <a:t>AstroTime</a:t>
            </a:r>
            <a:endParaRPr lang="de-DE" sz="1000" b="1" dirty="0">
              <a:solidFill>
                <a:srgbClr val="00B050"/>
              </a:solidFill>
            </a:endParaRPr>
          </a:p>
          <a:p>
            <a:r>
              <a:rPr lang="de-DE" sz="1000" b="1" dirty="0">
                <a:solidFill>
                  <a:srgbClr val="00B050"/>
                </a:solidFill>
              </a:rPr>
              <a:t>{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TT; 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TDB;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Delta T;</a:t>
            </a:r>
          </a:p>
          <a:p>
            <a:r>
              <a:rPr lang="de-DE" sz="1000" b="1" dirty="0" err="1">
                <a:solidFill>
                  <a:srgbClr val="00B050"/>
                </a:solidFill>
              </a:rPr>
              <a:t>CalcDeltaT</a:t>
            </a:r>
            <a:r>
              <a:rPr lang="de-DE" sz="1000" b="1" dirty="0">
                <a:solidFill>
                  <a:srgbClr val="00B050"/>
                </a:solidFill>
              </a:rPr>
              <a:t>(</a:t>
            </a:r>
            <a:r>
              <a:rPr lang="de-DE" sz="1000" b="1" dirty="0">
                <a:solidFill>
                  <a:srgbClr val="00B050"/>
                </a:solidFill>
                <a:highlight>
                  <a:srgbClr val="FFFF00"/>
                </a:highlight>
              </a:rPr>
              <a:t>UTC</a:t>
            </a:r>
            <a:r>
              <a:rPr lang="de-DE" sz="1000" b="1" dirty="0">
                <a:solidFill>
                  <a:srgbClr val="00B050"/>
                </a:solidFill>
              </a:rPr>
              <a:t>)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}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B5CF98DB-7345-BB53-1A73-C8E481D7D446}"/>
              </a:ext>
            </a:extLst>
          </p:cNvPr>
          <p:cNvCxnSpPr>
            <a:cxnSpLocks/>
          </p:cNvCxnSpPr>
          <p:nvPr/>
        </p:nvCxnSpPr>
        <p:spPr>
          <a:xfrm>
            <a:off x="10958766" y="2271173"/>
            <a:ext cx="0" cy="367568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0DF3F64C-CF1D-EA1A-2703-D1BFF17E9382}"/>
              </a:ext>
            </a:extLst>
          </p:cNvPr>
          <p:cNvCxnSpPr>
            <a:cxnSpLocks/>
          </p:cNvCxnSpPr>
          <p:nvPr/>
        </p:nvCxnSpPr>
        <p:spPr>
          <a:xfrm>
            <a:off x="4700806" y="3429000"/>
            <a:ext cx="2964508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FC2FAA0E-7D27-080B-E98A-8C097F60D006}"/>
              </a:ext>
            </a:extLst>
          </p:cNvPr>
          <p:cNvCxnSpPr>
            <a:cxnSpLocks/>
          </p:cNvCxnSpPr>
          <p:nvPr/>
        </p:nvCxnSpPr>
        <p:spPr>
          <a:xfrm flipV="1">
            <a:off x="4546645" y="3676350"/>
            <a:ext cx="3374588" cy="94019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905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Breitbild</PresentationFormat>
  <Paragraphs>106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Die  Zeit in der Astronometria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4</cp:revision>
  <dcterms:created xsi:type="dcterms:W3CDTF">2026-02-20T20:35:23Z</dcterms:created>
  <dcterms:modified xsi:type="dcterms:W3CDTF">2026-02-20T21:31:09Z</dcterms:modified>
</cp:coreProperties>
</file>